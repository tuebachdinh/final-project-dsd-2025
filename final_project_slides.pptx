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  <p:sldMasterId id="2147483753" r:id="rId2"/>
    <p:sldMasterId id="2147483908" r:id="rId3"/>
    <p:sldMasterId id="2147483940" r:id="rId4"/>
    <p:sldMasterId id="2147484002" r:id="rId5"/>
    <p:sldMasterId id="2147483822" r:id="rId6"/>
  </p:sldMasterIdLst>
  <p:notesMasterIdLst>
    <p:notesMasterId r:id="rId28"/>
  </p:notesMasterIdLst>
  <p:handoutMasterIdLst>
    <p:handoutMasterId r:id="rId29"/>
  </p:handoutMasterIdLst>
  <p:sldIdLst>
    <p:sldId id="256" r:id="rId7"/>
    <p:sldId id="2147375419" r:id="rId8"/>
    <p:sldId id="2147375423" r:id="rId9"/>
    <p:sldId id="2147375439" r:id="rId10"/>
    <p:sldId id="2147375421" r:id="rId11"/>
    <p:sldId id="2147375420" r:id="rId12"/>
    <p:sldId id="2147375424" r:id="rId13"/>
    <p:sldId id="2147375427" r:id="rId14"/>
    <p:sldId id="2147375428" r:id="rId15"/>
    <p:sldId id="2147375429" r:id="rId16"/>
    <p:sldId id="2147375430" r:id="rId17"/>
    <p:sldId id="2147375431" r:id="rId18"/>
    <p:sldId id="2147375432" r:id="rId19"/>
    <p:sldId id="2147375422" r:id="rId20"/>
    <p:sldId id="2147375433" r:id="rId21"/>
    <p:sldId id="2147375435" r:id="rId22"/>
    <p:sldId id="2147375434" r:id="rId23"/>
    <p:sldId id="2147375436" r:id="rId24"/>
    <p:sldId id="2147375437" r:id="rId25"/>
    <p:sldId id="2147375438" r:id="rId26"/>
    <p:sldId id="291" r:id="rId2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A8640A-9890-2C60-2D70-D8323ED10051}" name="Lenoir Marianne" initials="" userId="S::marianne.lenoir@aalto.fi::b1bccced-9ffb-4c0a-ad95-214663bc3e16" providerId="AD"/>
  <p188:author id="{EBD39ADD-B8DF-6C6F-FD65-6FC1B3760BE5}" name="Stapleton Noora" initials="SN" userId="S::noora.stapleton@aalto.fi::aac9ae2e-8f28-4639-831e-0de23629f8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60"/>
    <p:restoredTop sz="72956" autoAdjust="0"/>
  </p:normalViewPr>
  <p:slideViewPr>
    <p:cSldViewPr snapToGrid="0" showGuides="1">
      <p:cViewPr varScale="1">
        <p:scale>
          <a:sx n="92" d="100"/>
          <a:sy n="92" d="100"/>
        </p:scale>
        <p:origin x="192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4B5677-6D61-9DDB-18C5-EBCAA2820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BCFF4-2878-1D71-6624-7763B7DE1D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F51D7-3634-45F6-A9CF-2D63CD0A5EAF}" type="datetimeFigureOut">
              <a:rPr lang="en-GB" sz="800" smtClean="0"/>
              <a:t>24/09/2025</a:t>
            </a:fld>
            <a:endParaRPr lang="en-GB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D6701-6398-3522-3C53-55DC5E66D2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0A865-D61F-8A30-C2FD-FF2303FBAF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2C6DF-08BF-4B87-8BCC-4ED8CC3899B8}" type="slidenum">
              <a:rPr lang="en-GB" sz="800" smtClean="0"/>
              <a:t>‹#›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3721268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64A5F74A-CD8A-4953-B106-B5BDE091D867}" type="datetimeFigureOut">
              <a:rPr lang="fi-FI" smtClean="0"/>
              <a:pPr/>
              <a:t>24.9.2025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CB868C32-EF99-4F91-9ACD-FA27EAEF0DAD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0744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768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87851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28262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0488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71593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68C32-EF99-4F91-9ACD-FA27EAEF0DAD}" type="slidenum">
              <a:rPr lang="fi-FI" smtClean="0"/>
              <a:pPr/>
              <a:t>12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5682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creativecommons.org/licenses/by-nc-nd/4.0/" TargetMode="External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s://creativecommons.org/licenses/by-sa/4.0/" TargetMode="External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alto.fi/" TargetMode="External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alto.fi/" TargetMode="External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alto.fi/" TargetMode="External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alto.fi/" TargetMode="Externa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B8D34-7805-4B99-B11D-74BDC5210068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3848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EB9536-10CA-4241-BCCA-B2DA21F89586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3463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9946-228B-4D27-83C8-823F1A1572CA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43923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F3FC-0EDF-45C0-AFDE-15BC2427E73C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28900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5A0D6-BEDC-4AAA-93D6-DF051A908D07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59627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CC-BY 4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B713C-1AD0-4543-B2F4-1DAA3A1BAA6D}" type="datetime1">
              <a:rPr lang="fi-FI" smtClean="0"/>
              <a:t>24.9.2025</a:t>
            </a:fld>
            <a:endParaRPr lang="fi-FI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Footer Placeholder 23">
            <a:extLst>
              <a:ext uri="{FF2B5EF4-FFF2-40B4-BE49-F238E27FC236}">
                <a16:creationId xmlns:a16="http://schemas.microsoft.com/office/drawing/2014/main" id="{FCC3E25D-5FFA-8583-6320-58A89111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1664" y="6309320"/>
            <a:ext cx="7128792" cy="143869"/>
          </a:xfrm>
        </p:spPr>
        <p:txBody>
          <a:bodyPr/>
          <a:lstStyle/>
          <a:p>
            <a:r>
              <a:rPr lang="fi-FI"/>
              <a:t>Presenter Name</a:t>
            </a:r>
          </a:p>
        </p:txBody>
      </p:sp>
      <p:pic>
        <p:nvPicPr>
          <p:cNvPr id="8" name="Picture 7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F108979D-2C35-8DF7-C967-157BD0DD7F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56" y="6093296"/>
            <a:ext cx="360000" cy="36000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C1BC6918-6C5B-C3AF-A51B-FB591F80BF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88" y="6093296"/>
            <a:ext cx="360000" cy="3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85E044-ACE3-4A12-B709-E06CC826CC30}"/>
              </a:ext>
            </a:extLst>
          </p:cNvPr>
          <p:cNvSpPr txBox="1"/>
          <p:nvPr/>
        </p:nvSpPr>
        <p:spPr>
          <a:xfrm>
            <a:off x="1271696" y="6093296"/>
            <a:ext cx="1799968" cy="3600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GB" sz="800">
                <a:solidFill>
                  <a:schemeClr val="tx1"/>
                </a:solidFill>
                <a:effectLst/>
              </a:rPr>
              <a:t>Content is available under</a:t>
            </a:r>
          </a:p>
          <a:p>
            <a:pPr algn="l"/>
            <a:r>
              <a:rPr lang="en-GB" sz="800">
                <a:solidFill>
                  <a:schemeClr val="tx1"/>
                </a:solidFill>
                <a:effectLst/>
              </a:rPr>
              <a:t>CC BY 4.0 unless otherwise stated</a:t>
            </a:r>
          </a:p>
        </p:txBody>
      </p:sp>
    </p:spTree>
    <p:extLst>
      <p:ext uri="{BB962C8B-B14F-4D97-AF65-F5344CB8AC3E}">
        <p14:creationId xmlns:p14="http://schemas.microsoft.com/office/powerpoint/2010/main" val="596526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CC-BY-NC 4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B19FD-5263-4847-829D-96E8D0C809E5}" type="datetime1">
              <a:rPr lang="fi-FI" smtClean="0"/>
              <a:t>24.9.2025</a:t>
            </a:fld>
            <a:endParaRPr lang="fi-FI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Footer Placeholder 23">
            <a:extLst>
              <a:ext uri="{FF2B5EF4-FFF2-40B4-BE49-F238E27FC236}">
                <a16:creationId xmlns:a16="http://schemas.microsoft.com/office/drawing/2014/main" id="{FCC3E25D-5FFA-8583-6320-58A89111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7728" y="6309320"/>
            <a:ext cx="6552728" cy="143869"/>
          </a:xfrm>
        </p:spPr>
        <p:txBody>
          <a:bodyPr/>
          <a:lstStyle/>
          <a:p>
            <a:r>
              <a:rPr lang="fi-FI"/>
              <a:t>Presenter Name</a:t>
            </a:r>
          </a:p>
        </p:txBody>
      </p:sp>
      <p:pic>
        <p:nvPicPr>
          <p:cNvPr id="8" name="Picture 7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F108979D-2C35-8DF7-C967-157BD0DD7F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56" y="6093296"/>
            <a:ext cx="360000" cy="36000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C1BC6918-6C5B-C3AF-A51B-FB591F80BF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88" y="6093296"/>
            <a:ext cx="360000" cy="3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85E044-ACE3-4A12-B709-E06CC826CC30}"/>
              </a:ext>
            </a:extLst>
          </p:cNvPr>
          <p:cNvSpPr txBox="1"/>
          <p:nvPr/>
        </p:nvSpPr>
        <p:spPr>
          <a:xfrm>
            <a:off x="1703744" y="6093296"/>
            <a:ext cx="1871976" cy="3600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>
                <a:solidFill>
                  <a:schemeClr val="tx1"/>
                </a:solidFill>
                <a:effectLst/>
              </a:rPr>
              <a:t>Content is available under</a:t>
            </a:r>
          </a:p>
          <a:p>
            <a:pPr algn="l"/>
            <a:r>
              <a:rPr lang="en-US" sz="800">
                <a:solidFill>
                  <a:schemeClr val="tx1"/>
                </a:solidFill>
                <a:effectLst/>
              </a:rPr>
              <a:t>CC BY-NC 4.0 unless otherwise stated</a:t>
            </a:r>
            <a:endParaRPr lang="en-GB" sz="800">
              <a:solidFill>
                <a:schemeClr val="tx1"/>
              </a:solidFill>
              <a:effectLst/>
            </a:endParaRPr>
          </a:p>
        </p:txBody>
      </p:sp>
      <p:pic>
        <p:nvPicPr>
          <p:cNvPr id="4" name="Picture 3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46A0EE7-1655-B8BB-A7A6-5A671F5AC35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504" y="609329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95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CC-BY-SA 4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936557"/>
            <a:ext cx="9792468" cy="492443"/>
          </a:xfrm>
        </p:spPr>
        <p:txBody>
          <a:bodyPr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3429000"/>
            <a:ext cx="9792468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407368" y="2674624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0343-EADA-4887-AA02-2378265A9CF0}" type="datetime1">
              <a:rPr lang="fi-FI" smtClean="0"/>
              <a:t>24.9.2025</a:t>
            </a:fld>
            <a:endParaRPr lang="fi-FI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Footer Placeholder 23">
            <a:extLst>
              <a:ext uri="{FF2B5EF4-FFF2-40B4-BE49-F238E27FC236}">
                <a16:creationId xmlns:a16="http://schemas.microsoft.com/office/drawing/2014/main" id="{FCC3E25D-5FFA-8583-6320-58A89111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7728" y="6309320"/>
            <a:ext cx="6552728" cy="143869"/>
          </a:xfrm>
        </p:spPr>
        <p:txBody>
          <a:bodyPr/>
          <a:lstStyle/>
          <a:p>
            <a:r>
              <a:rPr lang="fi-FI"/>
              <a:t>Presenter Name</a:t>
            </a:r>
          </a:p>
        </p:txBody>
      </p:sp>
      <p:pic>
        <p:nvPicPr>
          <p:cNvPr id="8" name="Picture 7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F108979D-2C35-8DF7-C967-157BD0DD7F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56" y="6093296"/>
            <a:ext cx="360000" cy="360000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C1BC6918-6C5B-C3AF-A51B-FB591F80BF0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88" y="6093296"/>
            <a:ext cx="360000" cy="3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85E044-ACE3-4A12-B709-E06CC826CC30}"/>
              </a:ext>
            </a:extLst>
          </p:cNvPr>
          <p:cNvSpPr txBox="1"/>
          <p:nvPr/>
        </p:nvSpPr>
        <p:spPr>
          <a:xfrm>
            <a:off x="1703744" y="6093296"/>
            <a:ext cx="1871976" cy="3600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>
                <a:solidFill>
                  <a:schemeClr val="tx1"/>
                </a:solidFill>
                <a:effectLst/>
              </a:rPr>
              <a:t>Content is available under</a:t>
            </a:r>
          </a:p>
          <a:p>
            <a:pPr algn="l"/>
            <a:r>
              <a:rPr lang="en-US" sz="800">
                <a:solidFill>
                  <a:schemeClr val="tx1"/>
                </a:solidFill>
                <a:effectLst/>
              </a:rPr>
              <a:t>CC BY-SA 4.0 unless otherwise stated</a:t>
            </a:r>
            <a:endParaRPr lang="en-GB" sz="800"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 descr="Ic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FC0491D6-8735-CD8F-1C61-5F39FCFAC6E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464" y="609329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89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en-US" sz="12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70D3C-0CC8-FE4E-F52B-53CE8B81A6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7A8D1-3024-4CCC-B02B-A596260BDB5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5823F-DD19-8F3B-CB31-DC7AB7F7DD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A50C0-8868-D9E3-6151-7FEB6CA03A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57618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525C-3081-B968-0AF5-7BEF0546FF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6B0D008-8193-48BC-A9D4-6E53BDF600A8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A5AC0-B982-BC97-275E-413CCD6728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2E97D-600F-96A3-1815-D8FD599585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4840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F6B43-DE36-0148-A7EA-157879F294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7B7256-2B0D-46DB-9932-A40EEF01D783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05162-E4FC-F030-07AC-FC3AEEFFF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61C5-655F-9E60-460E-8B16B76A7F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8200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8DCC-4AC7-C533-30A2-5C63D26BDB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16699EC-DAF3-41A8-9DB3-1ACB498E958A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AEA57-51F9-8677-BE77-6A173FB52A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089EB-5ECF-87F1-77A7-C15D7B25B7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6502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E7816-46AF-EDE4-B973-3A70EF994B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71BE3B-8C4A-4766-9316-B4501E13B062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E867-4E34-AE05-3565-F0277F6849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1884A-89D7-C67B-7CC3-A45310410C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6320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Red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C22D7-D1D6-D8DB-06A4-46EE334904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4586577-BF4B-4EFF-B1B7-37714F74C5DC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431B-3F31-0E0E-6255-138EC93AA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EC0DB-FC2B-561F-42FF-3B0802FA52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79227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u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F7BF-6136-1293-03E9-87CB159D78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44E5AA-61EC-4A66-89F3-4AD796A2DB1E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E259E-7E55-6AB4-BF0A-B44DAFEF99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6378F-80BB-E789-AD86-D9EA44DA29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25224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Yellow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261AA-A967-344D-10CF-A52EC9EFC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5CE9A7-07BC-4ACB-8B14-4860FC2A5919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CAA6F-5588-75A0-B42A-E7B4358C7B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CB569-8C10-87E5-2F35-74ED3EF15E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73195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E10FE-B9CB-31C9-C131-FA8A9355BE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879EA8-B894-4268-BEED-C903AB9A0972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B6C74-8053-BBC4-940C-7BD1DA87F4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3658A-D30E-64F2-DD4D-DE5EA0255E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63404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 Bl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6CACCF6-B7F1-B81D-EB1E-E2F15D5314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42900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200" dirty="0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7C7DB-D21C-CF04-BEAE-6225DF214D5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275C4-164C-69B1-48F1-6ABBCFDD46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0676" y="1495871"/>
            <a:ext cx="5183337" cy="492443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5A747-631B-1133-C63C-B48ADA15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676" y="1988313"/>
            <a:ext cx="5183337" cy="984885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i-FI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048024D-E928-1A47-E81D-E73CEDEC703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432000"/>
            <a:ext cx="2650987" cy="576000"/>
          </a:xfrm>
          <a:custGeom>
            <a:avLst/>
            <a:gdLst>
              <a:gd name="T0" fmla="*/ 1856 w 4584"/>
              <a:gd name="T1" fmla="*/ 150 h 996"/>
              <a:gd name="T2" fmla="*/ 1926 w 4584"/>
              <a:gd name="T3" fmla="*/ 74 h 996"/>
              <a:gd name="T4" fmla="*/ 1862 w 4584"/>
              <a:gd name="T5" fmla="*/ 198 h 996"/>
              <a:gd name="T6" fmla="*/ 2091 w 4584"/>
              <a:gd name="T7" fmla="*/ 109 h 996"/>
              <a:gd name="T8" fmla="*/ 2346 w 4584"/>
              <a:gd name="T9" fmla="*/ 79 h 996"/>
              <a:gd name="T10" fmla="*/ 2341 w 4584"/>
              <a:gd name="T11" fmla="*/ 150 h 996"/>
              <a:gd name="T12" fmla="*/ 2584 w 4584"/>
              <a:gd name="T13" fmla="*/ 274 h 996"/>
              <a:gd name="T14" fmla="*/ 2883 w 4584"/>
              <a:gd name="T15" fmla="*/ 0 h 996"/>
              <a:gd name="T16" fmla="*/ 2966 w 4584"/>
              <a:gd name="T17" fmla="*/ 88 h 996"/>
              <a:gd name="T18" fmla="*/ 3031 w 4584"/>
              <a:gd name="T19" fmla="*/ 214 h 996"/>
              <a:gd name="T20" fmla="*/ 3010 w 4584"/>
              <a:gd name="T21" fmla="*/ 212 h 996"/>
              <a:gd name="T22" fmla="*/ 3283 w 4584"/>
              <a:gd name="T23" fmla="*/ 239 h 996"/>
              <a:gd name="T24" fmla="*/ 3261 w 4584"/>
              <a:gd name="T25" fmla="*/ 135 h 996"/>
              <a:gd name="T26" fmla="*/ 3397 w 4584"/>
              <a:gd name="T27" fmla="*/ 34 h 996"/>
              <a:gd name="T28" fmla="*/ 3589 w 4584"/>
              <a:gd name="T29" fmla="*/ 199 h 996"/>
              <a:gd name="T30" fmla="*/ 3538 w 4584"/>
              <a:gd name="T31" fmla="*/ 193 h 996"/>
              <a:gd name="T32" fmla="*/ 3580 w 4584"/>
              <a:gd name="T33" fmla="*/ 106 h 996"/>
              <a:gd name="T34" fmla="*/ 3779 w 4584"/>
              <a:gd name="T35" fmla="*/ 244 h 996"/>
              <a:gd name="T36" fmla="*/ 3908 w 4584"/>
              <a:gd name="T37" fmla="*/ 148 h 996"/>
              <a:gd name="T38" fmla="*/ 3821 w 4584"/>
              <a:gd name="T39" fmla="*/ 107 h 996"/>
              <a:gd name="T40" fmla="*/ 1828 w 4584"/>
              <a:gd name="T41" fmla="*/ 916 h 996"/>
              <a:gd name="T42" fmla="*/ 1868 w 4584"/>
              <a:gd name="T43" fmla="*/ 803 h 996"/>
              <a:gd name="T44" fmla="*/ 1905 w 4584"/>
              <a:gd name="T45" fmla="*/ 896 h 996"/>
              <a:gd name="T46" fmla="*/ 2193 w 4584"/>
              <a:gd name="T47" fmla="*/ 891 h 996"/>
              <a:gd name="T48" fmla="*/ 2220 w 4584"/>
              <a:gd name="T49" fmla="*/ 816 h 996"/>
              <a:gd name="T50" fmla="*/ 2340 w 4584"/>
              <a:gd name="T51" fmla="*/ 927 h 996"/>
              <a:gd name="T52" fmla="*/ 2271 w 4584"/>
              <a:gd name="T53" fmla="*/ 868 h 996"/>
              <a:gd name="T54" fmla="*/ 2506 w 4584"/>
              <a:gd name="T55" fmla="*/ 882 h 996"/>
              <a:gd name="T56" fmla="*/ 2823 w 4584"/>
              <a:gd name="T57" fmla="*/ 753 h 996"/>
              <a:gd name="T58" fmla="*/ 2952 w 4584"/>
              <a:gd name="T59" fmla="*/ 726 h 996"/>
              <a:gd name="T60" fmla="*/ 3233 w 4584"/>
              <a:gd name="T61" fmla="*/ 913 h 996"/>
              <a:gd name="T62" fmla="*/ 3254 w 4584"/>
              <a:gd name="T63" fmla="*/ 854 h 996"/>
              <a:gd name="T64" fmla="*/ 3313 w 4584"/>
              <a:gd name="T65" fmla="*/ 793 h 996"/>
              <a:gd name="T66" fmla="*/ 3644 w 4584"/>
              <a:gd name="T67" fmla="*/ 802 h 996"/>
              <a:gd name="T68" fmla="*/ 3627 w 4584"/>
              <a:gd name="T69" fmla="*/ 933 h 996"/>
              <a:gd name="T70" fmla="*/ 3553 w 4584"/>
              <a:gd name="T71" fmla="*/ 839 h 996"/>
              <a:gd name="T72" fmla="*/ 3726 w 4584"/>
              <a:gd name="T73" fmla="*/ 696 h 996"/>
              <a:gd name="T74" fmla="*/ 3850 w 4584"/>
              <a:gd name="T75" fmla="*/ 926 h 996"/>
              <a:gd name="T76" fmla="*/ 3980 w 4584"/>
              <a:gd name="T77" fmla="*/ 996 h 996"/>
              <a:gd name="T78" fmla="*/ 1914 w 4584"/>
              <a:gd name="T79" fmla="*/ 481 h 996"/>
              <a:gd name="T80" fmla="*/ 1963 w 4584"/>
              <a:gd name="T81" fmla="*/ 436 h 996"/>
              <a:gd name="T82" fmla="*/ 1873 w 4584"/>
              <a:gd name="T83" fmla="*/ 556 h 996"/>
              <a:gd name="T84" fmla="*/ 2197 w 4584"/>
              <a:gd name="T85" fmla="*/ 413 h 996"/>
              <a:gd name="T86" fmla="*/ 2378 w 4584"/>
              <a:gd name="T87" fmla="*/ 449 h 996"/>
              <a:gd name="T88" fmla="*/ 2327 w 4584"/>
              <a:gd name="T89" fmla="*/ 457 h 996"/>
              <a:gd name="T90" fmla="*/ 2668 w 4584"/>
              <a:gd name="T91" fmla="*/ 587 h 996"/>
              <a:gd name="T92" fmla="*/ 2785 w 4584"/>
              <a:gd name="T93" fmla="*/ 413 h 996"/>
              <a:gd name="T94" fmla="*/ 2840 w 4584"/>
              <a:gd name="T95" fmla="*/ 466 h 996"/>
              <a:gd name="T96" fmla="*/ 3340 w 4584"/>
              <a:gd name="T97" fmla="*/ 593 h 996"/>
              <a:gd name="T98" fmla="*/ 3412 w 4584"/>
              <a:gd name="T99" fmla="*/ 456 h 996"/>
              <a:gd name="T100" fmla="*/ 3375 w 4584"/>
              <a:gd name="T101" fmla="*/ 483 h 996"/>
              <a:gd name="T102" fmla="*/ 3508 w 4584"/>
              <a:gd name="T103" fmla="*/ 475 h 996"/>
              <a:gd name="T104" fmla="*/ 3735 w 4584"/>
              <a:gd name="T105" fmla="*/ 559 h 996"/>
              <a:gd name="T106" fmla="*/ 3673 w 4584"/>
              <a:gd name="T107" fmla="*/ 523 h 996"/>
              <a:gd name="T108" fmla="*/ 3797 w 4584"/>
              <a:gd name="T109" fmla="*/ 390 h 996"/>
              <a:gd name="T110" fmla="*/ 3950 w 4584"/>
              <a:gd name="T111" fmla="*/ 551 h 996"/>
              <a:gd name="T112" fmla="*/ 3976 w 4584"/>
              <a:gd name="T113" fmla="*/ 483 h 996"/>
              <a:gd name="T114" fmla="*/ 4063 w 4584"/>
              <a:gd name="T115" fmla="*/ 557 h 996"/>
              <a:gd name="T116" fmla="*/ 4023 w 4584"/>
              <a:gd name="T117" fmla="*/ 483 h 996"/>
              <a:gd name="T118" fmla="*/ 4319 w 4584"/>
              <a:gd name="T119" fmla="*/ 576 h 996"/>
              <a:gd name="T120" fmla="*/ 4457 w 4584"/>
              <a:gd name="T121" fmla="*/ 514 h 996"/>
              <a:gd name="T122" fmla="*/ 4395 w 4584"/>
              <a:gd name="T123" fmla="*/ 453 h 996"/>
              <a:gd name="T124" fmla="*/ 4474 w 4584"/>
              <a:gd name="T125" fmla="*/ 41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584" h="996">
                <a:moveTo>
                  <a:pt x="1232" y="330"/>
                </a:moveTo>
                <a:lnTo>
                  <a:pt x="1178" y="648"/>
                </a:lnTo>
                <a:lnTo>
                  <a:pt x="1055" y="648"/>
                </a:lnTo>
                <a:lnTo>
                  <a:pt x="1010" y="330"/>
                </a:lnTo>
                <a:lnTo>
                  <a:pt x="1010" y="12"/>
                </a:lnTo>
                <a:lnTo>
                  <a:pt x="1232" y="12"/>
                </a:lnTo>
                <a:lnTo>
                  <a:pt x="1232" y="330"/>
                </a:lnTo>
                <a:close/>
                <a:moveTo>
                  <a:pt x="1623" y="249"/>
                </a:moveTo>
                <a:lnTo>
                  <a:pt x="1569" y="249"/>
                </a:lnTo>
                <a:lnTo>
                  <a:pt x="1651" y="13"/>
                </a:lnTo>
                <a:lnTo>
                  <a:pt x="1715" y="13"/>
                </a:lnTo>
                <a:lnTo>
                  <a:pt x="1797" y="249"/>
                </a:lnTo>
                <a:lnTo>
                  <a:pt x="1743" y="249"/>
                </a:lnTo>
                <a:lnTo>
                  <a:pt x="1726" y="195"/>
                </a:lnTo>
                <a:lnTo>
                  <a:pt x="1641" y="195"/>
                </a:lnTo>
                <a:lnTo>
                  <a:pt x="1623" y="249"/>
                </a:lnTo>
                <a:close/>
                <a:moveTo>
                  <a:pt x="1653" y="156"/>
                </a:moveTo>
                <a:lnTo>
                  <a:pt x="1713" y="156"/>
                </a:lnTo>
                <a:lnTo>
                  <a:pt x="1684" y="67"/>
                </a:lnTo>
                <a:lnTo>
                  <a:pt x="1653" y="156"/>
                </a:lnTo>
                <a:close/>
                <a:moveTo>
                  <a:pt x="1874" y="252"/>
                </a:moveTo>
                <a:lnTo>
                  <a:pt x="1867" y="252"/>
                </a:lnTo>
                <a:lnTo>
                  <a:pt x="1861" y="252"/>
                </a:lnTo>
                <a:lnTo>
                  <a:pt x="1856" y="251"/>
                </a:lnTo>
                <a:lnTo>
                  <a:pt x="1850" y="249"/>
                </a:lnTo>
                <a:lnTo>
                  <a:pt x="1845" y="247"/>
                </a:lnTo>
                <a:lnTo>
                  <a:pt x="1840" y="245"/>
                </a:lnTo>
                <a:lnTo>
                  <a:pt x="1836" y="242"/>
                </a:lnTo>
                <a:lnTo>
                  <a:pt x="1832" y="239"/>
                </a:lnTo>
                <a:lnTo>
                  <a:pt x="1828" y="236"/>
                </a:lnTo>
                <a:lnTo>
                  <a:pt x="1824" y="232"/>
                </a:lnTo>
                <a:lnTo>
                  <a:pt x="1821" y="227"/>
                </a:lnTo>
                <a:lnTo>
                  <a:pt x="1820" y="225"/>
                </a:lnTo>
                <a:lnTo>
                  <a:pt x="1819" y="223"/>
                </a:lnTo>
                <a:lnTo>
                  <a:pt x="1817" y="218"/>
                </a:lnTo>
                <a:lnTo>
                  <a:pt x="1816" y="212"/>
                </a:lnTo>
                <a:lnTo>
                  <a:pt x="1815" y="206"/>
                </a:lnTo>
                <a:lnTo>
                  <a:pt x="1815" y="200"/>
                </a:lnTo>
                <a:lnTo>
                  <a:pt x="1815" y="190"/>
                </a:lnTo>
                <a:lnTo>
                  <a:pt x="1817" y="182"/>
                </a:lnTo>
                <a:lnTo>
                  <a:pt x="1818" y="178"/>
                </a:lnTo>
                <a:lnTo>
                  <a:pt x="1820" y="175"/>
                </a:lnTo>
                <a:lnTo>
                  <a:pt x="1824" y="169"/>
                </a:lnTo>
                <a:lnTo>
                  <a:pt x="1827" y="166"/>
                </a:lnTo>
                <a:lnTo>
                  <a:pt x="1829" y="163"/>
                </a:lnTo>
                <a:lnTo>
                  <a:pt x="1832" y="161"/>
                </a:lnTo>
                <a:lnTo>
                  <a:pt x="1835" y="159"/>
                </a:lnTo>
                <a:lnTo>
                  <a:pt x="1838" y="157"/>
                </a:lnTo>
                <a:lnTo>
                  <a:pt x="1841" y="155"/>
                </a:lnTo>
                <a:lnTo>
                  <a:pt x="1845" y="154"/>
                </a:lnTo>
                <a:lnTo>
                  <a:pt x="1849" y="152"/>
                </a:lnTo>
                <a:lnTo>
                  <a:pt x="1856" y="150"/>
                </a:lnTo>
                <a:lnTo>
                  <a:pt x="1864" y="148"/>
                </a:lnTo>
                <a:lnTo>
                  <a:pt x="1873" y="146"/>
                </a:lnTo>
                <a:lnTo>
                  <a:pt x="1881" y="145"/>
                </a:lnTo>
                <a:lnTo>
                  <a:pt x="1901" y="143"/>
                </a:lnTo>
                <a:lnTo>
                  <a:pt x="1908" y="142"/>
                </a:lnTo>
                <a:lnTo>
                  <a:pt x="1914" y="140"/>
                </a:lnTo>
                <a:lnTo>
                  <a:pt x="1918" y="139"/>
                </a:lnTo>
                <a:lnTo>
                  <a:pt x="1920" y="138"/>
                </a:lnTo>
                <a:lnTo>
                  <a:pt x="1922" y="136"/>
                </a:lnTo>
                <a:lnTo>
                  <a:pt x="1923" y="135"/>
                </a:lnTo>
                <a:lnTo>
                  <a:pt x="1923" y="133"/>
                </a:lnTo>
                <a:lnTo>
                  <a:pt x="1924" y="131"/>
                </a:lnTo>
                <a:lnTo>
                  <a:pt x="1924" y="129"/>
                </a:lnTo>
                <a:lnTo>
                  <a:pt x="1924" y="124"/>
                </a:lnTo>
                <a:lnTo>
                  <a:pt x="1922" y="119"/>
                </a:lnTo>
                <a:lnTo>
                  <a:pt x="1921" y="117"/>
                </a:lnTo>
                <a:lnTo>
                  <a:pt x="1920" y="115"/>
                </a:lnTo>
                <a:lnTo>
                  <a:pt x="1919" y="113"/>
                </a:lnTo>
                <a:lnTo>
                  <a:pt x="1917" y="112"/>
                </a:lnTo>
                <a:lnTo>
                  <a:pt x="1913" y="109"/>
                </a:lnTo>
                <a:lnTo>
                  <a:pt x="1909" y="107"/>
                </a:lnTo>
                <a:lnTo>
                  <a:pt x="1904" y="106"/>
                </a:lnTo>
                <a:lnTo>
                  <a:pt x="1898" y="106"/>
                </a:lnTo>
                <a:lnTo>
                  <a:pt x="1892" y="106"/>
                </a:lnTo>
                <a:lnTo>
                  <a:pt x="1886" y="107"/>
                </a:lnTo>
                <a:lnTo>
                  <a:pt x="1881" y="109"/>
                </a:lnTo>
                <a:lnTo>
                  <a:pt x="1877" y="112"/>
                </a:lnTo>
                <a:lnTo>
                  <a:pt x="1873" y="115"/>
                </a:lnTo>
                <a:lnTo>
                  <a:pt x="1870" y="118"/>
                </a:lnTo>
                <a:lnTo>
                  <a:pt x="1868" y="122"/>
                </a:lnTo>
                <a:lnTo>
                  <a:pt x="1867" y="124"/>
                </a:lnTo>
                <a:lnTo>
                  <a:pt x="1866" y="126"/>
                </a:lnTo>
                <a:lnTo>
                  <a:pt x="1821" y="123"/>
                </a:lnTo>
                <a:lnTo>
                  <a:pt x="1823" y="117"/>
                </a:lnTo>
                <a:lnTo>
                  <a:pt x="1825" y="111"/>
                </a:lnTo>
                <a:lnTo>
                  <a:pt x="1827" y="106"/>
                </a:lnTo>
                <a:lnTo>
                  <a:pt x="1830" y="101"/>
                </a:lnTo>
                <a:lnTo>
                  <a:pt x="1833" y="96"/>
                </a:lnTo>
                <a:lnTo>
                  <a:pt x="1837" y="92"/>
                </a:lnTo>
                <a:lnTo>
                  <a:pt x="1841" y="88"/>
                </a:lnTo>
                <a:lnTo>
                  <a:pt x="1846" y="84"/>
                </a:lnTo>
                <a:lnTo>
                  <a:pt x="1851" y="81"/>
                </a:lnTo>
                <a:lnTo>
                  <a:pt x="1857" y="78"/>
                </a:lnTo>
                <a:lnTo>
                  <a:pt x="1863" y="76"/>
                </a:lnTo>
                <a:lnTo>
                  <a:pt x="1869" y="74"/>
                </a:lnTo>
                <a:lnTo>
                  <a:pt x="1876" y="72"/>
                </a:lnTo>
                <a:lnTo>
                  <a:pt x="1883" y="71"/>
                </a:lnTo>
                <a:lnTo>
                  <a:pt x="1890" y="70"/>
                </a:lnTo>
                <a:lnTo>
                  <a:pt x="1898" y="70"/>
                </a:lnTo>
                <a:lnTo>
                  <a:pt x="1908" y="70"/>
                </a:lnTo>
                <a:lnTo>
                  <a:pt x="1917" y="72"/>
                </a:lnTo>
                <a:lnTo>
                  <a:pt x="1926" y="74"/>
                </a:lnTo>
                <a:lnTo>
                  <a:pt x="1935" y="76"/>
                </a:lnTo>
                <a:lnTo>
                  <a:pt x="1943" y="80"/>
                </a:lnTo>
                <a:lnTo>
                  <a:pt x="1947" y="82"/>
                </a:lnTo>
                <a:lnTo>
                  <a:pt x="1950" y="84"/>
                </a:lnTo>
                <a:lnTo>
                  <a:pt x="1957" y="90"/>
                </a:lnTo>
                <a:lnTo>
                  <a:pt x="1963" y="96"/>
                </a:lnTo>
                <a:lnTo>
                  <a:pt x="1965" y="99"/>
                </a:lnTo>
                <a:lnTo>
                  <a:pt x="1967" y="103"/>
                </a:lnTo>
                <a:lnTo>
                  <a:pt x="1969" y="107"/>
                </a:lnTo>
                <a:lnTo>
                  <a:pt x="1970" y="111"/>
                </a:lnTo>
                <a:lnTo>
                  <a:pt x="1972" y="115"/>
                </a:lnTo>
                <a:lnTo>
                  <a:pt x="1972" y="120"/>
                </a:lnTo>
                <a:lnTo>
                  <a:pt x="1973" y="125"/>
                </a:lnTo>
                <a:lnTo>
                  <a:pt x="1973" y="130"/>
                </a:lnTo>
                <a:lnTo>
                  <a:pt x="1973" y="249"/>
                </a:lnTo>
                <a:lnTo>
                  <a:pt x="1927" y="249"/>
                </a:lnTo>
                <a:lnTo>
                  <a:pt x="1927" y="225"/>
                </a:lnTo>
                <a:lnTo>
                  <a:pt x="1922" y="230"/>
                </a:lnTo>
                <a:lnTo>
                  <a:pt x="1917" y="236"/>
                </a:lnTo>
                <a:lnTo>
                  <a:pt x="1912" y="241"/>
                </a:lnTo>
                <a:lnTo>
                  <a:pt x="1906" y="245"/>
                </a:lnTo>
                <a:lnTo>
                  <a:pt x="1899" y="248"/>
                </a:lnTo>
                <a:lnTo>
                  <a:pt x="1891" y="250"/>
                </a:lnTo>
                <a:lnTo>
                  <a:pt x="1887" y="251"/>
                </a:lnTo>
                <a:lnTo>
                  <a:pt x="1883" y="252"/>
                </a:lnTo>
                <a:lnTo>
                  <a:pt x="1874" y="252"/>
                </a:lnTo>
                <a:close/>
                <a:moveTo>
                  <a:pt x="1888" y="219"/>
                </a:moveTo>
                <a:lnTo>
                  <a:pt x="1895" y="218"/>
                </a:lnTo>
                <a:lnTo>
                  <a:pt x="1902" y="216"/>
                </a:lnTo>
                <a:lnTo>
                  <a:pt x="1905" y="215"/>
                </a:lnTo>
                <a:lnTo>
                  <a:pt x="1908" y="213"/>
                </a:lnTo>
                <a:lnTo>
                  <a:pt x="1914" y="209"/>
                </a:lnTo>
                <a:lnTo>
                  <a:pt x="1916" y="207"/>
                </a:lnTo>
                <a:lnTo>
                  <a:pt x="1919" y="204"/>
                </a:lnTo>
                <a:lnTo>
                  <a:pt x="1922" y="199"/>
                </a:lnTo>
                <a:lnTo>
                  <a:pt x="1924" y="193"/>
                </a:lnTo>
                <a:lnTo>
                  <a:pt x="1924" y="189"/>
                </a:lnTo>
                <a:lnTo>
                  <a:pt x="1924" y="186"/>
                </a:lnTo>
                <a:lnTo>
                  <a:pt x="1924" y="167"/>
                </a:lnTo>
                <a:lnTo>
                  <a:pt x="1921" y="169"/>
                </a:lnTo>
                <a:lnTo>
                  <a:pt x="1915" y="171"/>
                </a:lnTo>
                <a:lnTo>
                  <a:pt x="1903" y="173"/>
                </a:lnTo>
                <a:lnTo>
                  <a:pt x="1890" y="175"/>
                </a:lnTo>
                <a:lnTo>
                  <a:pt x="1884" y="176"/>
                </a:lnTo>
                <a:lnTo>
                  <a:pt x="1879" y="178"/>
                </a:lnTo>
                <a:lnTo>
                  <a:pt x="1874" y="180"/>
                </a:lnTo>
                <a:lnTo>
                  <a:pt x="1870" y="182"/>
                </a:lnTo>
                <a:lnTo>
                  <a:pt x="1866" y="185"/>
                </a:lnTo>
                <a:lnTo>
                  <a:pt x="1864" y="189"/>
                </a:lnTo>
                <a:lnTo>
                  <a:pt x="1863" y="191"/>
                </a:lnTo>
                <a:lnTo>
                  <a:pt x="1862" y="193"/>
                </a:lnTo>
                <a:lnTo>
                  <a:pt x="1862" y="198"/>
                </a:lnTo>
                <a:lnTo>
                  <a:pt x="1862" y="203"/>
                </a:lnTo>
                <a:lnTo>
                  <a:pt x="1863" y="207"/>
                </a:lnTo>
                <a:lnTo>
                  <a:pt x="1865" y="209"/>
                </a:lnTo>
                <a:lnTo>
                  <a:pt x="1866" y="211"/>
                </a:lnTo>
                <a:lnTo>
                  <a:pt x="1869" y="213"/>
                </a:lnTo>
                <a:lnTo>
                  <a:pt x="1873" y="216"/>
                </a:lnTo>
                <a:lnTo>
                  <a:pt x="1875" y="217"/>
                </a:lnTo>
                <a:lnTo>
                  <a:pt x="1877" y="217"/>
                </a:lnTo>
                <a:lnTo>
                  <a:pt x="1882" y="218"/>
                </a:lnTo>
                <a:lnTo>
                  <a:pt x="1888" y="219"/>
                </a:lnTo>
                <a:close/>
                <a:moveTo>
                  <a:pt x="2063" y="249"/>
                </a:moveTo>
                <a:lnTo>
                  <a:pt x="2013" y="249"/>
                </a:lnTo>
                <a:lnTo>
                  <a:pt x="2013" y="13"/>
                </a:lnTo>
                <a:lnTo>
                  <a:pt x="2063" y="13"/>
                </a:lnTo>
                <a:lnTo>
                  <a:pt x="2063" y="249"/>
                </a:lnTo>
                <a:close/>
                <a:moveTo>
                  <a:pt x="2197" y="72"/>
                </a:moveTo>
                <a:lnTo>
                  <a:pt x="2197" y="109"/>
                </a:lnTo>
                <a:lnTo>
                  <a:pt x="2164" y="109"/>
                </a:lnTo>
                <a:lnTo>
                  <a:pt x="2164" y="195"/>
                </a:lnTo>
                <a:lnTo>
                  <a:pt x="2164" y="199"/>
                </a:lnTo>
                <a:lnTo>
                  <a:pt x="2165" y="203"/>
                </a:lnTo>
                <a:lnTo>
                  <a:pt x="2166" y="205"/>
                </a:lnTo>
                <a:lnTo>
                  <a:pt x="2167" y="206"/>
                </a:lnTo>
                <a:lnTo>
                  <a:pt x="2169" y="208"/>
                </a:lnTo>
                <a:lnTo>
                  <a:pt x="2171" y="210"/>
                </a:lnTo>
                <a:lnTo>
                  <a:pt x="2174" y="211"/>
                </a:lnTo>
                <a:lnTo>
                  <a:pt x="2177" y="212"/>
                </a:lnTo>
                <a:lnTo>
                  <a:pt x="2181" y="212"/>
                </a:lnTo>
                <a:lnTo>
                  <a:pt x="2188" y="211"/>
                </a:lnTo>
                <a:lnTo>
                  <a:pt x="2193" y="210"/>
                </a:lnTo>
                <a:lnTo>
                  <a:pt x="2201" y="247"/>
                </a:lnTo>
                <a:lnTo>
                  <a:pt x="2190" y="250"/>
                </a:lnTo>
                <a:lnTo>
                  <a:pt x="2183" y="251"/>
                </a:lnTo>
                <a:lnTo>
                  <a:pt x="2174" y="252"/>
                </a:lnTo>
                <a:lnTo>
                  <a:pt x="2168" y="252"/>
                </a:lnTo>
                <a:lnTo>
                  <a:pt x="2161" y="251"/>
                </a:lnTo>
                <a:lnTo>
                  <a:pt x="2156" y="250"/>
                </a:lnTo>
                <a:lnTo>
                  <a:pt x="2150" y="249"/>
                </a:lnTo>
                <a:lnTo>
                  <a:pt x="2145" y="248"/>
                </a:lnTo>
                <a:lnTo>
                  <a:pt x="2140" y="245"/>
                </a:lnTo>
                <a:lnTo>
                  <a:pt x="2135" y="243"/>
                </a:lnTo>
                <a:lnTo>
                  <a:pt x="2131" y="240"/>
                </a:lnTo>
                <a:lnTo>
                  <a:pt x="2127" y="237"/>
                </a:lnTo>
                <a:lnTo>
                  <a:pt x="2124" y="233"/>
                </a:lnTo>
                <a:lnTo>
                  <a:pt x="2121" y="229"/>
                </a:lnTo>
                <a:lnTo>
                  <a:pt x="2119" y="224"/>
                </a:lnTo>
                <a:lnTo>
                  <a:pt x="2117" y="219"/>
                </a:lnTo>
                <a:lnTo>
                  <a:pt x="2116" y="213"/>
                </a:lnTo>
                <a:lnTo>
                  <a:pt x="2115" y="208"/>
                </a:lnTo>
                <a:lnTo>
                  <a:pt x="2115" y="201"/>
                </a:lnTo>
                <a:lnTo>
                  <a:pt x="2115" y="109"/>
                </a:lnTo>
                <a:lnTo>
                  <a:pt x="2091" y="109"/>
                </a:lnTo>
                <a:lnTo>
                  <a:pt x="2091" y="72"/>
                </a:lnTo>
                <a:lnTo>
                  <a:pt x="2115" y="72"/>
                </a:lnTo>
                <a:lnTo>
                  <a:pt x="2115" y="30"/>
                </a:lnTo>
                <a:lnTo>
                  <a:pt x="2164" y="30"/>
                </a:lnTo>
                <a:lnTo>
                  <a:pt x="2164" y="72"/>
                </a:lnTo>
                <a:lnTo>
                  <a:pt x="2197" y="72"/>
                </a:lnTo>
                <a:close/>
                <a:moveTo>
                  <a:pt x="2304" y="253"/>
                </a:moveTo>
                <a:lnTo>
                  <a:pt x="2291" y="252"/>
                </a:lnTo>
                <a:lnTo>
                  <a:pt x="2285" y="251"/>
                </a:lnTo>
                <a:lnTo>
                  <a:pt x="2279" y="250"/>
                </a:lnTo>
                <a:lnTo>
                  <a:pt x="2268" y="246"/>
                </a:lnTo>
                <a:lnTo>
                  <a:pt x="2263" y="244"/>
                </a:lnTo>
                <a:lnTo>
                  <a:pt x="2258" y="241"/>
                </a:lnTo>
                <a:lnTo>
                  <a:pt x="2249" y="235"/>
                </a:lnTo>
                <a:lnTo>
                  <a:pt x="2245" y="231"/>
                </a:lnTo>
                <a:lnTo>
                  <a:pt x="2241" y="227"/>
                </a:lnTo>
                <a:lnTo>
                  <a:pt x="2234" y="219"/>
                </a:lnTo>
                <a:lnTo>
                  <a:pt x="2231" y="214"/>
                </a:lnTo>
                <a:lnTo>
                  <a:pt x="2228" y="209"/>
                </a:lnTo>
                <a:lnTo>
                  <a:pt x="2223" y="198"/>
                </a:lnTo>
                <a:lnTo>
                  <a:pt x="2221" y="193"/>
                </a:lnTo>
                <a:lnTo>
                  <a:pt x="2220" y="187"/>
                </a:lnTo>
                <a:lnTo>
                  <a:pt x="2219" y="181"/>
                </a:lnTo>
                <a:lnTo>
                  <a:pt x="2218" y="175"/>
                </a:lnTo>
                <a:lnTo>
                  <a:pt x="2218" y="168"/>
                </a:lnTo>
                <a:lnTo>
                  <a:pt x="2217" y="161"/>
                </a:lnTo>
                <a:lnTo>
                  <a:pt x="2218" y="155"/>
                </a:lnTo>
                <a:lnTo>
                  <a:pt x="2218" y="148"/>
                </a:lnTo>
                <a:lnTo>
                  <a:pt x="2219" y="142"/>
                </a:lnTo>
                <a:lnTo>
                  <a:pt x="2220" y="136"/>
                </a:lnTo>
                <a:lnTo>
                  <a:pt x="2223" y="124"/>
                </a:lnTo>
                <a:lnTo>
                  <a:pt x="2225" y="119"/>
                </a:lnTo>
                <a:lnTo>
                  <a:pt x="2228" y="114"/>
                </a:lnTo>
                <a:lnTo>
                  <a:pt x="2234" y="104"/>
                </a:lnTo>
                <a:lnTo>
                  <a:pt x="2237" y="99"/>
                </a:lnTo>
                <a:lnTo>
                  <a:pt x="2241" y="95"/>
                </a:lnTo>
                <a:lnTo>
                  <a:pt x="2245" y="91"/>
                </a:lnTo>
                <a:lnTo>
                  <a:pt x="2249" y="88"/>
                </a:lnTo>
                <a:lnTo>
                  <a:pt x="2253" y="85"/>
                </a:lnTo>
                <a:lnTo>
                  <a:pt x="2258" y="82"/>
                </a:lnTo>
                <a:lnTo>
                  <a:pt x="2263" y="79"/>
                </a:lnTo>
                <a:lnTo>
                  <a:pt x="2268" y="77"/>
                </a:lnTo>
                <a:lnTo>
                  <a:pt x="2274" y="75"/>
                </a:lnTo>
                <a:lnTo>
                  <a:pt x="2279" y="73"/>
                </a:lnTo>
                <a:lnTo>
                  <a:pt x="2285" y="72"/>
                </a:lnTo>
                <a:lnTo>
                  <a:pt x="2291" y="71"/>
                </a:lnTo>
                <a:lnTo>
                  <a:pt x="2304" y="70"/>
                </a:lnTo>
                <a:lnTo>
                  <a:pt x="2317" y="71"/>
                </a:lnTo>
                <a:lnTo>
                  <a:pt x="2323" y="72"/>
                </a:lnTo>
                <a:lnTo>
                  <a:pt x="2329" y="73"/>
                </a:lnTo>
                <a:lnTo>
                  <a:pt x="2340" y="77"/>
                </a:lnTo>
                <a:lnTo>
                  <a:pt x="2346" y="79"/>
                </a:lnTo>
                <a:lnTo>
                  <a:pt x="2351" y="82"/>
                </a:lnTo>
                <a:lnTo>
                  <a:pt x="2360" y="88"/>
                </a:lnTo>
                <a:lnTo>
                  <a:pt x="2364" y="91"/>
                </a:lnTo>
                <a:lnTo>
                  <a:pt x="2368" y="95"/>
                </a:lnTo>
                <a:lnTo>
                  <a:pt x="2375" y="104"/>
                </a:lnTo>
                <a:lnTo>
                  <a:pt x="2378" y="109"/>
                </a:lnTo>
                <a:lnTo>
                  <a:pt x="2381" y="114"/>
                </a:lnTo>
                <a:lnTo>
                  <a:pt x="2385" y="124"/>
                </a:lnTo>
                <a:lnTo>
                  <a:pt x="2387" y="130"/>
                </a:lnTo>
                <a:lnTo>
                  <a:pt x="2389" y="136"/>
                </a:lnTo>
                <a:lnTo>
                  <a:pt x="2390" y="142"/>
                </a:lnTo>
                <a:lnTo>
                  <a:pt x="2391" y="148"/>
                </a:lnTo>
                <a:lnTo>
                  <a:pt x="2391" y="155"/>
                </a:lnTo>
                <a:lnTo>
                  <a:pt x="2391" y="161"/>
                </a:lnTo>
                <a:lnTo>
                  <a:pt x="2391" y="168"/>
                </a:lnTo>
                <a:lnTo>
                  <a:pt x="2391" y="175"/>
                </a:lnTo>
                <a:lnTo>
                  <a:pt x="2390" y="181"/>
                </a:lnTo>
                <a:lnTo>
                  <a:pt x="2389" y="187"/>
                </a:lnTo>
                <a:lnTo>
                  <a:pt x="2385" y="198"/>
                </a:lnTo>
                <a:lnTo>
                  <a:pt x="2383" y="204"/>
                </a:lnTo>
                <a:lnTo>
                  <a:pt x="2381" y="209"/>
                </a:lnTo>
                <a:lnTo>
                  <a:pt x="2375" y="219"/>
                </a:lnTo>
                <a:lnTo>
                  <a:pt x="2372" y="223"/>
                </a:lnTo>
                <a:lnTo>
                  <a:pt x="2368" y="227"/>
                </a:lnTo>
                <a:lnTo>
                  <a:pt x="2364" y="231"/>
                </a:lnTo>
                <a:lnTo>
                  <a:pt x="2360" y="235"/>
                </a:lnTo>
                <a:lnTo>
                  <a:pt x="2355" y="238"/>
                </a:lnTo>
                <a:lnTo>
                  <a:pt x="2351" y="241"/>
                </a:lnTo>
                <a:lnTo>
                  <a:pt x="2346" y="244"/>
                </a:lnTo>
                <a:lnTo>
                  <a:pt x="2340" y="246"/>
                </a:lnTo>
                <a:lnTo>
                  <a:pt x="2335" y="248"/>
                </a:lnTo>
                <a:lnTo>
                  <a:pt x="2329" y="250"/>
                </a:lnTo>
                <a:lnTo>
                  <a:pt x="2323" y="251"/>
                </a:lnTo>
                <a:lnTo>
                  <a:pt x="2317" y="252"/>
                </a:lnTo>
                <a:lnTo>
                  <a:pt x="2304" y="253"/>
                </a:lnTo>
                <a:close/>
                <a:moveTo>
                  <a:pt x="2305" y="215"/>
                </a:moveTo>
                <a:lnTo>
                  <a:pt x="2309" y="214"/>
                </a:lnTo>
                <a:lnTo>
                  <a:pt x="2313" y="214"/>
                </a:lnTo>
                <a:lnTo>
                  <a:pt x="2317" y="212"/>
                </a:lnTo>
                <a:lnTo>
                  <a:pt x="2321" y="211"/>
                </a:lnTo>
                <a:lnTo>
                  <a:pt x="2324" y="209"/>
                </a:lnTo>
                <a:lnTo>
                  <a:pt x="2327" y="206"/>
                </a:lnTo>
                <a:lnTo>
                  <a:pt x="2330" y="203"/>
                </a:lnTo>
                <a:lnTo>
                  <a:pt x="2332" y="199"/>
                </a:lnTo>
                <a:lnTo>
                  <a:pt x="2334" y="195"/>
                </a:lnTo>
                <a:lnTo>
                  <a:pt x="2336" y="191"/>
                </a:lnTo>
                <a:lnTo>
                  <a:pt x="2338" y="187"/>
                </a:lnTo>
                <a:lnTo>
                  <a:pt x="2339" y="182"/>
                </a:lnTo>
                <a:lnTo>
                  <a:pt x="2341" y="172"/>
                </a:lnTo>
                <a:lnTo>
                  <a:pt x="2341" y="167"/>
                </a:lnTo>
                <a:lnTo>
                  <a:pt x="2342" y="161"/>
                </a:lnTo>
                <a:lnTo>
                  <a:pt x="2341" y="150"/>
                </a:lnTo>
                <a:lnTo>
                  <a:pt x="2339" y="140"/>
                </a:lnTo>
                <a:lnTo>
                  <a:pt x="2338" y="135"/>
                </a:lnTo>
                <a:lnTo>
                  <a:pt x="2336" y="131"/>
                </a:lnTo>
                <a:lnTo>
                  <a:pt x="2332" y="123"/>
                </a:lnTo>
                <a:lnTo>
                  <a:pt x="2330" y="119"/>
                </a:lnTo>
                <a:lnTo>
                  <a:pt x="2327" y="116"/>
                </a:lnTo>
                <a:lnTo>
                  <a:pt x="2324" y="113"/>
                </a:lnTo>
                <a:lnTo>
                  <a:pt x="2321" y="111"/>
                </a:lnTo>
                <a:lnTo>
                  <a:pt x="2317" y="110"/>
                </a:lnTo>
                <a:lnTo>
                  <a:pt x="2313" y="108"/>
                </a:lnTo>
                <a:lnTo>
                  <a:pt x="2309" y="108"/>
                </a:lnTo>
                <a:lnTo>
                  <a:pt x="2305" y="107"/>
                </a:lnTo>
                <a:lnTo>
                  <a:pt x="2300" y="108"/>
                </a:lnTo>
                <a:lnTo>
                  <a:pt x="2296" y="108"/>
                </a:lnTo>
                <a:lnTo>
                  <a:pt x="2292" y="110"/>
                </a:lnTo>
                <a:lnTo>
                  <a:pt x="2288" y="111"/>
                </a:lnTo>
                <a:lnTo>
                  <a:pt x="2285" y="113"/>
                </a:lnTo>
                <a:lnTo>
                  <a:pt x="2282" y="116"/>
                </a:lnTo>
                <a:lnTo>
                  <a:pt x="2279" y="119"/>
                </a:lnTo>
                <a:lnTo>
                  <a:pt x="2277" y="123"/>
                </a:lnTo>
                <a:lnTo>
                  <a:pt x="2272" y="131"/>
                </a:lnTo>
                <a:lnTo>
                  <a:pt x="2271" y="135"/>
                </a:lnTo>
                <a:lnTo>
                  <a:pt x="2270" y="140"/>
                </a:lnTo>
                <a:lnTo>
                  <a:pt x="2269" y="145"/>
                </a:lnTo>
                <a:lnTo>
                  <a:pt x="2268" y="150"/>
                </a:lnTo>
                <a:lnTo>
                  <a:pt x="2267" y="155"/>
                </a:lnTo>
                <a:lnTo>
                  <a:pt x="2267" y="161"/>
                </a:lnTo>
                <a:lnTo>
                  <a:pt x="2268" y="172"/>
                </a:lnTo>
                <a:lnTo>
                  <a:pt x="2270" y="182"/>
                </a:lnTo>
                <a:lnTo>
                  <a:pt x="2271" y="187"/>
                </a:lnTo>
                <a:lnTo>
                  <a:pt x="2272" y="191"/>
                </a:lnTo>
                <a:lnTo>
                  <a:pt x="2274" y="195"/>
                </a:lnTo>
                <a:lnTo>
                  <a:pt x="2277" y="199"/>
                </a:lnTo>
                <a:lnTo>
                  <a:pt x="2279" y="203"/>
                </a:lnTo>
                <a:lnTo>
                  <a:pt x="2282" y="206"/>
                </a:lnTo>
                <a:lnTo>
                  <a:pt x="2285" y="209"/>
                </a:lnTo>
                <a:lnTo>
                  <a:pt x="2288" y="211"/>
                </a:lnTo>
                <a:lnTo>
                  <a:pt x="2292" y="212"/>
                </a:lnTo>
                <a:lnTo>
                  <a:pt x="2296" y="214"/>
                </a:lnTo>
                <a:lnTo>
                  <a:pt x="2300" y="214"/>
                </a:lnTo>
                <a:lnTo>
                  <a:pt x="2305" y="215"/>
                </a:lnTo>
                <a:close/>
                <a:moveTo>
                  <a:pt x="2539" y="172"/>
                </a:moveTo>
                <a:lnTo>
                  <a:pt x="2430" y="172"/>
                </a:lnTo>
                <a:lnTo>
                  <a:pt x="2430" y="133"/>
                </a:lnTo>
                <a:lnTo>
                  <a:pt x="2539" y="133"/>
                </a:lnTo>
                <a:lnTo>
                  <a:pt x="2539" y="172"/>
                </a:lnTo>
                <a:close/>
                <a:moveTo>
                  <a:pt x="2603" y="315"/>
                </a:moveTo>
                <a:lnTo>
                  <a:pt x="2594" y="315"/>
                </a:lnTo>
                <a:lnTo>
                  <a:pt x="2586" y="314"/>
                </a:lnTo>
                <a:lnTo>
                  <a:pt x="2579" y="312"/>
                </a:lnTo>
                <a:lnTo>
                  <a:pt x="2573" y="310"/>
                </a:lnTo>
                <a:lnTo>
                  <a:pt x="2584" y="274"/>
                </a:lnTo>
                <a:lnTo>
                  <a:pt x="2590" y="275"/>
                </a:lnTo>
                <a:lnTo>
                  <a:pt x="2596" y="276"/>
                </a:lnTo>
                <a:lnTo>
                  <a:pt x="2601" y="276"/>
                </a:lnTo>
                <a:lnTo>
                  <a:pt x="2606" y="276"/>
                </a:lnTo>
                <a:lnTo>
                  <a:pt x="2608" y="275"/>
                </a:lnTo>
                <a:lnTo>
                  <a:pt x="2610" y="274"/>
                </a:lnTo>
                <a:lnTo>
                  <a:pt x="2614" y="271"/>
                </a:lnTo>
                <a:lnTo>
                  <a:pt x="2617" y="267"/>
                </a:lnTo>
                <a:lnTo>
                  <a:pt x="2620" y="262"/>
                </a:lnTo>
                <a:lnTo>
                  <a:pt x="2623" y="254"/>
                </a:lnTo>
                <a:lnTo>
                  <a:pt x="2559" y="72"/>
                </a:lnTo>
                <a:lnTo>
                  <a:pt x="2611" y="72"/>
                </a:lnTo>
                <a:lnTo>
                  <a:pt x="2647" y="202"/>
                </a:lnTo>
                <a:lnTo>
                  <a:pt x="2686" y="72"/>
                </a:lnTo>
                <a:lnTo>
                  <a:pt x="2738" y="72"/>
                </a:lnTo>
                <a:lnTo>
                  <a:pt x="2669" y="268"/>
                </a:lnTo>
                <a:lnTo>
                  <a:pt x="2665" y="278"/>
                </a:lnTo>
                <a:lnTo>
                  <a:pt x="2663" y="283"/>
                </a:lnTo>
                <a:lnTo>
                  <a:pt x="2660" y="287"/>
                </a:lnTo>
                <a:lnTo>
                  <a:pt x="2654" y="296"/>
                </a:lnTo>
                <a:lnTo>
                  <a:pt x="2646" y="302"/>
                </a:lnTo>
                <a:lnTo>
                  <a:pt x="2642" y="306"/>
                </a:lnTo>
                <a:lnTo>
                  <a:pt x="2638" y="308"/>
                </a:lnTo>
                <a:lnTo>
                  <a:pt x="2633" y="310"/>
                </a:lnTo>
                <a:lnTo>
                  <a:pt x="2628" y="312"/>
                </a:lnTo>
                <a:lnTo>
                  <a:pt x="2622" y="314"/>
                </a:lnTo>
                <a:lnTo>
                  <a:pt x="2616" y="315"/>
                </a:lnTo>
                <a:lnTo>
                  <a:pt x="2610" y="315"/>
                </a:lnTo>
                <a:lnTo>
                  <a:pt x="2603" y="315"/>
                </a:lnTo>
                <a:close/>
                <a:moveTo>
                  <a:pt x="2812" y="249"/>
                </a:moveTo>
                <a:lnTo>
                  <a:pt x="2763" y="249"/>
                </a:lnTo>
                <a:lnTo>
                  <a:pt x="2763" y="13"/>
                </a:lnTo>
                <a:lnTo>
                  <a:pt x="2812" y="13"/>
                </a:lnTo>
                <a:lnTo>
                  <a:pt x="2812" y="249"/>
                </a:lnTo>
                <a:close/>
                <a:moveTo>
                  <a:pt x="2877" y="50"/>
                </a:moveTo>
                <a:lnTo>
                  <a:pt x="2872" y="49"/>
                </a:lnTo>
                <a:lnTo>
                  <a:pt x="2867" y="48"/>
                </a:lnTo>
                <a:lnTo>
                  <a:pt x="2863" y="45"/>
                </a:lnTo>
                <a:lnTo>
                  <a:pt x="2859" y="42"/>
                </a:lnTo>
                <a:lnTo>
                  <a:pt x="2855" y="38"/>
                </a:lnTo>
                <a:lnTo>
                  <a:pt x="2853" y="34"/>
                </a:lnTo>
                <a:lnTo>
                  <a:pt x="2851" y="30"/>
                </a:lnTo>
                <a:lnTo>
                  <a:pt x="2851" y="25"/>
                </a:lnTo>
                <a:lnTo>
                  <a:pt x="2851" y="20"/>
                </a:lnTo>
                <a:lnTo>
                  <a:pt x="2853" y="15"/>
                </a:lnTo>
                <a:lnTo>
                  <a:pt x="2855" y="11"/>
                </a:lnTo>
                <a:lnTo>
                  <a:pt x="2859" y="7"/>
                </a:lnTo>
                <a:lnTo>
                  <a:pt x="2863" y="4"/>
                </a:lnTo>
                <a:lnTo>
                  <a:pt x="2867" y="2"/>
                </a:lnTo>
                <a:lnTo>
                  <a:pt x="2872" y="0"/>
                </a:lnTo>
                <a:lnTo>
                  <a:pt x="2877" y="0"/>
                </a:lnTo>
                <a:lnTo>
                  <a:pt x="2883" y="0"/>
                </a:lnTo>
                <a:lnTo>
                  <a:pt x="2887" y="2"/>
                </a:lnTo>
                <a:lnTo>
                  <a:pt x="2892" y="4"/>
                </a:lnTo>
                <a:lnTo>
                  <a:pt x="2896" y="7"/>
                </a:lnTo>
                <a:lnTo>
                  <a:pt x="2900" y="11"/>
                </a:lnTo>
                <a:lnTo>
                  <a:pt x="2902" y="15"/>
                </a:lnTo>
                <a:lnTo>
                  <a:pt x="2903" y="20"/>
                </a:lnTo>
                <a:lnTo>
                  <a:pt x="2904" y="25"/>
                </a:lnTo>
                <a:lnTo>
                  <a:pt x="2903" y="30"/>
                </a:lnTo>
                <a:lnTo>
                  <a:pt x="2902" y="34"/>
                </a:lnTo>
                <a:lnTo>
                  <a:pt x="2900" y="38"/>
                </a:lnTo>
                <a:lnTo>
                  <a:pt x="2896" y="42"/>
                </a:lnTo>
                <a:lnTo>
                  <a:pt x="2892" y="45"/>
                </a:lnTo>
                <a:lnTo>
                  <a:pt x="2887" y="48"/>
                </a:lnTo>
                <a:lnTo>
                  <a:pt x="2883" y="49"/>
                </a:lnTo>
                <a:lnTo>
                  <a:pt x="2877" y="50"/>
                </a:lnTo>
                <a:close/>
                <a:moveTo>
                  <a:pt x="2853" y="72"/>
                </a:moveTo>
                <a:lnTo>
                  <a:pt x="2902" y="72"/>
                </a:lnTo>
                <a:lnTo>
                  <a:pt x="2902" y="249"/>
                </a:lnTo>
                <a:lnTo>
                  <a:pt x="2853" y="249"/>
                </a:lnTo>
                <a:lnTo>
                  <a:pt x="2853" y="72"/>
                </a:lnTo>
                <a:close/>
                <a:moveTo>
                  <a:pt x="3023" y="253"/>
                </a:moveTo>
                <a:lnTo>
                  <a:pt x="3010" y="252"/>
                </a:lnTo>
                <a:lnTo>
                  <a:pt x="3003" y="251"/>
                </a:lnTo>
                <a:lnTo>
                  <a:pt x="2998" y="250"/>
                </a:lnTo>
                <a:lnTo>
                  <a:pt x="2986" y="246"/>
                </a:lnTo>
                <a:lnTo>
                  <a:pt x="2980" y="244"/>
                </a:lnTo>
                <a:lnTo>
                  <a:pt x="2975" y="241"/>
                </a:lnTo>
                <a:lnTo>
                  <a:pt x="2966" y="235"/>
                </a:lnTo>
                <a:lnTo>
                  <a:pt x="2962" y="231"/>
                </a:lnTo>
                <a:lnTo>
                  <a:pt x="2958" y="227"/>
                </a:lnTo>
                <a:lnTo>
                  <a:pt x="2951" y="219"/>
                </a:lnTo>
                <a:lnTo>
                  <a:pt x="2948" y="214"/>
                </a:lnTo>
                <a:lnTo>
                  <a:pt x="2945" y="209"/>
                </a:lnTo>
                <a:lnTo>
                  <a:pt x="2940" y="198"/>
                </a:lnTo>
                <a:lnTo>
                  <a:pt x="2939" y="193"/>
                </a:lnTo>
                <a:lnTo>
                  <a:pt x="2937" y="187"/>
                </a:lnTo>
                <a:lnTo>
                  <a:pt x="2936" y="181"/>
                </a:lnTo>
                <a:lnTo>
                  <a:pt x="2935" y="175"/>
                </a:lnTo>
                <a:lnTo>
                  <a:pt x="2935" y="168"/>
                </a:lnTo>
                <a:lnTo>
                  <a:pt x="2935" y="161"/>
                </a:lnTo>
                <a:lnTo>
                  <a:pt x="2935" y="155"/>
                </a:lnTo>
                <a:lnTo>
                  <a:pt x="2935" y="148"/>
                </a:lnTo>
                <a:lnTo>
                  <a:pt x="2936" y="142"/>
                </a:lnTo>
                <a:lnTo>
                  <a:pt x="2937" y="136"/>
                </a:lnTo>
                <a:lnTo>
                  <a:pt x="2940" y="124"/>
                </a:lnTo>
                <a:lnTo>
                  <a:pt x="2943" y="119"/>
                </a:lnTo>
                <a:lnTo>
                  <a:pt x="2945" y="114"/>
                </a:lnTo>
                <a:lnTo>
                  <a:pt x="2951" y="104"/>
                </a:lnTo>
                <a:lnTo>
                  <a:pt x="2954" y="99"/>
                </a:lnTo>
                <a:lnTo>
                  <a:pt x="2958" y="95"/>
                </a:lnTo>
                <a:lnTo>
                  <a:pt x="2962" y="91"/>
                </a:lnTo>
                <a:lnTo>
                  <a:pt x="2966" y="88"/>
                </a:lnTo>
                <a:lnTo>
                  <a:pt x="2970" y="85"/>
                </a:lnTo>
                <a:lnTo>
                  <a:pt x="2975" y="82"/>
                </a:lnTo>
                <a:lnTo>
                  <a:pt x="2980" y="79"/>
                </a:lnTo>
                <a:lnTo>
                  <a:pt x="2986" y="77"/>
                </a:lnTo>
                <a:lnTo>
                  <a:pt x="2992" y="75"/>
                </a:lnTo>
                <a:lnTo>
                  <a:pt x="2998" y="73"/>
                </a:lnTo>
                <a:lnTo>
                  <a:pt x="3003" y="72"/>
                </a:lnTo>
                <a:lnTo>
                  <a:pt x="3010" y="71"/>
                </a:lnTo>
                <a:lnTo>
                  <a:pt x="3023" y="70"/>
                </a:lnTo>
                <a:lnTo>
                  <a:pt x="3035" y="71"/>
                </a:lnTo>
                <a:lnTo>
                  <a:pt x="3042" y="72"/>
                </a:lnTo>
                <a:lnTo>
                  <a:pt x="3047" y="73"/>
                </a:lnTo>
                <a:lnTo>
                  <a:pt x="3059" y="77"/>
                </a:lnTo>
                <a:lnTo>
                  <a:pt x="3064" y="79"/>
                </a:lnTo>
                <a:lnTo>
                  <a:pt x="3069" y="82"/>
                </a:lnTo>
                <a:lnTo>
                  <a:pt x="3078" y="88"/>
                </a:lnTo>
                <a:lnTo>
                  <a:pt x="3082" y="91"/>
                </a:lnTo>
                <a:lnTo>
                  <a:pt x="3086" y="95"/>
                </a:lnTo>
                <a:lnTo>
                  <a:pt x="3093" y="104"/>
                </a:lnTo>
                <a:lnTo>
                  <a:pt x="3096" y="109"/>
                </a:lnTo>
                <a:lnTo>
                  <a:pt x="3099" y="114"/>
                </a:lnTo>
                <a:lnTo>
                  <a:pt x="3104" y="124"/>
                </a:lnTo>
                <a:lnTo>
                  <a:pt x="3105" y="130"/>
                </a:lnTo>
                <a:lnTo>
                  <a:pt x="3107" y="136"/>
                </a:lnTo>
                <a:lnTo>
                  <a:pt x="3108" y="142"/>
                </a:lnTo>
                <a:lnTo>
                  <a:pt x="3109" y="148"/>
                </a:lnTo>
                <a:lnTo>
                  <a:pt x="3109" y="155"/>
                </a:lnTo>
                <a:lnTo>
                  <a:pt x="3109" y="161"/>
                </a:lnTo>
                <a:lnTo>
                  <a:pt x="3109" y="168"/>
                </a:lnTo>
                <a:lnTo>
                  <a:pt x="3109" y="175"/>
                </a:lnTo>
                <a:lnTo>
                  <a:pt x="3108" y="181"/>
                </a:lnTo>
                <a:lnTo>
                  <a:pt x="3107" y="187"/>
                </a:lnTo>
                <a:lnTo>
                  <a:pt x="3104" y="198"/>
                </a:lnTo>
                <a:lnTo>
                  <a:pt x="3101" y="204"/>
                </a:lnTo>
                <a:lnTo>
                  <a:pt x="3099" y="209"/>
                </a:lnTo>
                <a:lnTo>
                  <a:pt x="3093" y="219"/>
                </a:lnTo>
                <a:lnTo>
                  <a:pt x="3090" y="223"/>
                </a:lnTo>
                <a:lnTo>
                  <a:pt x="3086" y="227"/>
                </a:lnTo>
                <a:lnTo>
                  <a:pt x="3082" y="231"/>
                </a:lnTo>
                <a:lnTo>
                  <a:pt x="3078" y="235"/>
                </a:lnTo>
                <a:lnTo>
                  <a:pt x="3074" y="238"/>
                </a:lnTo>
                <a:lnTo>
                  <a:pt x="3069" y="241"/>
                </a:lnTo>
                <a:lnTo>
                  <a:pt x="3064" y="244"/>
                </a:lnTo>
                <a:lnTo>
                  <a:pt x="3059" y="246"/>
                </a:lnTo>
                <a:lnTo>
                  <a:pt x="3053" y="248"/>
                </a:lnTo>
                <a:lnTo>
                  <a:pt x="3047" y="250"/>
                </a:lnTo>
                <a:lnTo>
                  <a:pt x="3042" y="251"/>
                </a:lnTo>
                <a:lnTo>
                  <a:pt x="3035" y="252"/>
                </a:lnTo>
                <a:lnTo>
                  <a:pt x="3023" y="253"/>
                </a:lnTo>
                <a:close/>
                <a:moveTo>
                  <a:pt x="3023" y="215"/>
                </a:moveTo>
                <a:lnTo>
                  <a:pt x="3027" y="214"/>
                </a:lnTo>
                <a:lnTo>
                  <a:pt x="3031" y="214"/>
                </a:lnTo>
                <a:lnTo>
                  <a:pt x="3035" y="212"/>
                </a:lnTo>
                <a:lnTo>
                  <a:pt x="3039" y="211"/>
                </a:lnTo>
                <a:lnTo>
                  <a:pt x="3042" y="209"/>
                </a:lnTo>
                <a:lnTo>
                  <a:pt x="3045" y="206"/>
                </a:lnTo>
                <a:lnTo>
                  <a:pt x="3048" y="203"/>
                </a:lnTo>
                <a:lnTo>
                  <a:pt x="3050" y="199"/>
                </a:lnTo>
                <a:lnTo>
                  <a:pt x="3052" y="195"/>
                </a:lnTo>
                <a:lnTo>
                  <a:pt x="3054" y="191"/>
                </a:lnTo>
                <a:lnTo>
                  <a:pt x="3056" y="187"/>
                </a:lnTo>
                <a:lnTo>
                  <a:pt x="3057" y="182"/>
                </a:lnTo>
                <a:lnTo>
                  <a:pt x="3059" y="172"/>
                </a:lnTo>
                <a:lnTo>
                  <a:pt x="3060" y="167"/>
                </a:lnTo>
                <a:lnTo>
                  <a:pt x="3060" y="161"/>
                </a:lnTo>
                <a:lnTo>
                  <a:pt x="3059" y="150"/>
                </a:lnTo>
                <a:lnTo>
                  <a:pt x="3057" y="140"/>
                </a:lnTo>
                <a:lnTo>
                  <a:pt x="3056" y="135"/>
                </a:lnTo>
                <a:lnTo>
                  <a:pt x="3054" y="131"/>
                </a:lnTo>
                <a:lnTo>
                  <a:pt x="3050" y="123"/>
                </a:lnTo>
                <a:lnTo>
                  <a:pt x="3048" y="119"/>
                </a:lnTo>
                <a:lnTo>
                  <a:pt x="3045" y="116"/>
                </a:lnTo>
                <a:lnTo>
                  <a:pt x="3042" y="113"/>
                </a:lnTo>
                <a:lnTo>
                  <a:pt x="3039" y="111"/>
                </a:lnTo>
                <a:lnTo>
                  <a:pt x="3035" y="110"/>
                </a:lnTo>
                <a:lnTo>
                  <a:pt x="3031" y="108"/>
                </a:lnTo>
                <a:lnTo>
                  <a:pt x="3027" y="108"/>
                </a:lnTo>
                <a:lnTo>
                  <a:pt x="3023" y="107"/>
                </a:lnTo>
                <a:lnTo>
                  <a:pt x="3018" y="108"/>
                </a:lnTo>
                <a:lnTo>
                  <a:pt x="3014" y="108"/>
                </a:lnTo>
                <a:lnTo>
                  <a:pt x="3010" y="110"/>
                </a:lnTo>
                <a:lnTo>
                  <a:pt x="3006" y="111"/>
                </a:lnTo>
                <a:lnTo>
                  <a:pt x="3003" y="113"/>
                </a:lnTo>
                <a:lnTo>
                  <a:pt x="3000" y="116"/>
                </a:lnTo>
                <a:lnTo>
                  <a:pt x="2997" y="119"/>
                </a:lnTo>
                <a:lnTo>
                  <a:pt x="2995" y="123"/>
                </a:lnTo>
                <a:lnTo>
                  <a:pt x="2991" y="131"/>
                </a:lnTo>
                <a:lnTo>
                  <a:pt x="2989" y="135"/>
                </a:lnTo>
                <a:lnTo>
                  <a:pt x="2988" y="140"/>
                </a:lnTo>
                <a:lnTo>
                  <a:pt x="2987" y="145"/>
                </a:lnTo>
                <a:lnTo>
                  <a:pt x="2986" y="150"/>
                </a:lnTo>
                <a:lnTo>
                  <a:pt x="2986" y="155"/>
                </a:lnTo>
                <a:lnTo>
                  <a:pt x="2985" y="161"/>
                </a:lnTo>
                <a:lnTo>
                  <a:pt x="2986" y="172"/>
                </a:lnTo>
                <a:lnTo>
                  <a:pt x="2988" y="182"/>
                </a:lnTo>
                <a:lnTo>
                  <a:pt x="2989" y="187"/>
                </a:lnTo>
                <a:lnTo>
                  <a:pt x="2991" y="191"/>
                </a:lnTo>
                <a:lnTo>
                  <a:pt x="2993" y="195"/>
                </a:lnTo>
                <a:lnTo>
                  <a:pt x="2995" y="199"/>
                </a:lnTo>
                <a:lnTo>
                  <a:pt x="2997" y="203"/>
                </a:lnTo>
                <a:lnTo>
                  <a:pt x="3000" y="206"/>
                </a:lnTo>
                <a:lnTo>
                  <a:pt x="3003" y="209"/>
                </a:lnTo>
                <a:lnTo>
                  <a:pt x="3006" y="211"/>
                </a:lnTo>
                <a:lnTo>
                  <a:pt x="3010" y="212"/>
                </a:lnTo>
                <a:lnTo>
                  <a:pt x="3014" y="214"/>
                </a:lnTo>
                <a:lnTo>
                  <a:pt x="3018" y="214"/>
                </a:lnTo>
                <a:lnTo>
                  <a:pt x="3023" y="215"/>
                </a:lnTo>
                <a:close/>
                <a:moveTo>
                  <a:pt x="3142" y="315"/>
                </a:moveTo>
                <a:lnTo>
                  <a:pt x="3142" y="72"/>
                </a:lnTo>
                <a:lnTo>
                  <a:pt x="3191" y="72"/>
                </a:lnTo>
                <a:lnTo>
                  <a:pt x="3191" y="102"/>
                </a:lnTo>
                <a:lnTo>
                  <a:pt x="3197" y="95"/>
                </a:lnTo>
                <a:lnTo>
                  <a:pt x="3202" y="87"/>
                </a:lnTo>
                <a:lnTo>
                  <a:pt x="3206" y="84"/>
                </a:lnTo>
                <a:lnTo>
                  <a:pt x="3209" y="81"/>
                </a:lnTo>
                <a:lnTo>
                  <a:pt x="3214" y="78"/>
                </a:lnTo>
                <a:lnTo>
                  <a:pt x="3218" y="75"/>
                </a:lnTo>
                <a:lnTo>
                  <a:pt x="3224" y="73"/>
                </a:lnTo>
                <a:lnTo>
                  <a:pt x="3227" y="72"/>
                </a:lnTo>
                <a:lnTo>
                  <a:pt x="3230" y="71"/>
                </a:lnTo>
                <a:lnTo>
                  <a:pt x="3236" y="70"/>
                </a:lnTo>
                <a:lnTo>
                  <a:pt x="3243" y="70"/>
                </a:lnTo>
                <a:lnTo>
                  <a:pt x="3253" y="71"/>
                </a:lnTo>
                <a:lnTo>
                  <a:pt x="3257" y="71"/>
                </a:lnTo>
                <a:lnTo>
                  <a:pt x="3262" y="73"/>
                </a:lnTo>
                <a:lnTo>
                  <a:pt x="3266" y="74"/>
                </a:lnTo>
                <a:lnTo>
                  <a:pt x="3270" y="76"/>
                </a:lnTo>
                <a:lnTo>
                  <a:pt x="3279" y="80"/>
                </a:lnTo>
                <a:lnTo>
                  <a:pt x="3283" y="83"/>
                </a:lnTo>
                <a:lnTo>
                  <a:pt x="3286" y="86"/>
                </a:lnTo>
                <a:lnTo>
                  <a:pt x="3290" y="89"/>
                </a:lnTo>
                <a:lnTo>
                  <a:pt x="3293" y="93"/>
                </a:lnTo>
                <a:lnTo>
                  <a:pt x="3297" y="97"/>
                </a:lnTo>
                <a:lnTo>
                  <a:pt x="3299" y="101"/>
                </a:lnTo>
                <a:lnTo>
                  <a:pt x="3302" y="106"/>
                </a:lnTo>
                <a:lnTo>
                  <a:pt x="3305" y="110"/>
                </a:lnTo>
                <a:lnTo>
                  <a:pt x="3307" y="116"/>
                </a:lnTo>
                <a:lnTo>
                  <a:pt x="3309" y="121"/>
                </a:lnTo>
                <a:lnTo>
                  <a:pt x="3311" y="127"/>
                </a:lnTo>
                <a:lnTo>
                  <a:pt x="3312" y="133"/>
                </a:lnTo>
                <a:lnTo>
                  <a:pt x="3313" y="140"/>
                </a:lnTo>
                <a:lnTo>
                  <a:pt x="3314" y="146"/>
                </a:lnTo>
                <a:lnTo>
                  <a:pt x="3314" y="154"/>
                </a:lnTo>
                <a:lnTo>
                  <a:pt x="3315" y="161"/>
                </a:lnTo>
                <a:lnTo>
                  <a:pt x="3314" y="175"/>
                </a:lnTo>
                <a:lnTo>
                  <a:pt x="3312" y="188"/>
                </a:lnTo>
                <a:lnTo>
                  <a:pt x="3311" y="194"/>
                </a:lnTo>
                <a:lnTo>
                  <a:pt x="3309" y="200"/>
                </a:lnTo>
                <a:lnTo>
                  <a:pt x="3307" y="206"/>
                </a:lnTo>
                <a:lnTo>
                  <a:pt x="3305" y="211"/>
                </a:lnTo>
                <a:lnTo>
                  <a:pt x="3303" y="216"/>
                </a:lnTo>
                <a:lnTo>
                  <a:pt x="3300" y="220"/>
                </a:lnTo>
                <a:lnTo>
                  <a:pt x="3297" y="225"/>
                </a:lnTo>
                <a:lnTo>
                  <a:pt x="3294" y="229"/>
                </a:lnTo>
                <a:lnTo>
                  <a:pt x="3287" y="236"/>
                </a:lnTo>
                <a:lnTo>
                  <a:pt x="3283" y="239"/>
                </a:lnTo>
                <a:lnTo>
                  <a:pt x="3279" y="242"/>
                </a:lnTo>
                <a:lnTo>
                  <a:pt x="3271" y="246"/>
                </a:lnTo>
                <a:lnTo>
                  <a:pt x="3267" y="248"/>
                </a:lnTo>
                <a:lnTo>
                  <a:pt x="3262" y="249"/>
                </a:lnTo>
                <a:lnTo>
                  <a:pt x="3253" y="251"/>
                </a:lnTo>
                <a:lnTo>
                  <a:pt x="3243" y="252"/>
                </a:lnTo>
                <a:lnTo>
                  <a:pt x="3236" y="252"/>
                </a:lnTo>
                <a:lnTo>
                  <a:pt x="3230" y="251"/>
                </a:lnTo>
                <a:lnTo>
                  <a:pt x="3224" y="249"/>
                </a:lnTo>
                <a:lnTo>
                  <a:pt x="3219" y="247"/>
                </a:lnTo>
                <a:lnTo>
                  <a:pt x="3214" y="245"/>
                </a:lnTo>
                <a:lnTo>
                  <a:pt x="3210" y="242"/>
                </a:lnTo>
                <a:lnTo>
                  <a:pt x="3208" y="240"/>
                </a:lnTo>
                <a:lnTo>
                  <a:pt x="3206" y="239"/>
                </a:lnTo>
                <a:lnTo>
                  <a:pt x="3203" y="235"/>
                </a:lnTo>
                <a:lnTo>
                  <a:pt x="3200" y="232"/>
                </a:lnTo>
                <a:lnTo>
                  <a:pt x="3197" y="228"/>
                </a:lnTo>
                <a:lnTo>
                  <a:pt x="3193" y="221"/>
                </a:lnTo>
                <a:lnTo>
                  <a:pt x="3191" y="315"/>
                </a:lnTo>
                <a:lnTo>
                  <a:pt x="3142" y="315"/>
                </a:lnTo>
                <a:close/>
                <a:moveTo>
                  <a:pt x="3190" y="161"/>
                </a:moveTo>
                <a:lnTo>
                  <a:pt x="3191" y="172"/>
                </a:lnTo>
                <a:lnTo>
                  <a:pt x="3193" y="182"/>
                </a:lnTo>
                <a:lnTo>
                  <a:pt x="3194" y="187"/>
                </a:lnTo>
                <a:lnTo>
                  <a:pt x="3196" y="191"/>
                </a:lnTo>
                <a:lnTo>
                  <a:pt x="3198" y="195"/>
                </a:lnTo>
                <a:lnTo>
                  <a:pt x="3200" y="199"/>
                </a:lnTo>
                <a:lnTo>
                  <a:pt x="3205" y="205"/>
                </a:lnTo>
                <a:lnTo>
                  <a:pt x="3208" y="207"/>
                </a:lnTo>
                <a:lnTo>
                  <a:pt x="3212" y="209"/>
                </a:lnTo>
                <a:lnTo>
                  <a:pt x="3215" y="211"/>
                </a:lnTo>
                <a:lnTo>
                  <a:pt x="3219" y="212"/>
                </a:lnTo>
                <a:lnTo>
                  <a:pt x="3223" y="213"/>
                </a:lnTo>
                <a:lnTo>
                  <a:pt x="3227" y="213"/>
                </a:lnTo>
                <a:lnTo>
                  <a:pt x="3232" y="213"/>
                </a:lnTo>
                <a:lnTo>
                  <a:pt x="3236" y="212"/>
                </a:lnTo>
                <a:lnTo>
                  <a:pt x="3240" y="211"/>
                </a:lnTo>
                <a:lnTo>
                  <a:pt x="3243" y="209"/>
                </a:lnTo>
                <a:lnTo>
                  <a:pt x="3247" y="207"/>
                </a:lnTo>
                <a:lnTo>
                  <a:pt x="3250" y="205"/>
                </a:lnTo>
                <a:lnTo>
                  <a:pt x="3253" y="202"/>
                </a:lnTo>
                <a:lnTo>
                  <a:pt x="3255" y="198"/>
                </a:lnTo>
                <a:lnTo>
                  <a:pt x="3259" y="191"/>
                </a:lnTo>
                <a:lnTo>
                  <a:pt x="3261" y="186"/>
                </a:lnTo>
                <a:lnTo>
                  <a:pt x="3262" y="182"/>
                </a:lnTo>
                <a:lnTo>
                  <a:pt x="3263" y="177"/>
                </a:lnTo>
                <a:lnTo>
                  <a:pt x="3264" y="172"/>
                </a:lnTo>
                <a:lnTo>
                  <a:pt x="3264" y="166"/>
                </a:lnTo>
                <a:lnTo>
                  <a:pt x="3265" y="161"/>
                </a:lnTo>
                <a:lnTo>
                  <a:pt x="3264" y="150"/>
                </a:lnTo>
                <a:lnTo>
                  <a:pt x="3262" y="140"/>
                </a:lnTo>
                <a:lnTo>
                  <a:pt x="3261" y="135"/>
                </a:lnTo>
                <a:lnTo>
                  <a:pt x="3259" y="131"/>
                </a:lnTo>
                <a:lnTo>
                  <a:pt x="3257" y="127"/>
                </a:lnTo>
                <a:lnTo>
                  <a:pt x="3255" y="123"/>
                </a:lnTo>
                <a:lnTo>
                  <a:pt x="3253" y="120"/>
                </a:lnTo>
                <a:lnTo>
                  <a:pt x="3250" y="117"/>
                </a:lnTo>
                <a:lnTo>
                  <a:pt x="3247" y="115"/>
                </a:lnTo>
                <a:lnTo>
                  <a:pt x="3243" y="113"/>
                </a:lnTo>
                <a:lnTo>
                  <a:pt x="3240" y="111"/>
                </a:lnTo>
                <a:lnTo>
                  <a:pt x="3236" y="110"/>
                </a:lnTo>
                <a:lnTo>
                  <a:pt x="3232" y="109"/>
                </a:lnTo>
                <a:lnTo>
                  <a:pt x="3227" y="109"/>
                </a:lnTo>
                <a:lnTo>
                  <a:pt x="3219" y="110"/>
                </a:lnTo>
                <a:lnTo>
                  <a:pt x="3215" y="111"/>
                </a:lnTo>
                <a:lnTo>
                  <a:pt x="3212" y="113"/>
                </a:lnTo>
                <a:lnTo>
                  <a:pt x="3208" y="115"/>
                </a:lnTo>
                <a:lnTo>
                  <a:pt x="3205" y="117"/>
                </a:lnTo>
                <a:lnTo>
                  <a:pt x="3202" y="120"/>
                </a:lnTo>
                <a:lnTo>
                  <a:pt x="3200" y="123"/>
                </a:lnTo>
                <a:lnTo>
                  <a:pt x="3196" y="131"/>
                </a:lnTo>
                <a:lnTo>
                  <a:pt x="3194" y="135"/>
                </a:lnTo>
                <a:lnTo>
                  <a:pt x="3193" y="139"/>
                </a:lnTo>
                <a:lnTo>
                  <a:pt x="3192" y="144"/>
                </a:lnTo>
                <a:lnTo>
                  <a:pt x="3191" y="150"/>
                </a:lnTo>
                <a:lnTo>
                  <a:pt x="3190" y="155"/>
                </a:lnTo>
                <a:lnTo>
                  <a:pt x="3190" y="161"/>
                </a:lnTo>
                <a:close/>
                <a:moveTo>
                  <a:pt x="3373" y="50"/>
                </a:moveTo>
                <a:lnTo>
                  <a:pt x="3368" y="49"/>
                </a:lnTo>
                <a:lnTo>
                  <a:pt x="3363" y="48"/>
                </a:lnTo>
                <a:lnTo>
                  <a:pt x="3358" y="45"/>
                </a:lnTo>
                <a:lnTo>
                  <a:pt x="3354" y="42"/>
                </a:lnTo>
                <a:lnTo>
                  <a:pt x="3351" y="38"/>
                </a:lnTo>
                <a:lnTo>
                  <a:pt x="3348" y="34"/>
                </a:lnTo>
                <a:lnTo>
                  <a:pt x="3347" y="30"/>
                </a:lnTo>
                <a:lnTo>
                  <a:pt x="3346" y="25"/>
                </a:lnTo>
                <a:lnTo>
                  <a:pt x="3347" y="20"/>
                </a:lnTo>
                <a:lnTo>
                  <a:pt x="3348" y="15"/>
                </a:lnTo>
                <a:lnTo>
                  <a:pt x="3351" y="11"/>
                </a:lnTo>
                <a:lnTo>
                  <a:pt x="3354" y="7"/>
                </a:lnTo>
                <a:lnTo>
                  <a:pt x="3358" y="4"/>
                </a:lnTo>
                <a:lnTo>
                  <a:pt x="3363" y="2"/>
                </a:lnTo>
                <a:lnTo>
                  <a:pt x="3368" y="0"/>
                </a:lnTo>
                <a:lnTo>
                  <a:pt x="3373" y="0"/>
                </a:lnTo>
                <a:lnTo>
                  <a:pt x="3378" y="0"/>
                </a:lnTo>
                <a:lnTo>
                  <a:pt x="3383" y="2"/>
                </a:lnTo>
                <a:lnTo>
                  <a:pt x="3387" y="4"/>
                </a:lnTo>
                <a:lnTo>
                  <a:pt x="3392" y="7"/>
                </a:lnTo>
                <a:lnTo>
                  <a:pt x="3395" y="11"/>
                </a:lnTo>
                <a:lnTo>
                  <a:pt x="3397" y="15"/>
                </a:lnTo>
                <a:lnTo>
                  <a:pt x="3399" y="20"/>
                </a:lnTo>
                <a:lnTo>
                  <a:pt x="3399" y="25"/>
                </a:lnTo>
                <a:lnTo>
                  <a:pt x="3399" y="30"/>
                </a:lnTo>
                <a:lnTo>
                  <a:pt x="3397" y="34"/>
                </a:lnTo>
                <a:lnTo>
                  <a:pt x="3395" y="38"/>
                </a:lnTo>
                <a:lnTo>
                  <a:pt x="3392" y="42"/>
                </a:lnTo>
                <a:lnTo>
                  <a:pt x="3387" y="45"/>
                </a:lnTo>
                <a:lnTo>
                  <a:pt x="3383" y="48"/>
                </a:lnTo>
                <a:lnTo>
                  <a:pt x="3378" y="49"/>
                </a:lnTo>
                <a:lnTo>
                  <a:pt x="3373" y="50"/>
                </a:lnTo>
                <a:close/>
                <a:moveTo>
                  <a:pt x="3348" y="72"/>
                </a:moveTo>
                <a:lnTo>
                  <a:pt x="3397" y="72"/>
                </a:lnTo>
                <a:lnTo>
                  <a:pt x="3397" y="249"/>
                </a:lnTo>
                <a:lnTo>
                  <a:pt x="3348" y="249"/>
                </a:lnTo>
                <a:lnTo>
                  <a:pt x="3348" y="72"/>
                </a:lnTo>
                <a:close/>
                <a:moveTo>
                  <a:pt x="3585" y="123"/>
                </a:moveTo>
                <a:lnTo>
                  <a:pt x="3540" y="126"/>
                </a:lnTo>
                <a:lnTo>
                  <a:pt x="3539" y="121"/>
                </a:lnTo>
                <a:lnTo>
                  <a:pt x="3537" y="118"/>
                </a:lnTo>
                <a:lnTo>
                  <a:pt x="3534" y="114"/>
                </a:lnTo>
                <a:lnTo>
                  <a:pt x="3531" y="111"/>
                </a:lnTo>
                <a:lnTo>
                  <a:pt x="3527" y="108"/>
                </a:lnTo>
                <a:lnTo>
                  <a:pt x="3522" y="106"/>
                </a:lnTo>
                <a:lnTo>
                  <a:pt x="3516" y="105"/>
                </a:lnTo>
                <a:lnTo>
                  <a:pt x="3510" y="105"/>
                </a:lnTo>
                <a:lnTo>
                  <a:pt x="3505" y="105"/>
                </a:lnTo>
                <a:lnTo>
                  <a:pt x="3500" y="106"/>
                </a:lnTo>
                <a:lnTo>
                  <a:pt x="3495" y="108"/>
                </a:lnTo>
                <a:lnTo>
                  <a:pt x="3491" y="110"/>
                </a:lnTo>
                <a:lnTo>
                  <a:pt x="3488" y="112"/>
                </a:lnTo>
                <a:lnTo>
                  <a:pt x="3485" y="115"/>
                </a:lnTo>
                <a:lnTo>
                  <a:pt x="3484" y="119"/>
                </a:lnTo>
                <a:lnTo>
                  <a:pt x="3483" y="122"/>
                </a:lnTo>
                <a:lnTo>
                  <a:pt x="3484" y="125"/>
                </a:lnTo>
                <a:lnTo>
                  <a:pt x="3485" y="128"/>
                </a:lnTo>
                <a:lnTo>
                  <a:pt x="3486" y="131"/>
                </a:lnTo>
                <a:lnTo>
                  <a:pt x="3488" y="133"/>
                </a:lnTo>
                <a:lnTo>
                  <a:pt x="3491" y="135"/>
                </a:lnTo>
                <a:lnTo>
                  <a:pt x="3495" y="137"/>
                </a:lnTo>
                <a:lnTo>
                  <a:pt x="3500" y="139"/>
                </a:lnTo>
                <a:lnTo>
                  <a:pt x="3506" y="140"/>
                </a:lnTo>
                <a:lnTo>
                  <a:pt x="3538" y="146"/>
                </a:lnTo>
                <a:lnTo>
                  <a:pt x="3544" y="148"/>
                </a:lnTo>
                <a:lnTo>
                  <a:pt x="3550" y="150"/>
                </a:lnTo>
                <a:lnTo>
                  <a:pt x="3555" y="151"/>
                </a:lnTo>
                <a:lnTo>
                  <a:pt x="3560" y="153"/>
                </a:lnTo>
                <a:lnTo>
                  <a:pt x="3569" y="158"/>
                </a:lnTo>
                <a:lnTo>
                  <a:pt x="3576" y="164"/>
                </a:lnTo>
                <a:lnTo>
                  <a:pt x="3579" y="167"/>
                </a:lnTo>
                <a:lnTo>
                  <a:pt x="3582" y="170"/>
                </a:lnTo>
                <a:lnTo>
                  <a:pt x="3584" y="174"/>
                </a:lnTo>
                <a:lnTo>
                  <a:pt x="3586" y="177"/>
                </a:lnTo>
                <a:lnTo>
                  <a:pt x="3588" y="185"/>
                </a:lnTo>
                <a:lnTo>
                  <a:pt x="3589" y="190"/>
                </a:lnTo>
                <a:lnTo>
                  <a:pt x="3589" y="194"/>
                </a:lnTo>
                <a:lnTo>
                  <a:pt x="3589" y="199"/>
                </a:lnTo>
                <a:lnTo>
                  <a:pt x="3588" y="203"/>
                </a:lnTo>
                <a:lnTo>
                  <a:pt x="3587" y="207"/>
                </a:lnTo>
                <a:lnTo>
                  <a:pt x="3586" y="211"/>
                </a:lnTo>
                <a:lnTo>
                  <a:pt x="3585" y="214"/>
                </a:lnTo>
                <a:lnTo>
                  <a:pt x="3583" y="218"/>
                </a:lnTo>
                <a:lnTo>
                  <a:pt x="3581" y="221"/>
                </a:lnTo>
                <a:lnTo>
                  <a:pt x="3579" y="225"/>
                </a:lnTo>
                <a:lnTo>
                  <a:pt x="3573" y="231"/>
                </a:lnTo>
                <a:lnTo>
                  <a:pt x="3567" y="236"/>
                </a:lnTo>
                <a:lnTo>
                  <a:pt x="3559" y="241"/>
                </a:lnTo>
                <a:lnTo>
                  <a:pt x="3551" y="245"/>
                </a:lnTo>
                <a:lnTo>
                  <a:pt x="3542" y="248"/>
                </a:lnTo>
                <a:lnTo>
                  <a:pt x="3532" y="251"/>
                </a:lnTo>
                <a:lnTo>
                  <a:pt x="3521" y="252"/>
                </a:lnTo>
                <a:lnTo>
                  <a:pt x="3510" y="253"/>
                </a:lnTo>
                <a:lnTo>
                  <a:pt x="3502" y="252"/>
                </a:lnTo>
                <a:lnTo>
                  <a:pt x="3494" y="252"/>
                </a:lnTo>
                <a:lnTo>
                  <a:pt x="3486" y="250"/>
                </a:lnTo>
                <a:lnTo>
                  <a:pt x="3479" y="249"/>
                </a:lnTo>
                <a:lnTo>
                  <a:pt x="3472" y="247"/>
                </a:lnTo>
                <a:lnTo>
                  <a:pt x="3466" y="244"/>
                </a:lnTo>
                <a:lnTo>
                  <a:pt x="3460" y="241"/>
                </a:lnTo>
                <a:lnTo>
                  <a:pt x="3454" y="238"/>
                </a:lnTo>
                <a:lnTo>
                  <a:pt x="3449" y="234"/>
                </a:lnTo>
                <a:lnTo>
                  <a:pt x="3445" y="230"/>
                </a:lnTo>
                <a:lnTo>
                  <a:pt x="3441" y="225"/>
                </a:lnTo>
                <a:lnTo>
                  <a:pt x="3437" y="221"/>
                </a:lnTo>
                <a:lnTo>
                  <a:pt x="3434" y="215"/>
                </a:lnTo>
                <a:lnTo>
                  <a:pt x="3432" y="210"/>
                </a:lnTo>
                <a:lnTo>
                  <a:pt x="3430" y="204"/>
                </a:lnTo>
                <a:lnTo>
                  <a:pt x="3429" y="198"/>
                </a:lnTo>
                <a:lnTo>
                  <a:pt x="3478" y="195"/>
                </a:lnTo>
                <a:lnTo>
                  <a:pt x="3480" y="200"/>
                </a:lnTo>
                <a:lnTo>
                  <a:pt x="3482" y="205"/>
                </a:lnTo>
                <a:lnTo>
                  <a:pt x="3485" y="209"/>
                </a:lnTo>
                <a:lnTo>
                  <a:pt x="3489" y="212"/>
                </a:lnTo>
                <a:lnTo>
                  <a:pt x="3493" y="214"/>
                </a:lnTo>
                <a:lnTo>
                  <a:pt x="3498" y="216"/>
                </a:lnTo>
                <a:lnTo>
                  <a:pt x="3504" y="217"/>
                </a:lnTo>
                <a:lnTo>
                  <a:pt x="3510" y="217"/>
                </a:lnTo>
                <a:lnTo>
                  <a:pt x="3516" y="217"/>
                </a:lnTo>
                <a:lnTo>
                  <a:pt x="3522" y="216"/>
                </a:lnTo>
                <a:lnTo>
                  <a:pt x="3527" y="214"/>
                </a:lnTo>
                <a:lnTo>
                  <a:pt x="3529" y="213"/>
                </a:lnTo>
                <a:lnTo>
                  <a:pt x="3531" y="212"/>
                </a:lnTo>
                <a:lnTo>
                  <a:pt x="3535" y="209"/>
                </a:lnTo>
                <a:lnTo>
                  <a:pt x="3537" y="206"/>
                </a:lnTo>
                <a:lnTo>
                  <a:pt x="3538" y="205"/>
                </a:lnTo>
                <a:lnTo>
                  <a:pt x="3539" y="203"/>
                </a:lnTo>
                <a:lnTo>
                  <a:pt x="3539" y="199"/>
                </a:lnTo>
                <a:lnTo>
                  <a:pt x="3539" y="196"/>
                </a:lnTo>
                <a:lnTo>
                  <a:pt x="3538" y="193"/>
                </a:lnTo>
                <a:lnTo>
                  <a:pt x="3536" y="191"/>
                </a:lnTo>
                <a:lnTo>
                  <a:pt x="3533" y="188"/>
                </a:lnTo>
                <a:lnTo>
                  <a:pt x="3530" y="186"/>
                </a:lnTo>
                <a:lnTo>
                  <a:pt x="3526" y="184"/>
                </a:lnTo>
                <a:lnTo>
                  <a:pt x="3522" y="183"/>
                </a:lnTo>
                <a:lnTo>
                  <a:pt x="3516" y="182"/>
                </a:lnTo>
                <a:lnTo>
                  <a:pt x="3486" y="176"/>
                </a:lnTo>
                <a:lnTo>
                  <a:pt x="3480" y="174"/>
                </a:lnTo>
                <a:lnTo>
                  <a:pt x="3474" y="173"/>
                </a:lnTo>
                <a:lnTo>
                  <a:pt x="3463" y="169"/>
                </a:lnTo>
                <a:lnTo>
                  <a:pt x="3459" y="166"/>
                </a:lnTo>
                <a:lnTo>
                  <a:pt x="3455" y="164"/>
                </a:lnTo>
                <a:lnTo>
                  <a:pt x="3451" y="161"/>
                </a:lnTo>
                <a:lnTo>
                  <a:pt x="3447" y="158"/>
                </a:lnTo>
                <a:lnTo>
                  <a:pt x="3444" y="155"/>
                </a:lnTo>
                <a:lnTo>
                  <a:pt x="3442" y="151"/>
                </a:lnTo>
                <a:lnTo>
                  <a:pt x="3440" y="147"/>
                </a:lnTo>
                <a:lnTo>
                  <a:pt x="3437" y="143"/>
                </a:lnTo>
                <a:lnTo>
                  <a:pt x="3435" y="139"/>
                </a:lnTo>
                <a:lnTo>
                  <a:pt x="3434" y="135"/>
                </a:lnTo>
                <a:lnTo>
                  <a:pt x="3434" y="130"/>
                </a:lnTo>
                <a:lnTo>
                  <a:pt x="3434" y="125"/>
                </a:lnTo>
                <a:lnTo>
                  <a:pt x="3434" y="119"/>
                </a:lnTo>
                <a:lnTo>
                  <a:pt x="3435" y="113"/>
                </a:lnTo>
                <a:lnTo>
                  <a:pt x="3437" y="107"/>
                </a:lnTo>
                <a:lnTo>
                  <a:pt x="3440" y="102"/>
                </a:lnTo>
                <a:lnTo>
                  <a:pt x="3443" y="97"/>
                </a:lnTo>
                <a:lnTo>
                  <a:pt x="3446" y="93"/>
                </a:lnTo>
                <a:lnTo>
                  <a:pt x="3450" y="89"/>
                </a:lnTo>
                <a:lnTo>
                  <a:pt x="3455" y="85"/>
                </a:lnTo>
                <a:lnTo>
                  <a:pt x="3460" y="81"/>
                </a:lnTo>
                <a:lnTo>
                  <a:pt x="3466" y="78"/>
                </a:lnTo>
                <a:lnTo>
                  <a:pt x="3472" y="76"/>
                </a:lnTo>
                <a:lnTo>
                  <a:pt x="3479" y="74"/>
                </a:lnTo>
                <a:lnTo>
                  <a:pt x="3482" y="73"/>
                </a:lnTo>
                <a:lnTo>
                  <a:pt x="3486" y="72"/>
                </a:lnTo>
                <a:lnTo>
                  <a:pt x="3493" y="71"/>
                </a:lnTo>
                <a:lnTo>
                  <a:pt x="3501" y="70"/>
                </a:lnTo>
                <a:lnTo>
                  <a:pt x="3510" y="70"/>
                </a:lnTo>
                <a:lnTo>
                  <a:pt x="3518" y="70"/>
                </a:lnTo>
                <a:lnTo>
                  <a:pt x="3525" y="71"/>
                </a:lnTo>
                <a:lnTo>
                  <a:pt x="3533" y="72"/>
                </a:lnTo>
                <a:lnTo>
                  <a:pt x="3540" y="74"/>
                </a:lnTo>
                <a:lnTo>
                  <a:pt x="3546" y="76"/>
                </a:lnTo>
                <a:lnTo>
                  <a:pt x="3552" y="78"/>
                </a:lnTo>
                <a:lnTo>
                  <a:pt x="3557" y="81"/>
                </a:lnTo>
                <a:lnTo>
                  <a:pt x="3562" y="84"/>
                </a:lnTo>
                <a:lnTo>
                  <a:pt x="3567" y="88"/>
                </a:lnTo>
                <a:lnTo>
                  <a:pt x="3571" y="92"/>
                </a:lnTo>
                <a:lnTo>
                  <a:pt x="3575" y="96"/>
                </a:lnTo>
                <a:lnTo>
                  <a:pt x="3578" y="101"/>
                </a:lnTo>
                <a:lnTo>
                  <a:pt x="3580" y="106"/>
                </a:lnTo>
                <a:lnTo>
                  <a:pt x="3582" y="111"/>
                </a:lnTo>
                <a:lnTo>
                  <a:pt x="3584" y="117"/>
                </a:lnTo>
                <a:lnTo>
                  <a:pt x="3585" y="123"/>
                </a:lnTo>
                <a:close/>
                <a:moveTo>
                  <a:pt x="3714" y="72"/>
                </a:moveTo>
                <a:lnTo>
                  <a:pt x="3714" y="109"/>
                </a:lnTo>
                <a:lnTo>
                  <a:pt x="3680" y="109"/>
                </a:lnTo>
                <a:lnTo>
                  <a:pt x="3680" y="195"/>
                </a:lnTo>
                <a:lnTo>
                  <a:pt x="3681" y="199"/>
                </a:lnTo>
                <a:lnTo>
                  <a:pt x="3682" y="203"/>
                </a:lnTo>
                <a:lnTo>
                  <a:pt x="3682" y="205"/>
                </a:lnTo>
                <a:lnTo>
                  <a:pt x="3683" y="206"/>
                </a:lnTo>
                <a:lnTo>
                  <a:pt x="3685" y="208"/>
                </a:lnTo>
                <a:lnTo>
                  <a:pt x="3687" y="210"/>
                </a:lnTo>
                <a:lnTo>
                  <a:pt x="3690" y="211"/>
                </a:lnTo>
                <a:lnTo>
                  <a:pt x="3693" y="212"/>
                </a:lnTo>
                <a:lnTo>
                  <a:pt x="3697" y="212"/>
                </a:lnTo>
                <a:lnTo>
                  <a:pt x="3704" y="211"/>
                </a:lnTo>
                <a:lnTo>
                  <a:pt x="3709" y="210"/>
                </a:lnTo>
                <a:lnTo>
                  <a:pt x="3717" y="247"/>
                </a:lnTo>
                <a:lnTo>
                  <a:pt x="3707" y="250"/>
                </a:lnTo>
                <a:lnTo>
                  <a:pt x="3699" y="251"/>
                </a:lnTo>
                <a:lnTo>
                  <a:pt x="3690" y="252"/>
                </a:lnTo>
                <a:lnTo>
                  <a:pt x="3684" y="252"/>
                </a:lnTo>
                <a:lnTo>
                  <a:pt x="3678" y="251"/>
                </a:lnTo>
                <a:lnTo>
                  <a:pt x="3672" y="250"/>
                </a:lnTo>
                <a:lnTo>
                  <a:pt x="3666" y="249"/>
                </a:lnTo>
                <a:lnTo>
                  <a:pt x="3661" y="248"/>
                </a:lnTo>
                <a:lnTo>
                  <a:pt x="3656" y="245"/>
                </a:lnTo>
                <a:lnTo>
                  <a:pt x="3652" y="243"/>
                </a:lnTo>
                <a:lnTo>
                  <a:pt x="3647" y="240"/>
                </a:lnTo>
                <a:lnTo>
                  <a:pt x="3644" y="237"/>
                </a:lnTo>
                <a:lnTo>
                  <a:pt x="3640" y="233"/>
                </a:lnTo>
                <a:lnTo>
                  <a:pt x="3638" y="229"/>
                </a:lnTo>
                <a:lnTo>
                  <a:pt x="3635" y="224"/>
                </a:lnTo>
                <a:lnTo>
                  <a:pt x="3634" y="219"/>
                </a:lnTo>
                <a:lnTo>
                  <a:pt x="3632" y="213"/>
                </a:lnTo>
                <a:lnTo>
                  <a:pt x="3632" y="208"/>
                </a:lnTo>
                <a:lnTo>
                  <a:pt x="3631" y="201"/>
                </a:lnTo>
                <a:lnTo>
                  <a:pt x="3631" y="109"/>
                </a:lnTo>
                <a:lnTo>
                  <a:pt x="3607" y="109"/>
                </a:lnTo>
                <a:lnTo>
                  <a:pt x="3607" y="72"/>
                </a:lnTo>
                <a:lnTo>
                  <a:pt x="3631" y="72"/>
                </a:lnTo>
                <a:lnTo>
                  <a:pt x="3631" y="30"/>
                </a:lnTo>
                <a:lnTo>
                  <a:pt x="3680" y="30"/>
                </a:lnTo>
                <a:lnTo>
                  <a:pt x="3680" y="72"/>
                </a:lnTo>
                <a:lnTo>
                  <a:pt x="3714" y="72"/>
                </a:lnTo>
                <a:close/>
                <a:moveTo>
                  <a:pt x="3821" y="253"/>
                </a:moveTo>
                <a:lnTo>
                  <a:pt x="3808" y="252"/>
                </a:lnTo>
                <a:lnTo>
                  <a:pt x="3801" y="251"/>
                </a:lnTo>
                <a:lnTo>
                  <a:pt x="3796" y="250"/>
                </a:lnTo>
                <a:lnTo>
                  <a:pt x="3784" y="246"/>
                </a:lnTo>
                <a:lnTo>
                  <a:pt x="3779" y="244"/>
                </a:lnTo>
                <a:lnTo>
                  <a:pt x="3774" y="241"/>
                </a:lnTo>
                <a:lnTo>
                  <a:pt x="3765" y="235"/>
                </a:lnTo>
                <a:lnTo>
                  <a:pt x="3761" y="231"/>
                </a:lnTo>
                <a:lnTo>
                  <a:pt x="3757" y="227"/>
                </a:lnTo>
                <a:lnTo>
                  <a:pt x="3750" y="219"/>
                </a:lnTo>
                <a:lnTo>
                  <a:pt x="3747" y="214"/>
                </a:lnTo>
                <a:lnTo>
                  <a:pt x="3744" y="209"/>
                </a:lnTo>
                <a:lnTo>
                  <a:pt x="3740" y="198"/>
                </a:lnTo>
                <a:lnTo>
                  <a:pt x="3738" y="193"/>
                </a:lnTo>
                <a:lnTo>
                  <a:pt x="3736" y="187"/>
                </a:lnTo>
                <a:lnTo>
                  <a:pt x="3735" y="181"/>
                </a:lnTo>
                <a:lnTo>
                  <a:pt x="3734" y="175"/>
                </a:lnTo>
                <a:lnTo>
                  <a:pt x="3734" y="168"/>
                </a:lnTo>
                <a:lnTo>
                  <a:pt x="3734" y="161"/>
                </a:lnTo>
                <a:lnTo>
                  <a:pt x="3734" y="155"/>
                </a:lnTo>
                <a:lnTo>
                  <a:pt x="3734" y="148"/>
                </a:lnTo>
                <a:lnTo>
                  <a:pt x="3735" y="142"/>
                </a:lnTo>
                <a:lnTo>
                  <a:pt x="3736" y="136"/>
                </a:lnTo>
                <a:lnTo>
                  <a:pt x="3740" y="124"/>
                </a:lnTo>
                <a:lnTo>
                  <a:pt x="3742" y="119"/>
                </a:lnTo>
                <a:lnTo>
                  <a:pt x="3744" y="114"/>
                </a:lnTo>
                <a:lnTo>
                  <a:pt x="3750" y="104"/>
                </a:lnTo>
                <a:lnTo>
                  <a:pt x="3753" y="99"/>
                </a:lnTo>
                <a:lnTo>
                  <a:pt x="3757" y="95"/>
                </a:lnTo>
                <a:lnTo>
                  <a:pt x="3761" y="91"/>
                </a:lnTo>
                <a:lnTo>
                  <a:pt x="3765" y="88"/>
                </a:lnTo>
                <a:lnTo>
                  <a:pt x="3770" y="85"/>
                </a:lnTo>
                <a:lnTo>
                  <a:pt x="3774" y="82"/>
                </a:lnTo>
                <a:lnTo>
                  <a:pt x="3779" y="79"/>
                </a:lnTo>
                <a:lnTo>
                  <a:pt x="3784" y="77"/>
                </a:lnTo>
                <a:lnTo>
                  <a:pt x="3790" y="75"/>
                </a:lnTo>
                <a:lnTo>
                  <a:pt x="3796" y="73"/>
                </a:lnTo>
                <a:lnTo>
                  <a:pt x="3801" y="72"/>
                </a:lnTo>
                <a:lnTo>
                  <a:pt x="3808" y="71"/>
                </a:lnTo>
                <a:lnTo>
                  <a:pt x="3821" y="70"/>
                </a:lnTo>
                <a:lnTo>
                  <a:pt x="3834" y="71"/>
                </a:lnTo>
                <a:lnTo>
                  <a:pt x="3840" y="72"/>
                </a:lnTo>
                <a:lnTo>
                  <a:pt x="3846" y="73"/>
                </a:lnTo>
                <a:lnTo>
                  <a:pt x="3857" y="77"/>
                </a:lnTo>
                <a:lnTo>
                  <a:pt x="3862" y="79"/>
                </a:lnTo>
                <a:lnTo>
                  <a:pt x="3867" y="82"/>
                </a:lnTo>
                <a:lnTo>
                  <a:pt x="3876" y="88"/>
                </a:lnTo>
                <a:lnTo>
                  <a:pt x="3880" y="91"/>
                </a:lnTo>
                <a:lnTo>
                  <a:pt x="3884" y="95"/>
                </a:lnTo>
                <a:lnTo>
                  <a:pt x="3891" y="104"/>
                </a:lnTo>
                <a:lnTo>
                  <a:pt x="3894" y="109"/>
                </a:lnTo>
                <a:lnTo>
                  <a:pt x="3897" y="114"/>
                </a:lnTo>
                <a:lnTo>
                  <a:pt x="3903" y="124"/>
                </a:lnTo>
                <a:lnTo>
                  <a:pt x="3904" y="130"/>
                </a:lnTo>
                <a:lnTo>
                  <a:pt x="3906" y="136"/>
                </a:lnTo>
                <a:lnTo>
                  <a:pt x="3907" y="142"/>
                </a:lnTo>
                <a:lnTo>
                  <a:pt x="3908" y="148"/>
                </a:lnTo>
                <a:lnTo>
                  <a:pt x="3908" y="155"/>
                </a:lnTo>
                <a:lnTo>
                  <a:pt x="3909" y="161"/>
                </a:lnTo>
                <a:lnTo>
                  <a:pt x="3908" y="168"/>
                </a:lnTo>
                <a:lnTo>
                  <a:pt x="3908" y="175"/>
                </a:lnTo>
                <a:lnTo>
                  <a:pt x="3907" y="181"/>
                </a:lnTo>
                <a:lnTo>
                  <a:pt x="3906" y="187"/>
                </a:lnTo>
                <a:lnTo>
                  <a:pt x="3903" y="198"/>
                </a:lnTo>
                <a:lnTo>
                  <a:pt x="3900" y="204"/>
                </a:lnTo>
                <a:lnTo>
                  <a:pt x="3897" y="209"/>
                </a:lnTo>
                <a:lnTo>
                  <a:pt x="3891" y="219"/>
                </a:lnTo>
                <a:lnTo>
                  <a:pt x="3888" y="223"/>
                </a:lnTo>
                <a:lnTo>
                  <a:pt x="3884" y="227"/>
                </a:lnTo>
                <a:lnTo>
                  <a:pt x="3880" y="231"/>
                </a:lnTo>
                <a:lnTo>
                  <a:pt x="3876" y="235"/>
                </a:lnTo>
                <a:lnTo>
                  <a:pt x="3872" y="238"/>
                </a:lnTo>
                <a:lnTo>
                  <a:pt x="3867" y="241"/>
                </a:lnTo>
                <a:lnTo>
                  <a:pt x="3862" y="244"/>
                </a:lnTo>
                <a:lnTo>
                  <a:pt x="3857" y="246"/>
                </a:lnTo>
                <a:lnTo>
                  <a:pt x="3851" y="248"/>
                </a:lnTo>
                <a:lnTo>
                  <a:pt x="3846" y="250"/>
                </a:lnTo>
                <a:lnTo>
                  <a:pt x="3840" y="251"/>
                </a:lnTo>
                <a:lnTo>
                  <a:pt x="3834" y="252"/>
                </a:lnTo>
                <a:lnTo>
                  <a:pt x="3821" y="253"/>
                </a:lnTo>
                <a:close/>
                <a:moveTo>
                  <a:pt x="3821" y="215"/>
                </a:moveTo>
                <a:lnTo>
                  <a:pt x="3825" y="214"/>
                </a:lnTo>
                <a:lnTo>
                  <a:pt x="3829" y="214"/>
                </a:lnTo>
                <a:lnTo>
                  <a:pt x="3833" y="212"/>
                </a:lnTo>
                <a:lnTo>
                  <a:pt x="3837" y="211"/>
                </a:lnTo>
                <a:lnTo>
                  <a:pt x="3840" y="209"/>
                </a:lnTo>
                <a:lnTo>
                  <a:pt x="3843" y="206"/>
                </a:lnTo>
                <a:lnTo>
                  <a:pt x="3846" y="203"/>
                </a:lnTo>
                <a:lnTo>
                  <a:pt x="3848" y="199"/>
                </a:lnTo>
                <a:lnTo>
                  <a:pt x="3851" y="195"/>
                </a:lnTo>
                <a:lnTo>
                  <a:pt x="3852" y="191"/>
                </a:lnTo>
                <a:lnTo>
                  <a:pt x="3854" y="187"/>
                </a:lnTo>
                <a:lnTo>
                  <a:pt x="3855" y="182"/>
                </a:lnTo>
                <a:lnTo>
                  <a:pt x="3857" y="172"/>
                </a:lnTo>
                <a:lnTo>
                  <a:pt x="3858" y="167"/>
                </a:lnTo>
                <a:lnTo>
                  <a:pt x="3858" y="161"/>
                </a:lnTo>
                <a:lnTo>
                  <a:pt x="3857" y="150"/>
                </a:lnTo>
                <a:lnTo>
                  <a:pt x="3855" y="140"/>
                </a:lnTo>
                <a:lnTo>
                  <a:pt x="3854" y="135"/>
                </a:lnTo>
                <a:lnTo>
                  <a:pt x="3852" y="131"/>
                </a:lnTo>
                <a:lnTo>
                  <a:pt x="3848" y="123"/>
                </a:lnTo>
                <a:lnTo>
                  <a:pt x="3846" y="119"/>
                </a:lnTo>
                <a:lnTo>
                  <a:pt x="3843" y="116"/>
                </a:lnTo>
                <a:lnTo>
                  <a:pt x="3840" y="113"/>
                </a:lnTo>
                <a:lnTo>
                  <a:pt x="3837" y="111"/>
                </a:lnTo>
                <a:lnTo>
                  <a:pt x="3833" y="110"/>
                </a:lnTo>
                <a:lnTo>
                  <a:pt x="3829" y="108"/>
                </a:lnTo>
                <a:lnTo>
                  <a:pt x="3825" y="108"/>
                </a:lnTo>
                <a:lnTo>
                  <a:pt x="3821" y="107"/>
                </a:lnTo>
                <a:lnTo>
                  <a:pt x="3816" y="108"/>
                </a:lnTo>
                <a:lnTo>
                  <a:pt x="3812" y="108"/>
                </a:lnTo>
                <a:lnTo>
                  <a:pt x="3808" y="110"/>
                </a:lnTo>
                <a:lnTo>
                  <a:pt x="3805" y="111"/>
                </a:lnTo>
                <a:lnTo>
                  <a:pt x="3801" y="113"/>
                </a:lnTo>
                <a:lnTo>
                  <a:pt x="3798" y="116"/>
                </a:lnTo>
                <a:lnTo>
                  <a:pt x="3795" y="119"/>
                </a:lnTo>
                <a:lnTo>
                  <a:pt x="3793" y="123"/>
                </a:lnTo>
                <a:lnTo>
                  <a:pt x="3789" y="131"/>
                </a:lnTo>
                <a:lnTo>
                  <a:pt x="3787" y="135"/>
                </a:lnTo>
                <a:lnTo>
                  <a:pt x="3786" y="140"/>
                </a:lnTo>
                <a:lnTo>
                  <a:pt x="3785" y="145"/>
                </a:lnTo>
                <a:lnTo>
                  <a:pt x="3784" y="150"/>
                </a:lnTo>
                <a:lnTo>
                  <a:pt x="3784" y="155"/>
                </a:lnTo>
                <a:lnTo>
                  <a:pt x="3783" y="161"/>
                </a:lnTo>
                <a:lnTo>
                  <a:pt x="3784" y="172"/>
                </a:lnTo>
                <a:lnTo>
                  <a:pt x="3786" y="182"/>
                </a:lnTo>
                <a:lnTo>
                  <a:pt x="3787" y="187"/>
                </a:lnTo>
                <a:lnTo>
                  <a:pt x="3789" y="191"/>
                </a:lnTo>
                <a:lnTo>
                  <a:pt x="3791" y="195"/>
                </a:lnTo>
                <a:lnTo>
                  <a:pt x="3793" y="199"/>
                </a:lnTo>
                <a:lnTo>
                  <a:pt x="3795" y="203"/>
                </a:lnTo>
                <a:lnTo>
                  <a:pt x="3798" y="206"/>
                </a:lnTo>
                <a:lnTo>
                  <a:pt x="3801" y="209"/>
                </a:lnTo>
                <a:lnTo>
                  <a:pt x="3805" y="211"/>
                </a:lnTo>
                <a:lnTo>
                  <a:pt x="3808" y="212"/>
                </a:lnTo>
                <a:lnTo>
                  <a:pt x="3812" y="214"/>
                </a:lnTo>
                <a:lnTo>
                  <a:pt x="3816" y="214"/>
                </a:lnTo>
                <a:lnTo>
                  <a:pt x="3821" y="215"/>
                </a:lnTo>
                <a:close/>
                <a:moveTo>
                  <a:pt x="1623" y="930"/>
                </a:moveTo>
                <a:lnTo>
                  <a:pt x="1569" y="930"/>
                </a:lnTo>
                <a:lnTo>
                  <a:pt x="1651" y="694"/>
                </a:lnTo>
                <a:lnTo>
                  <a:pt x="1715" y="694"/>
                </a:lnTo>
                <a:lnTo>
                  <a:pt x="1797" y="930"/>
                </a:lnTo>
                <a:lnTo>
                  <a:pt x="1743" y="930"/>
                </a:lnTo>
                <a:lnTo>
                  <a:pt x="1726" y="876"/>
                </a:lnTo>
                <a:lnTo>
                  <a:pt x="1641" y="876"/>
                </a:lnTo>
                <a:lnTo>
                  <a:pt x="1623" y="930"/>
                </a:lnTo>
                <a:close/>
                <a:moveTo>
                  <a:pt x="1653" y="837"/>
                </a:moveTo>
                <a:lnTo>
                  <a:pt x="1713" y="837"/>
                </a:lnTo>
                <a:lnTo>
                  <a:pt x="1684" y="748"/>
                </a:lnTo>
                <a:lnTo>
                  <a:pt x="1653" y="837"/>
                </a:lnTo>
                <a:close/>
                <a:moveTo>
                  <a:pt x="1874" y="933"/>
                </a:moveTo>
                <a:lnTo>
                  <a:pt x="1867" y="933"/>
                </a:lnTo>
                <a:lnTo>
                  <a:pt x="1861" y="932"/>
                </a:lnTo>
                <a:lnTo>
                  <a:pt x="1856" y="931"/>
                </a:lnTo>
                <a:lnTo>
                  <a:pt x="1850" y="930"/>
                </a:lnTo>
                <a:lnTo>
                  <a:pt x="1845" y="928"/>
                </a:lnTo>
                <a:lnTo>
                  <a:pt x="1840" y="926"/>
                </a:lnTo>
                <a:lnTo>
                  <a:pt x="1836" y="923"/>
                </a:lnTo>
                <a:lnTo>
                  <a:pt x="1832" y="920"/>
                </a:lnTo>
                <a:lnTo>
                  <a:pt x="1828" y="916"/>
                </a:lnTo>
                <a:lnTo>
                  <a:pt x="1824" y="913"/>
                </a:lnTo>
                <a:lnTo>
                  <a:pt x="1821" y="908"/>
                </a:lnTo>
                <a:lnTo>
                  <a:pt x="1820" y="906"/>
                </a:lnTo>
                <a:lnTo>
                  <a:pt x="1819" y="903"/>
                </a:lnTo>
                <a:lnTo>
                  <a:pt x="1817" y="898"/>
                </a:lnTo>
                <a:lnTo>
                  <a:pt x="1816" y="893"/>
                </a:lnTo>
                <a:lnTo>
                  <a:pt x="1815" y="887"/>
                </a:lnTo>
                <a:lnTo>
                  <a:pt x="1815" y="880"/>
                </a:lnTo>
                <a:lnTo>
                  <a:pt x="1815" y="871"/>
                </a:lnTo>
                <a:lnTo>
                  <a:pt x="1817" y="863"/>
                </a:lnTo>
                <a:lnTo>
                  <a:pt x="1818" y="859"/>
                </a:lnTo>
                <a:lnTo>
                  <a:pt x="1820" y="856"/>
                </a:lnTo>
                <a:lnTo>
                  <a:pt x="1824" y="849"/>
                </a:lnTo>
                <a:lnTo>
                  <a:pt x="1827" y="847"/>
                </a:lnTo>
                <a:lnTo>
                  <a:pt x="1829" y="844"/>
                </a:lnTo>
                <a:lnTo>
                  <a:pt x="1832" y="842"/>
                </a:lnTo>
                <a:lnTo>
                  <a:pt x="1835" y="840"/>
                </a:lnTo>
                <a:lnTo>
                  <a:pt x="1838" y="838"/>
                </a:lnTo>
                <a:lnTo>
                  <a:pt x="1841" y="836"/>
                </a:lnTo>
                <a:lnTo>
                  <a:pt x="1845" y="834"/>
                </a:lnTo>
                <a:lnTo>
                  <a:pt x="1849" y="833"/>
                </a:lnTo>
                <a:lnTo>
                  <a:pt x="1856" y="831"/>
                </a:lnTo>
                <a:lnTo>
                  <a:pt x="1864" y="829"/>
                </a:lnTo>
                <a:lnTo>
                  <a:pt x="1873" y="827"/>
                </a:lnTo>
                <a:lnTo>
                  <a:pt x="1881" y="826"/>
                </a:lnTo>
                <a:lnTo>
                  <a:pt x="1901" y="824"/>
                </a:lnTo>
                <a:lnTo>
                  <a:pt x="1908" y="822"/>
                </a:lnTo>
                <a:lnTo>
                  <a:pt x="1914" y="821"/>
                </a:lnTo>
                <a:lnTo>
                  <a:pt x="1918" y="820"/>
                </a:lnTo>
                <a:lnTo>
                  <a:pt x="1920" y="818"/>
                </a:lnTo>
                <a:lnTo>
                  <a:pt x="1922" y="817"/>
                </a:lnTo>
                <a:lnTo>
                  <a:pt x="1923" y="816"/>
                </a:lnTo>
                <a:lnTo>
                  <a:pt x="1923" y="814"/>
                </a:lnTo>
                <a:lnTo>
                  <a:pt x="1924" y="812"/>
                </a:lnTo>
                <a:lnTo>
                  <a:pt x="1924" y="810"/>
                </a:lnTo>
                <a:lnTo>
                  <a:pt x="1924" y="805"/>
                </a:lnTo>
                <a:lnTo>
                  <a:pt x="1922" y="800"/>
                </a:lnTo>
                <a:lnTo>
                  <a:pt x="1921" y="798"/>
                </a:lnTo>
                <a:lnTo>
                  <a:pt x="1920" y="796"/>
                </a:lnTo>
                <a:lnTo>
                  <a:pt x="1919" y="794"/>
                </a:lnTo>
                <a:lnTo>
                  <a:pt x="1917" y="793"/>
                </a:lnTo>
                <a:lnTo>
                  <a:pt x="1913" y="790"/>
                </a:lnTo>
                <a:lnTo>
                  <a:pt x="1909" y="788"/>
                </a:lnTo>
                <a:lnTo>
                  <a:pt x="1904" y="787"/>
                </a:lnTo>
                <a:lnTo>
                  <a:pt x="1898" y="787"/>
                </a:lnTo>
                <a:lnTo>
                  <a:pt x="1892" y="787"/>
                </a:lnTo>
                <a:lnTo>
                  <a:pt x="1886" y="788"/>
                </a:lnTo>
                <a:lnTo>
                  <a:pt x="1881" y="790"/>
                </a:lnTo>
                <a:lnTo>
                  <a:pt x="1877" y="792"/>
                </a:lnTo>
                <a:lnTo>
                  <a:pt x="1873" y="795"/>
                </a:lnTo>
                <a:lnTo>
                  <a:pt x="1870" y="799"/>
                </a:lnTo>
                <a:lnTo>
                  <a:pt x="1868" y="803"/>
                </a:lnTo>
                <a:lnTo>
                  <a:pt x="1867" y="805"/>
                </a:lnTo>
                <a:lnTo>
                  <a:pt x="1866" y="807"/>
                </a:lnTo>
                <a:lnTo>
                  <a:pt x="1821" y="803"/>
                </a:lnTo>
                <a:lnTo>
                  <a:pt x="1823" y="797"/>
                </a:lnTo>
                <a:lnTo>
                  <a:pt x="1825" y="792"/>
                </a:lnTo>
                <a:lnTo>
                  <a:pt x="1827" y="787"/>
                </a:lnTo>
                <a:lnTo>
                  <a:pt x="1830" y="782"/>
                </a:lnTo>
                <a:lnTo>
                  <a:pt x="1833" y="777"/>
                </a:lnTo>
                <a:lnTo>
                  <a:pt x="1837" y="773"/>
                </a:lnTo>
                <a:lnTo>
                  <a:pt x="1841" y="769"/>
                </a:lnTo>
                <a:lnTo>
                  <a:pt x="1846" y="765"/>
                </a:lnTo>
                <a:lnTo>
                  <a:pt x="1851" y="762"/>
                </a:lnTo>
                <a:lnTo>
                  <a:pt x="1857" y="759"/>
                </a:lnTo>
                <a:lnTo>
                  <a:pt x="1863" y="756"/>
                </a:lnTo>
                <a:lnTo>
                  <a:pt x="1869" y="754"/>
                </a:lnTo>
                <a:lnTo>
                  <a:pt x="1876" y="753"/>
                </a:lnTo>
                <a:lnTo>
                  <a:pt x="1883" y="752"/>
                </a:lnTo>
                <a:lnTo>
                  <a:pt x="1890" y="751"/>
                </a:lnTo>
                <a:lnTo>
                  <a:pt x="1898" y="751"/>
                </a:lnTo>
                <a:lnTo>
                  <a:pt x="1908" y="751"/>
                </a:lnTo>
                <a:lnTo>
                  <a:pt x="1917" y="752"/>
                </a:lnTo>
                <a:lnTo>
                  <a:pt x="1926" y="754"/>
                </a:lnTo>
                <a:lnTo>
                  <a:pt x="1935" y="757"/>
                </a:lnTo>
                <a:lnTo>
                  <a:pt x="1943" y="761"/>
                </a:lnTo>
                <a:lnTo>
                  <a:pt x="1947" y="763"/>
                </a:lnTo>
                <a:lnTo>
                  <a:pt x="1950" y="765"/>
                </a:lnTo>
                <a:lnTo>
                  <a:pt x="1957" y="770"/>
                </a:lnTo>
                <a:lnTo>
                  <a:pt x="1963" y="776"/>
                </a:lnTo>
                <a:lnTo>
                  <a:pt x="1965" y="780"/>
                </a:lnTo>
                <a:lnTo>
                  <a:pt x="1967" y="784"/>
                </a:lnTo>
                <a:lnTo>
                  <a:pt x="1969" y="787"/>
                </a:lnTo>
                <a:lnTo>
                  <a:pt x="1970" y="792"/>
                </a:lnTo>
                <a:lnTo>
                  <a:pt x="1972" y="796"/>
                </a:lnTo>
                <a:lnTo>
                  <a:pt x="1972" y="801"/>
                </a:lnTo>
                <a:lnTo>
                  <a:pt x="1973" y="806"/>
                </a:lnTo>
                <a:lnTo>
                  <a:pt x="1973" y="811"/>
                </a:lnTo>
                <a:lnTo>
                  <a:pt x="1973" y="930"/>
                </a:lnTo>
                <a:lnTo>
                  <a:pt x="1927" y="930"/>
                </a:lnTo>
                <a:lnTo>
                  <a:pt x="1927" y="905"/>
                </a:lnTo>
                <a:lnTo>
                  <a:pt x="1922" y="911"/>
                </a:lnTo>
                <a:lnTo>
                  <a:pt x="1917" y="917"/>
                </a:lnTo>
                <a:lnTo>
                  <a:pt x="1912" y="921"/>
                </a:lnTo>
                <a:lnTo>
                  <a:pt x="1906" y="925"/>
                </a:lnTo>
                <a:lnTo>
                  <a:pt x="1899" y="929"/>
                </a:lnTo>
                <a:lnTo>
                  <a:pt x="1891" y="931"/>
                </a:lnTo>
                <a:lnTo>
                  <a:pt x="1887" y="932"/>
                </a:lnTo>
                <a:lnTo>
                  <a:pt x="1883" y="933"/>
                </a:lnTo>
                <a:lnTo>
                  <a:pt x="1874" y="933"/>
                </a:lnTo>
                <a:close/>
                <a:moveTo>
                  <a:pt x="1888" y="899"/>
                </a:moveTo>
                <a:lnTo>
                  <a:pt x="1895" y="899"/>
                </a:lnTo>
                <a:lnTo>
                  <a:pt x="1902" y="897"/>
                </a:lnTo>
                <a:lnTo>
                  <a:pt x="1905" y="896"/>
                </a:lnTo>
                <a:lnTo>
                  <a:pt x="1908" y="894"/>
                </a:lnTo>
                <a:lnTo>
                  <a:pt x="1914" y="890"/>
                </a:lnTo>
                <a:lnTo>
                  <a:pt x="1916" y="888"/>
                </a:lnTo>
                <a:lnTo>
                  <a:pt x="1919" y="885"/>
                </a:lnTo>
                <a:lnTo>
                  <a:pt x="1922" y="879"/>
                </a:lnTo>
                <a:lnTo>
                  <a:pt x="1924" y="873"/>
                </a:lnTo>
                <a:lnTo>
                  <a:pt x="1924" y="870"/>
                </a:lnTo>
                <a:lnTo>
                  <a:pt x="1924" y="867"/>
                </a:lnTo>
                <a:lnTo>
                  <a:pt x="1924" y="848"/>
                </a:lnTo>
                <a:lnTo>
                  <a:pt x="1921" y="850"/>
                </a:lnTo>
                <a:lnTo>
                  <a:pt x="1915" y="851"/>
                </a:lnTo>
                <a:lnTo>
                  <a:pt x="1903" y="854"/>
                </a:lnTo>
                <a:lnTo>
                  <a:pt x="1890" y="856"/>
                </a:lnTo>
                <a:lnTo>
                  <a:pt x="1884" y="857"/>
                </a:lnTo>
                <a:lnTo>
                  <a:pt x="1879" y="859"/>
                </a:lnTo>
                <a:lnTo>
                  <a:pt x="1874" y="861"/>
                </a:lnTo>
                <a:lnTo>
                  <a:pt x="1870" y="863"/>
                </a:lnTo>
                <a:lnTo>
                  <a:pt x="1866" y="866"/>
                </a:lnTo>
                <a:lnTo>
                  <a:pt x="1864" y="870"/>
                </a:lnTo>
                <a:lnTo>
                  <a:pt x="1863" y="872"/>
                </a:lnTo>
                <a:lnTo>
                  <a:pt x="1862" y="874"/>
                </a:lnTo>
                <a:lnTo>
                  <a:pt x="1862" y="879"/>
                </a:lnTo>
                <a:lnTo>
                  <a:pt x="1862" y="884"/>
                </a:lnTo>
                <a:lnTo>
                  <a:pt x="1863" y="888"/>
                </a:lnTo>
                <a:lnTo>
                  <a:pt x="1865" y="890"/>
                </a:lnTo>
                <a:lnTo>
                  <a:pt x="1866" y="891"/>
                </a:lnTo>
                <a:lnTo>
                  <a:pt x="1869" y="894"/>
                </a:lnTo>
                <a:lnTo>
                  <a:pt x="1873" y="896"/>
                </a:lnTo>
                <a:lnTo>
                  <a:pt x="1875" y="897"/>
                </a:lnTo>
                <a:lnTo>
                  <a:pt x="1877" y="898"/>
                </a:lnTo>
                <a:lnTo>
                  <a:pt x="1882" y="899"/>
                </a:lnTo>
                <a:lnTo>
                  <a:pt x="1888" y="899"/>
                </a:lnTo>
                <a:close/>
                <a:moveTo>
                  <a:pt x="2063" y="930"/>
                </a:moveTo>
                <a:lnTo>
                  <a:pt x="2013" y="930"/>
                </a:lnTo>
                <a:lnTo>
                  <a:pt x="2013" y="694"/>
                </a:lnTo>
                <a:lnTo>
                  <a:pt x="2063" y="694"/>
                </a:lnTo>
                <a:lnTo>
                  <a:pt x="2063" y="930"/>
                </a:lnTo>
                <a:close/>
                <a:moveTo>
                  <a:pt x="2197" y="753"/>
                </a:moveTo>
                <a:lnTo>
                  <a:pt x="2197" y="790"/>
                </a:lnTo>
                <a:lnTo>
                  <a:pt x="2164" y="790"/>
                </a:lnTo>
                <a:lnTo>
                  <a:pt x="2164" y="876"/>
                </a:lnTo>
                <a:lnTo>
                  <a:pt x="2164" y="880"/>
                </a:lnTo>
                <a:lnTo>
                  <a:pt x="2165" y="884"/>
                </a:lnTo>
                <a:lnTo>
                  <a:pt x="2166" y="886"/>
                </a:lnTo>
                <a:lnTo>
                  <a:pt x="2167" y="887"/>
                </a:lnTo>
                <a:lnTo>
                  <a:pt x="2169" y="889"/>
                </a:lnTo>
                <a:lnTo>
                  <a:pt x="2171" y="891"/>
                </a:lnTo>
                <a:lnTo>
                  <a:pt x="2174" y="892"/>
                </a:lnTo>
                <a:lnTo>
                  <a:pt x="2177" y="893"/>
                </a:lnTo>
                <a:lnTo>
                  <a:pt x="2181" y="893"/>
                </a:lnTo>
                <a:lnTo>
                  <a:pt x="2188" y="892"/>
                </a:lnTo>
                <a:lnTo>
                  <a:pt x="2193" y="891"/>
                </a:lnTo>
                <a:lnTo>
                  <a:pt x="2201" y="928"/>
                </a:lnTo>
                <a:lnTo>
                  <a:pt x="2190" y="930"/>
                </a:lnTo>
                <a:lnTo>
                  <a:pt x="2183" y="932"/>
                </a:lnTo>
                <a:lnTo>
                  <a:pt x="2174" y="932"/>
                </a:lnTo>
                <a:lnTo>
                  <a:pt x="2168" y="932"/>
                </a:lnTo>
                <a:lnTo>
                  <a:pt x="2161" y="932"/>
                </a:lnTo>
                <a:lnTo>
                  <a:pt x="2156" y="931"/>
                </a:lnTo>
                <a:lnTo>
                  <a:pt x="2150" y="930"/>
                </a:lnTo>
                <a:lnTo>
                  <a:pt x="2145" y="928"/>
                </a:lnTo>
                <a:lnTo>
                  <a:pt x="2140" y="926"/>
                </a:lnTo>
                <a:lnTo>
                  <a:pt x="2135" y="924"/>
                </a:lnTo>
                <a:lnTo>
                  <a:pt x="2131" y="921"/>
                </a:lnTo>
                <a:lnTo>
                  <a:pt x="2127" y="917"/>
                </a:lnTo>
                <a:lnTo>
                  <a:pt x="2124" y="914"/>
                </a:lnTo>
                <a:lnTo>
                  <a:pt x="2121" y="909"/>
                </a:lnTo>
                <a:lnTo>
                  <a:pt x="2119" y="905"/>
                </a:lnTo>
                <a:lnTo>
                  <a:pt x="2117" y="900"/>
                </a:lnTo>
                <a:lnTo>
                  <a:pt x="2116" y="894"/>
                </a:lnTo>
                <a:lnTo>
                  <a:pt x="2115" y="888"/>
                </a:lnTo>
                <a:lnTo>
                  <a:pt x="2115" y="882"/>
                </a:lnTo>
                <a:lnTo>
                  <a:pt x="2115" y="790"/>
                </a:lnTo>
                <a:lnTo>
                  <a:pt x="2091" y="790"/>
                </a:lnTo>
                <a:lnTo>
                  <a:pt x="2091" y="753"/>
                </a:lnTo>
                <a:lnTo>
                  <a:pt x="2115" y="753"/>
                </a:lnTo>
                <a:lnTo>
                  <a:pt x="2115" y="711"/>
                </a:lnTo>
                <a:lnTo>
                  <a:pt x="2164" y="711"/>
                </a:lnTo>
                <a:lnTo>
                  <a:pt x="2164" y="753"/>
                </a:lnTo>
                <a:lnTo>
                  <a:pt x="2197" y="753"/>
                </a:lnTo>
                <a:close/>
                <a:moveTo>
                  <a:pt x="2304" y="933"/>
                </a:moveTo>
                <a:lnTo>
                  <a:pt x="2291" y="933"/>
                </a:lnTo>
                <a:lnTo>
                  <a:pt x="2285" y="932"/>
                </a:lnTo>
                <a:lnTo>
                  <a:pt x="2279" y="930"/>
                </a:lnTo>
                <a:lnTo>
                  <a:pt x="2268" y="927"/>
                </a:lnTo>
                <a:lnTo>
                  <a:pt x="2263" y="925"/>
                </a:lnTo>
                <a:lnTo>
                  <a:pt x="2258" y="922"/>
                </a:lnTo>
                <a:lnTo>
                  <a:pt x="2249" y="916"/>
                </a:lnTo>
                <a:lnTo>
                  <a:pt x="2245" y="912"/>
                </a:lnTo>
                <a:lnTo>
                  <a:pt x="2241" y="908"/>
                </a:lnTo>
                <a:lnTo>
                  <a:pt x="2234" y="900"/>
                </a:lnTo>
                <a:lnTo>
                  <a:pt x="2231" y="895"/>
                </a:lnTo>
                <a:lnTo>
                  <a:pt x="2228" y="890"/>
                </a:lnTo>
                <a:lnTo>
                  <a:pt x="2223" y="879"/>
                </a:lnTo>
                <a:lnTo>
                  <a:pt x="2221" y="874"/>
                </a:lnTo>
                <a:lnTo>
                  <a:pt x="2220" y="868"/>
                </a:lnTo>
                <a:lnTo>
                  <a:pt x="2219" y="862"/>
                </a:lnTo>
                <a:lnTo>
                  <a:pt x="2218" y="855"/>
                </a:lnTo>
                <a:lnTo>
                  <a:pt x="2218" y="849"/>
                </a:lnTo>
                <a:lnTo>
                  <a:pt x="2217" y="842"/>
                </a:lnTo>
                <a:lnTo>
                  <a:pt x="2218" y="835"/>
                </a:lnTo>
                <a:lnTo>
                  <a:pt x="2218" y="829"/>
                </a:lnTo>
                <a:lnTo>
                  <a:pt x="2219" y="823"/>
                </a:lnTo>
                <a:lnTo>
                  <a:pt x="2220" y="816"/>
                </a:lnTo>
                <a:lnTo>
                  <a:pt x="2223" y="805"/>
                </a:lnTo>
                <a:lnTo>
                  <a:pt x="2225" y="799"/>
                </a:lnTo>
                <a:lnTo>
                  <a:pt x="2228" y="794"/>
                </a:lnTo>
                <a:lnTo>
                  <a:pt x="2234" y="785"/>
                </a:lnTo>
                <a:lnTo>
                  <a:pt x="2237" y="780"/>
                </a:lnTo>
                <a:lnTo>
                  <a:pt x="2241" y="776"/>
                </a:lnTo>
                <a:lnTo>
                  <a:pt x="2245" y="772"/>
                </a:lnTo>
                <a:lnTo>
                  <a:pt x="2249" y="769"/>
                </a:lnTo>
                <a:lnTo>
                  <a:pt x="2253" y="765"/>
                </a:lnTo>
                <a:lnTo>
                  <a:pt x="2258" y="762"/>
                </a:lnTo>
                <a:lnTo>
                  <a:pt x="2263" y="760"/>
                </a:lnTo>
                <a:lnTo>
                  <a:pt x="2268" y="757"/>
                </a:lnTo>
                <a:lnTo>
                  <a:pt x="2274" y="755"/>
                </a:lnTo>
                <a:lnTo>
                  <a:pt x="2279" y="754"/>
                </a:lnTo>
                <a:lnTo>
                  <a:pt x="2285" y="752"/>
                </a:lnTo>
                <a:lnTo>
                  <a:pt x="2291" y="752"/>
                </a:lnTo>
                <a:lnTo>
                  <a:pt x="2304" y="751"/>
                </a:lnTo>
                <a:lnTo>
                  <a:pt x="2317" y="752"/>
                </a:lnTo>
                <a:lnTo>
                  <a:pt x="2323" y="752"/>
                </a:lnTo>
                <a:lnTo>
                  <a:pt x="2329" y="754"/>
                </a:lnTo>
                <a:lnTo>
                  <a:pt x="2340" y="757"/>
                </a:lnTo>
                <a:lnTo>
                  <a:pt x="2346" y="760"/>
                </a:lnTo>
                <a:lnTo>
                  <a:pt x="2351" y="762"/>
                </a:lnTo>
                <a:lnTo>
                  <a:pt x="2360" y="769"/>
                </a:lnTo>
                <a:lnTo>
                  <a:pt x="2364" y="772"/>
                </a:lnTo>
                <a:lnTo>
                  <a:pt x="2368" y="776"/>
                </a:lnTo>
                <a:lnTo>
                  <a:pt x="2375" y="785"/>
                </a:lnTo>
                <a:lnTo>
                  <a:pt x="2378" y="789"/>
                </a:lnTo>
                <a:lnTo>
                  <a:pt x="2381" y="794"/>
                </a:lnTo>
                <a:lnTo>
                  <a:pt x="2385" y="805"/>
                </a:lnTo>
                <a:lnTo>
                  <a:pt x="2387" y="811"/>
                </a:lnTo>
                <a:lnTo>
                  <a:pt x="2389" y="816"/>
                </a:lnTo>
                <a:lnTo>
                  <a:pt x="2390" y="823"/>
                </a:lnTo>
                <a:lnTo>
                  <a:pt x="2391" y="829"/>
                </a:lnTo>
                <a:lnTo>
                  <a:pt x="2391" y="835"/>
                </a:lnTo>
                <a:lnTo>
                  <a:pt x="2391" y="842"/>
                </a:lnTo>
                <a:lnTo>
                  <a:pt x="2391" y="849"/>
                </a:lnTo>
                <a:lnTo>
                  <a:pt x="2391" y="855"/>
                </a:lnTo>
                <a:lnTo>
                  <a:pt x="2390" y="862"/>
                </a:lnTo>
                <a:lnTo>
                  <a:pt x="2389" y="868"/>
                </a:lnTo>
                <a:lnTo>
                  <a:pt x="2385" y="879"/>
                </a:lnTo>
                <a:lnTo>
                  <a:pt x="2383" y="885"/>
                </a:lnTo>
                <a:lnTo>
                  <a:pt x="2381" y="890"/>
                </a:lnTo>
                <a:lnTo>
                  <a:pt x="2375" y="900"/>
                </a:lnTo>
                <a:lnTo>
                  <a:pt x="2372" y="904"/>
                </a:lnTo>
                <a:lnTo>
                  <a:pt x="2368" y="908"/>
                </a:lnTo>
                <a:lnTo>
                  <a:pt x="2364" y="912"/>
                </a:lnTo>
                <a:lnTo>
                  <a:pt x="2360" y="916"/>
                </a:lnTo>
                <a:lnTo>
                  <a:pt x="2355" y="919"/>
                </a:lnTo>
                <a:lnTo>
                  <a:pt x="2351" y="922"/>
                </a:lnTo>
                <a:lnTo>
                  <a:pt x="2346" y="925"/>
                </a:lnTo>
                <a:lnTo>
                  <a:pt x="2340" y="927"/>
                </a:lnTo>
                <a:lnTo>
                  <a:pt x="2335" y="929"/>
                </a:lnTo>
                <a:lnTo>
                  <a:pt x="2329" y="930"/>
                </a:lnTo>
                <a:lnTo>
                  <a:pt x="2323" y="932"/>
                </a:lnTo>
                <a:lnTo>
                  <a:pt x="2317" y="933"/>
                </a:lnTo>
                <a:lnTo>
                  <a:pt x="2304" y="933"/>
                </a:lnTo>
                <a:close/>
                <a:moveTo>
                  <a:pt x="2305" y="895"/>
                </a:moveTo>
                <a:lnTo>
                  <a:pt x="2309" y="895"/>
                </a:lnTo>
                <a:lnTo>
                  <a:pt x="2313" y="894"/>
                </a:lnTo>
                <a:lnTo>
                  <a:pt x="2317" y="893"/>
                </a:lnTo>
                <a:lnTo>
                  <a:pt x="2321" y="892"/>
                </a:lnTo>
                <a:lnTo>
                  <a:pt x="2324" y="889"/>
                </a:lnTo>
                <a:lnTo>
                  <a:pt x="2327" y="887"/>
                </a:lnTo>
                <a:lnTo>
                  <a:pt x="2330" y="884"/>
                </a:lnTo>
                <a:lnTo>
                  <a:pt x="2332" y="880"/>
                </a:lnTo>
                <a:lnTo>
                  <a:pt x="2334" y="876"/>
                </a:lnTo>
                <a:lnTo>
                  <a:pt x="2336" y="872"/>
                </a:lnTo>
                <a:lnTo>
                  <a:pt x="2338" y="868"/>
                </a:lnTo>
                <a:lnTo>
                  <a:pt x="2339" y="863"/>
                </a:lnTo>
                <a:lnTo>
                  <a:pt x="2341" y="853"/>
                </a:lnTo>
                <a:lnTo>
                  <a:pt x="2341" y="847"/>
                </a:lnTo>
                <a:lnTo>
                  <a:pt x="2342" y="842"/>
                </a:lnTo>
                <a:lnTo>
                  <a:pt x="2341" y="831"/>
                </a:lnTo>
                <a:lnTo>
                  <a:pt x="2339" y="821"/>
                </a:lnTo>
                <a:lnTo>
                  <a:pt x="2338" y="816"/>
                </a:lnTo>
                <a:lnTo>
                  <a:pt x="2336" y="812"/>
                </a:lnTo>
                <a:lnTo>
                  <a:pt x="2332" y="803"/>
                </a:lnTo>
                <a:lnTo>
                  <a:pt x="2330" y="800"/>
                </a:lnTo>
                <a:lnTo>
                  <a:pt x="2327" y="797"/>
                </a:lnTo>
                <a:lnTo>
                  <a:pt x="2324" y="794"/>
                </a:lnTo>
                <a:lnTo>
                  <a:pt x="2321" y="792"/>
                </a:lnTo>
                <a:lnTo>
                  <a:pt x="2317" y="790"/>
                </a:lnTo>
                <a:lnTo>
                  <a:pt x="2313" y="789"/>
                </a:lnTo>
                <a:lnTo>
                  <a:pt x="2309" y="788"/>
                </a:lnTo>
                <a:lnTo>
                  <a:pt x="2305" y="788"/>
                </a:lnTo>
                <a:lnTo>
                  <a:pt x="2300" y="788"/>
                </a:lnTo>
                <a:lnTo>
                  <a:pt x="2296" y="789"/>
                </a:lnTo>
                <a:lnTo>
                  <a:pt x="2292" y="790"/>
                </a:lnTo>
                <a:lnTo>
                  <a:pt x="2288" y="792"/>
                </a:lnTo>
                <a:lnTo>
                  <a:pt x="2285" y="794"/>
                </a:lnTo>
                <a:lnTo>
                  <a:pt x="2282" y="797"/>
                </a:lnTo>
                <a:lnTo>
                  <a:pt x="2279" y="800"/>
                </a:lnTo>
                <a:lnTo>
                  <a:pt x="2277" y="803"/>
                </a:lnTo>
                <a:lnTo>
                  <a:pt x="2272" y="812"/>
                </a:lnTo>
                <a:lnTo>
                  <a:pt x="2271" y="816"/>
                </a:lnTo>
                <a:lnTo>
                  <a:pt x="2270" y="821"/>
                </a:lnTo>
                <a:lnTo>
                  <a:pt x="2269" y="826"/>
                </a:lnTo>
                <a:lnTo>
                  <a:pt x="2268" y="831"/>
                </a:lnTo>
                <a:lnTo>
                  <a:pt x="2267" y="836"/>
                </a:lnTo>
                <a:lnTo>
                  <a:pt x="2267" y="842"/>
                </a:lnTo>
                <a:lnTo>
                  <a:pt x="2268" y="853"/>
                </a:lnTo>
                <a:lnTo>
                  <a:pt x="2270" y="863"/>
                </a:lnTo>
                <a:lnTo>
                  <a:pt x="2271" y="868"/>
                </a:lnTo>
                <a:lnTo>
                  <a:pt x="2272" y="872"/>
                </a:lnTo>
                <a:lnTo>
                  <a:pt x="2274" y="876"/>
                </a:lnTo>
                <a:lnTo>
                  <a:pt x="2277" y="880"/>
                </a:lnTo>
                <a:lnTo>
                  <a:pt x="2279" y="884"/>
                </a:lnTo>
                <a:lnTo>
                  <a:pt x="2282" y="887"/>
                </a:lnTo>
                <a:lnTo>
                  <a:pt x="2285" y="889"/>
                </a:lnTo>
                <a:lnTo>
                  <a:pt x="2288" y="892"/>
                </a:lnTo>
                <a:lnTo>
                  <a:pt x="2292" y="893"/>
                </a:lnTo>
                <a:lnTo>
                  <a:pt x="2296" y="894"/>
                </a:lnTo>
                <a:lnTo>
                  <a:pt x="2300" y="895"/>
                </a:lnTo>
                <a:lnTo>
                  <a:pt x="2305" y="895"/>
                </a:lnTo>
                <a:close/>
                <a:moveTo>
                  <a:pt x="2646" y="694"/>
                </a:moveTo>
                <a:lnTo>
                  <a:pt x="2696" y="694"/>
                </a:lnTo>
                <a:lnTo>
                  <a:pt x="2696" y="847"/>
                </a:lnTo>
                <a:lnTo>
                  <a:pt x="2696" y="854"/>
                </a:lnTo>
                <a:lnTo>
                  <a:pt x="2695" y="860"/>
                </a:lnTo>
                <a:lnTo>
                  <a:pt x="2694" y="866"/>
                </a:lnTo>
                <a:lnTo>
                  <a:pt x="2693" y="871"/>
                </a:lnTo>
                <a:lnTo>
                  <a:pt x="2691" y="877"/>
                </a:lnTo>
                <a:lnTo>
                  <a:pt x="2689" y="882"/>
                </a:lnTo>
                <a:lnTo>
                  <a:pt x="2686" y="887"/>
                </a:lnTo>
                <a:lnTo>
                  <a:pt x="2684" y="892"/>
                </a:lnTo>
                <a:lnTo>
                  <a:pt x="2680" y="897"/>
                </a:lnTo>
                <a:lnTo>
                  <a:pt x="2677" y="901"/>
                </a:lnTo>
                <a:lnTo>
                  <a:pt x="2673" y="906"/>
                </a:lnTo>
                <a:lnTo>
                  <a:pt x="2669" y="910"/>
                </a:lnTo>
                <a:lnTo>
                  <a:pt x="2664" y="913"/>
                </a:lnTo>
                <a:lnTo>
                  <a:pt x="2660" y="917"/>
                </a:lnTo>
                <a:lnTo>
                  <a:pt x="2655" y="920"/>
                </a:lnTo>
                <a:lnTo>
                  <a:pt x="2649" y="922"/>
                </a:lnTo>
                <a:lnTo>
                  <a:pt x="2638" y="927"/>
                </a:lnTo>
                <a:lnTo>
                  <a:pt x="2632" y="929"/>
                </a:lnTo>
                <a:lnTo>
                  <a:pt x="2626" y="930"/>
                </a:lnTo>
                <a:lnTo>
                  <a:pt x="2619" y="932"/>
                </a:lnTo>
                <a:lnTo>
                  <a:pt x="2612" y="932"/>
                </a:lnTo>
                <a:lnTo>
                  <a:pt x="2605" y="933"/>
                </a:lnTo>
                <a:lnTo>
                  <a:pt x="2598" y="933"/>
                </a:lnTo>
                <a:lnTo>
                  <a:pt x="2591" y="933"/>
                </a:lnTo>
                <a:lnTo>
                  <a:pt x="2584" y="932"/>
                </a:lnTo>
                <a:lnTo>
                  <a:pt x="2577" y="932"/>
                </a:lnTo>
                <a:lnTo>
                  <a:pt x="2571" y="930"/>
                </a:lnTo>
                <a:lnTo>
                  <a:pt x="2558" y="927"/>
                </a:lnTo>
                <a:lnTo>
                  <a:pt x="2552" y="925"/>
                </a:lnTo>
                <a:lnTo>
                  <a:pt x="2547" y="922"/>
                </a:lnTo>
                <a:lnTo>
                  <a:pt x="2541" y="920"/>
                </a:lnTo>
                <a:lnTo>
                  <a:pt x="2536" y="917"/>
                </a:lnTo>
                <a:lnTo>
                  <a:pt x="2527" y="910"/>
                </a:lnTo>
                <a:lnTo>
                  <a:pt x="2518" y="901"/>
                </a:lnTo>
                <a:lnTo>
                  <a:pt x="2515" y="897"/>
                </a:lnTo>
                <a:lnTo>
                  <a:pt x="2512" y="892"/>
                </a:lnTo>
                <a:lnTo>
                  <a:pt x="2509" y="887"/>
                </a:lnTo>
                <a:lnTo>
                  <a:pt x="2506" y="882"/>
                </a:lnTo>
                <a:lnTo>
                  <a:pt x="2504" y="877"/>
                </a:lnTo>
                <a:lnTo>
                  <a:pt x="2502" y="871"/>
                </a:lnTo>
                <a:lnTo>
                  <a:pt x="2501" y="866"/>
                </a:lnTo>
                <a:lnTo>
                  <a:pt x="2500" y="860"/>
                </a:lnTo>
                <a:lnTo>
                  <a:pt x="2500" y="854"/>
                </a:lnTo>
                <a:lnTo>
                  <a:pt x="2499" y="847"/>
                </a:lnTo>
                <a:lnTo>
                  <a:pt x="2499" y="694"/>
                </a:lnTo>
                <a:lnTo>
                  <a:pt x="2550" y="694"/>
                </a:lnTo>
                <a:lnTo>
                  <a:pt x="2550" y="843"/>
                </a:lnTo>
                <a:lnTo>
                  <a:pt x="2551" y="853"/>
                </a:lnTo>
                <a:lnTo>
                  <a:pt x="2552" y="857"/>
                </a:lnTo>
                <a:lnTo>
                  <a:pt x="2553" y="861"/>
                </a:lnTo>
                <a:lnTo>
                  <a:pt x="2555" y="865"/>
                </a:lnTo>
                <a:lnTo>
                  <a:pt x="2558" y="869"/>
                </a:lnTo>
                <a:lnTo>
                  <a:pt x="2560" y="873"/>
                </a:lnTo>
                <a:lnTo>
                  <a:pt x="2563" y="876"/>
                </a:lnTo>
                <a:lnTo>
                  <a:pt x="2567" y="879"/>
                </a:lnTo>
                <a:lnTo>
                  <a:pt x="2570" y="882"/>
                </a:lnTo>
                <a:lnTo>
                  <a:pt x="2574" y="884"/>
                </a:lnTo>
                <a:lnTo>
                  <a:pt x="2579" y="886"/>
                </a:lnTo>
                <a:lnTo>
                  <a:pt x="2583" y="887"/>
                </a:lnTo>
                <a:lnTo>
                  <a:pt x="2588" y="889"/>
                </a:lnTo>
                <a:lnTo>
                  <a:pt x="2598" y="889"/>
                </a:lnTo>
                <a:lnTo>
                  <a:pt x="2608" y="889"/>
                </a:lnTo>
                <a:lnTo>
                  <a:pt x="2613" y="887"/>
                </a:lnTo>
                <a:lnTo>
                  <a:pt x="2618" y="886"/>
                </a:lnTo>
                <a:lnTo>
                  <a:pt x="2622" y="884"/>
                </a:lnTo>
                <a:lnTo>
                  <a:pt x="2626" y="882"/>
                </a:lnTo>
                <a:lnTo>
                  <a:pt x="2629" y="879"/>
                </a:lnTo>
                <a:lnTo>
                  <a:pt x="2633" y="876"/>
                </a:lnTo>
                <a:lnTo>
                  <a:pt x="2636" y="873"/>
                </a:lnTo>
                <a:lnTo>
                  <a:pt x="2639" y="869"/>
                </a:lnTo>
                <a:lnTo>
                  <a:pt x="2641" y="865"/>
                </a:lnTo>
                <a:lnTo>
                  <a:pt x="2643" y="861"/>
                </a:lnTo>
                <a:lnTo>
                  <a:pt x="2644" y="857"/>
                </a:lnTo>
                <a:lnTo>
                  <a:pt x="2645" y="853"/>
                </a:lnTo>
                <a:lnTo>
                  <a:pt x="2646" y="848"/>
                </a:lnTo>
                <a:lnTo>
                  <a:pt x="2646" y="843"/>
                </a:lnTo>
                <a:lnTo>
                  <a:pt x="2646" y="694"/>
                </a:lnTo>
                <a:close/>
                <a:moveTo>
                  <a:pt x="2788" y="828"/>
                </a:moveTo>
                <a:lnTo>
                  <a:pt x="2788" y="930"/>
                </a:lnTo>
                <a:lnTo>
                  <a:pt x="2739" y="930"/>
                </a:lnTo>
                <a:lnTo>
                  <a:pt x="2739" y="753"/>
                </a:lnTo>
                <a:lnTo>
                  <a:pt x="2786" y="753"/>
                </a:lnTo>
                <a:lnTo>
                  <a:pt x="2786" y="784"/>
                </a:lnTo>
                <a:lnTo>
                  <a:pt x="2790" y="777"/>
                </a:lnTo>
                <a:lnTo>
                  <a:pt x="2796" y="770"/>
                </a:lnTo>
                <a:lnTo>
                  <a:pt x="2801" y="765"/>
                </a:lnTo>
                <a:lnTo>
                  <a:pt x="2808" y="760"/>
                </a:lnTo>
                <a:lnTo>
                  <a:pt x="2815" y="756"/>
                </a:lnTo>
                <a:lnTo>
                  <a:pt x="2819" y="754"/>
                </a:lnTo>
                <a:lnTo>
                  <a:pt x="2823" y="753"/>
                </a:lnTo>
                <a:lnTo>
                  <a:pt x="2832" y="751"/>
                </a:lnTo>
                <a:lnTo>
                  <a:pt x="2836" y="751"/>
                </a:lnTo>
                <a:lnTo>
                  <a:pt x="2841" y="751"/>
                </a:lnTo>
                <a:lnTo>
                  <a:pt x="2848" y="751"/>
                </a:lnTo>
                <a:lnTo>
                  <a:pt x="2854" y="752"/>
                </a:lnTo>
                <a:lnTo>
                  <a:pt x="2860" y="753"/>
                </a:lnTo>
                <a:lnTo>
                  <a:pt x="2866" y="755"/>
                </a:lnTo>
                <a:lnTo>
                  <a:pt x="2871" y="758"/>
                </a:lnTo>
                <a:lnTo>
                  <a:pt x="2876" y="761"/>
                </a:lnTo>
                <a:lnTo>
                  <a:pt x="2881" y="764"/>
                </a:lnTo>
                <a:lnTo>
                  <a:pt x="2885" y="769"/>
                </a:lnTo>
                <a:lnTo>
                  <a:pt x="2889" y="773"/>
                </a:lnTo>
                <a:lnTo>
                  <a:pt x="2893" y="778"/>
                </a:lnTo>
                <a:lnTo>
                  <a:pt x="2895" y="784"/>
                </a:lnTo>
                <a:lnTo>
                  <a:pt x="2897" y="787"/>
                </a:lnTo>
                <a:lnTo>
                  <a:pt x="2898" y="790"/>
                </a:lnTo>
                <a:lnTo>
                  <a:pt x="2900" y="796"/>
                </a:lnTo>
                <a:lnTo>
                  <a:pt x="2901" y="803"/>
                </a:lnTo>
                <a:lnTo>
                  <a:pt x="2902" y="810"/>
                </a:lnTo>
                <a:lnTo>
                  <a:pt x="2902" y="817"/>
                </a:lnTo>
                <a:lnTo>
                  <a:pt x="2902" y="930"/>
                </a:lnTo>
                <a:lnTo>
                  <a:pt x="2853" y="930"/>
                </a:lnTo>
                <a:lnTo>
                  <a:pt x="2853" y="826"/>
                </a:lnTo>
                <a:lnTo>
                  <a:pt x="2853" y="818"/>
                </a:lnTo>
                <a:lnTo>
                  <a:pt x="2852" y="815"/>
                </a:lnTo>
                <a:lnTo>
                  <a:pt x="2851" y="812"/>
                </a:lnTo>
                <a:lnTo>
                  <a:pt x="2848" y="806"/>
                </a:lnTo>
                <a:lnTo>
                  <a:pt x="2847" y="803"/>
                </a:lnTo>
                <a:lnTo>
                  <a:pt x="2845" y="801"/>
                </a:lnTo>
                <a:lnTo>
                  <a:pt x="2840" y="797"/>
                </a:lnTo>
                <a:lnTo>
                  <a:pt x="2837" y="795"/>
                </a:lnTo>
                <a:lnTo>
                  <a:pt x="2835" y="794"/>
                </a:lnTo>
                <a:lnTo>
                  <a:pt x="2829" y="792"/>
                </a:lnTo>
                <a:lnTo>
                  <a:pt x="2825" y="792"/>
                </a:lnTo>
                <a:lnTo>
                  <a:pt x="2822" y="792"/>
                </a:lnTo>
                <a:lnTo>
                  <a:pt x="2814" y="792"/>
                </a:lnTo>
                <a:lnTo>
                  <a:pt x="2808" y="794"/>
                </a:lnTo>
                <a:lnTo>
                  <a:pt x="2805" y="795"/>
                </a:lnTo>
                <a:lnTo>
                  <a:pt x="2802" y="797"/>
                </a:lnTo>
                <a:lnTo>
                  <a:pt x="2800" y="799"/>
                </a:lnTo>
                <a:lnTo>
                  <a:pt x="2797" y="801"/>
                </a:lnTo>
                <a:lnTo>
                  <a:pt x="2795" y="804"/>
                </a:lnTo>
                <a:lnTo>
                  <a:pt x="2793" y="806"/>
                </a:lnTo>
                <a:lnTo>
                  <a:pt x="2792" y="809"/>
                </a:lnTo>
                <a:lnTo>
                  <a:pt x="2790" y="812"/>
                </a:lnTo>
                <a:lnTo>
                  <a:pt x="2789" y="820"/>
                </a:lnTo>
                <a:lnTo>
                  <a:pt x="2788" y="824"/>
                </a:lnTo>
                <a:lnTo>
                  <a:pt x="2788" y="828"/>
                </a:lnTo>
                <a:close/>
                <a:moveTo>
                  <a:pt x="2966" y="730"/>
                </a:moveTo>
                <a:lnTo>
                  <a:pt x="2961" y="730"/>
                </a:lnTo>
                <a:lnTo>
                  <a:pt x="2956" y="729"/>
                </a:lnTo>
                <a:lnTo>
                  <a:pt x="2952" y="726"/>
                </a:lnTo>
                <a:lnTo>
                  <a:pt x="2948" y="723"/>
                </a:lnTo>
                <a:lnTo>
                  <a:pt x="2944" y="719"/>
                </a:lnTo>
                <a:lnTo>
                  <a:pt x="2942" y="715"/>
                </a:lnTo>
                <a:lnTo>
                  <a:pt x="2940" y="710"/>
                </a:lnTo>
                <a:lnTo>
                  <a:pt x="2940" y="705"/>
                </a:lnTo>
                <a:lnTo>
                  <a:pt x="2940" y="701"/>
                </a:lnTo>
                <a:lnTo>
                  <a:pt x="2942" y="696"/>
                </a:lnTo>
                <a:lnTo>
                  <a:pt x="2944" y="692"/>
                </a:lnTo>
                <a:lnTo>
                  <a:pt x="2948" y="688"/>
                </a:lnTo>
                <a:lnTo>
                  <a:pt x="2952" y="685"/>
                </a:lnTo>
                <a:lnTo>
                  <a:pt x="2956" y="683"/>
                </a:lnTo>
                <a:lnTo>
                  <a:pt x="2961" y="681"/>
                </a:lnTo>
                <a:lnTo>
                  <a:pt x="2966" y="681"/>
                </a:lnTo>
                <a:lnTo>
                  <a:pt x="2972" y="681"/>
                </a:lnTo>
                <a:lnTo>
                  <a:pt x="2977" y="683"/>
                </a:lnTo>
                <a:lnTo>
                  <a:pt x="2982" y="685"/>
                </a:lnTo>
                <a:lnTo>
                  <a:pt x="2986" y="688"/>
                </a:lnTo>
                <a:lnTo>
                  <a:pt x="2990" y="692"/>
                </a:lnTo>
                <a:lnTo>
                  <a:pt x="2992" y="696"/>
                </a:lnTo>
                <a:lnTo>
                  <a:pt x="2994" y="701"/>
                </a:lnTo>
                <a:lnTo>
                  <a:pt x="2994" y="705"/>
                </a:lnTo>
                <a:lnTo>
                  <a:pt x="2994" y="710"/>
                </a:lnTo>
                <a:lnTo>
                  <a:pt x="2992" y="715"/>
                </a:lnTo>
                <a:lnTo>
                  <a:pt x="2990" y="719"/>
                </a:lnTo>
                <a:lnTo>
                  <a:pt x="2986" y="723"/>
                </a:lnTo>
                <a:lnTo>
                  <a:pt x="2982" y="726"/>
                </a:lnTo>
                <a:lnTo>
                  <a:pt x="2977" y="729"/>
                </a:lnTo>
                <a:lnTo>
                  <a:pt x="2972" y="730"/>
                </a:lnTo>
                <a:lnTo>
                  <a:pt x="2966" y="730"/>
                </a:lnTo>
                <a:close/>
                <a:moveTo>
                  <a:pt x="2942" y="753"/>
                </a:moveTo>
                <a:lnTo>
                  <a:pt x="2992" y="753"/>
                </a:lnTo>
                <a:lnTo>
                  <a:pt x="2992" y="930"/>
                </a:lnTo>
                <a:lnTo>
                  <a:pt x="2942" y="930"/>
                </a:lnTo>
                <a:lnTo>
                  <a:pt x="2942" y="753"/>
                </a:lnTo>
                <a:close/>
                <a:moveTo>
                  <a:pt x="3195" y="753"/>
                </a:moveTo>
                <a:lnTo>
                  <a:pt x="3134" y="930"/>
                </a:lnTo>
                <a:lnTo>
                  <a:pt x="3078" y="930"/>
                </a:lnTo>
                <a:lnTo>
                  <a:pt x="3017" y="753"/>
                </a:lnTo>
                <a:lnTo>
                  <a:pt x="3068" y="753"/>
                </a:lnTo>
                <a:lnTo>
                  <a:pt x="3105" y="880"/>
                </a:lnTo>
                <a:lnTo>
                  <a:pt x="3143" y="753"/>
                </a:lnTo>
                <a:lnTo>
                  <a:pt x="3195" y="753"/>
                </a:lnTo>
                <a:close/>
                <a:moveTo>
                  <a:pt x="3294" y="933"/>
                </a:moveTo>
                <a:lnTo>
                  <a:pt x="3287" y="933"/>
                </a:lnTo>
                <a:lnTo>
                  <a:pt x="3280" y="933"/>
                </a:lnTo>
                <a:lnTo>
                  <a:pt x="3268" y="931"/>
                </a:lnTo>
                <a:lnTo>
                  <a:pt x="3263" y="929"/>
                </a:lnTo>
                <a:lnTo>
                  <a:pt x="3257" y="927"/>
                </a:lnTo>
                <a:lnTo>
                  <a:pt x="3247" y="922"/>
                </a:lnTo>
                <a:lnTo>
                  <a:pt x="3242" y="919"/>
                </a:lnTo>
                <a:lnTo>
                  <a:pt x="3237" y="916"/>
                </a:lnTo>
                <a:lnTo>
                  <a:pt x="3233" y="913"/>
                </a:lnTo>
                <a:lnTo>
                  <a:pt x="3229" y="909"/>
                </a:lnTo>
                <a:lnTo>
                  <a:pt x="3222" y="900"/>
                </a:lnTo>
                <a:lnTo>
                  <a:pt x="3219" y="896"/>
                </a:lnTo>
                <a:lnTo>
                  <a:pt x="3216" y="891"/>
                </a:lnTo>
                <a:lnTo>
                  <a:pt x="3212" y="880"/>
                </a:lnTo>
                <a:lnTo>
                  <a:pt x="3210" y="874"/>
                </a:lnTo>
                <a:lnTo>
                  <a:pt x="3209" y="868"/>
                </a:lnTo>
                <a:lnTo>
                  <a:pt x="3207" y="862"/>
                </a:lnTo>
                <a:lnTo>
                  <a:pt x="3207" y="856"/>
                </a:lnTo>
                <a:lnTo>
                  <a:pt x="3206" y="849"/>
                </a:lnTo>
                <a:lnTo>
                  <a:pt x="3206" y="842"/>
                </a:lnTo>
                <a:lnTo>
                  <a:pt x="3206" y="836"/>
                </a:lnTo>
                <a:lnTo>
                  <a:pt x="3207" y="829"/>
                </a:lnTo>
                <a:lnTo>
                  <a:pt x="3207" y="823"/>
                </a:lnTo>
                <a:lnTo>
                  <a:pt x="3209" y="817"/>
                </a:lnTo>
                <a:lnTo>
                  <a:pt x="3212" y="805"/>
                </a:lnTo>
                <a:lnTo>
                  <a:pt x="3214" y="800"/>
                </a:lnTo>
                <a:lnTo>
                  <a:pt x="3216" y="794"/>
                </a:lnTo>
                <a:lnTo>
                  <a:pt x="3222" y="785"/>
                </a:lnTo>
                <a:lnTo>
                  <a:pt x="3226" y="780"/>
                </a:lnTo>
                <a:lnTo>
                  <a:pt x="3229" y="776"/>
                </a:lnTo>
                <a:lnTo>
                  <a:pt x="3233" y="772"/>
                </a:lnTo>
                <a:lnTo>
                  <a:pt x="3237" y="769"/>
                </a:lnTo>
                <a:lnTo>
                  <a:pt x="3246" y="762"/>
                </a:lnTo>
                <a:lnTo>
                  <a:pt x="3251" y="760"/>
                </a:lnTo>
                <a:lnTo>
                  <a:pt x="3256" y="757"/>
                </a:lnTo>
                <a:lnTo>
                  <a:pt x="3262" y="755"/>
                </a:lnTo>
                <a:lnTo>
                  <a:pt x="3267" y="754"/>
                </a:lnTo>
                <a:lnTo>
                  <a:pt x="3273" y="752"/>
                </a:lnTo>
                <a:lnTo>
                  <a:pt x="3279" y="752"/>
                </a:lnTo>
                <a:lnTo>
                  <a:pt x="3292" y="751"/>
                </a:lnTo>
                <a:lnTo>
                  <a:pt x="3303" y="751"/>
                </a:lnTo>
                <a:lnTo>
                  <a:pt x="3314" y="753"/>
                </a:lnTo>
                <a:lnTo>
                  <a:pt x="3319" y="755"/>
                </a:lnTo>
                <a:lnTo>
                  <a:pt x="3324" y="756"/>
                </a:lnTo>
                <a:lnTo>
                  <a:pt x="3334" y="761"/>
                </a:lnTo>
                <a:lnTo>
                  <a:pt x="3343" y="766"/>
                </a:lnTo>
                <a:lnTo>
                  <a:pt x="3347" y="770"/>
                </a:lnTo>
                <a:lnTo>
                  <a:pt x="3351" y="773"/>
                </a:lnTo>
                <a:lnTo>
                  <a:pt x="3358" y="781"/>
                </a:lnTo>
                <a:lnTo>
                  <a:pt x="3361" y="786"/>
                </a:lnTo>
                <a:lnTo>
                  <a:pt x="3364" y="791"/>
                </a:lnTo>
                <a:lnTo>
                  <a:pt x="3366" y="796"/>
                </a:lnTo>
                <a:lnTo>
                  <a:pt x="3368" y="801"/>
                </a:lnTo>
                <a:lnTo>
                  <a:pt x="3370" y="807"/>
                </a:lnTo>
                <a:lnTo>
                  <a:pt x="3372" y="813"/>
                </a:lnTo>
                <a:lnTo>
                  <a:pt x="3373" y="819"/>
                </a:lnTo>
                <a:lnTo>
                  <a:pt x="3374" y="826"/>
                </a:lnTo>
                <a:lnTo>
                  <a:pt x="3374" y="833"/>
                </a:lnTo>
                <a:lnTo>
                  <a:pt x="3375" y="841"/>
                </a:lnTo>
                <a:lnTo>
                  <a:pt x="3375" y="854"/>
                </a:lnTo>
                <a:lnTo>
                  <a:pt x="3254" y="854"/>
                </a:lnTo>
                <a:lnTo>
                  <a:pt x="3254" y="859"/>
                </a:lnTo>
                <a:lnTo>
                  <a:pt x="3255" y="863"/>
                </a:lnTo>
                <a:lnTo>
                  <a:pt x="3256" y="868"/>
                </a:lnTo>
                <a:lnTo>
                  <a:pt x="3257" y="872"/>
                </a:lnTo>
                <a:lnTo>
                  <a:pt x="3260" y="879"/>
                </a:lnTo>
                <a:lnTo>
                  <a:pt x="3263" y="882"/>
                </a:lnTo>
                <a:lnTo>
                  <a:pt x="3265" y="885"/>
                </a:lnTo>
                <a:lnTo>
                  <a:pt x="3268" y="888"/>
                </a:lnTo>
                <a:lnTo>
                  <a:pt x="3271" y="890"/>
                </a:lnTo>
                <a:lnTo>
                  <a:pt x="3274" y="892"/>
                </a:lnTo>
                <a:lnTo>
                  <a:pt x="3278" y="894"/>
                </a:lnTo>
                <a:lnTo>
                  <a:pt x="3282" y="895"/>
                </a:lnTo>
                <a:lnTo>
                  <a:pt x="3286" y="896"/>
                </a:lnTo>
                <a:lnTo>
                  <a:pt x="3294" y="897"/>
                </a:lnTo>
                <a:lnTo>
                  <a:pt x="3300" y="896"/>
                </a:lnTo>
                <a:lnTo>
                  <a:pt x="3306" y="895"/>
                </a:lnTo>
                <a:lnTo>
                  <a:pt x="3311" y="894"/>
                </a:lnTo>
                <a:lnTo>
                  <a:pt x="3316" y="892"/>
                </a:lnTo>
                <a:lnTo>
                  <a:pt x="3318" y="890"/>
                </a:lnTo>
                <a:lnTo>
                  <a:pt x="3320" y="889"/>
                </a:lnTo>
                <a:lnTo>
                  <a:pt x="3323" y="885"/>
                </a:lnTo>
                <a:lnTo>
                  <a:pt x="3326" y="881"/>
                </a:lnTo>
                <a:lnTo>
                  <a:pt x="3328" y="876"/>
                </a:lnTo>
                <a:lnTo>
                  <a:pt x="3374" y="879"/>
                </a:lnTo>
                <a:lnTo>
                  <a:pt x="3372" y="885"/>
                </a:lnTo>
                <a:lnTo>
                  <a:pt x="3370" y="891"/>
                </a:lnTo>
                <a:lnTo>
                  <a:pt x="3367" y="896"/>
                </a:lnTo>
                <a:lnTo>
                  <a:pt x="3364" y="901"/>
                </a:lnTo>
                <a:lnTo>
                  <a:pt x="3361" y="906"/>
                </a:lnTo>
                <a:lnTo>
                  <a:pt x="3357" y="911"/>
                </a:lnTo>
                <a:lnTo>
                  <a:pt x="3352" y="915"/>
                </a:lnTo>
                <a:lnTo>
                  <a:pt x="3347" y="919"/>
                </a:lnTo>
                <a:lnTo>
                  <a:pt x="3342" y="922"/>
                </a:lnTo>
                <a:lnTo>
                  <a:pt x="3336" y="925"/>
                </a:lnTo>
                <a:lnTo>
                  <a:pt x="3330" y="928"/>
                </a:lnTo>
                <a:lnTo>
                  <a:pt x="3323" y="930"/>
                </a:lnTo>
                <a:lnTo>
                  <a:pt x="3320" y="930"/>
                </a:lnTo>
                <a:lnTo>
                  <a:pt x="3316" y="931"/>
                </a:lnTo>
                <a:lnTo>
                  <a:pt x="3309" y="932"/>
                </a:lnTo>
                <a:lnTo>
                  <a:pt x="3302" y="933"/>
                </a:lnTo>
                <a:lnTo>
                  <a:pt x="3294" y="933"/>
                </a:lnTo>
                <a:close/>
                <a:moveTo>
                  <a:pt x="3254" y="824"/>
                </a:moveTo>
                <a:lnTo>
                  <a:pt x="3329" y="824"/>
                </a:lnTo>
                <a:lnTo>
                  <a:pt x="3328" y="820"/>
                </a:lnTo>
                <a:lnTo>
                  <a:pt x="3328" y="816"/>
                </a:lnTo>
                <a:lnTo>
                  <a:pt x="3327" y="813"/>
                </a:lnTo>
                <a:lnTo>
                  <a:pt x="3326" y="809"/>
                </a:lnTo>
                <a:lnTo>
                  <a:pt x="3324" y="806"/>
                </a:lnTo>
                <a:lnTo>
                  <a:pt x="3323" y="803"/>
                </a:lnTo>
                <a:lnTo>
                  <a:pt x="3321" y="800"/>
                </a:lnTo>
                <a:lnTo>
                  <a:pt x="3318" y="798"/>
                </a:lnTo>
                <a:lnTo>
                  <a:pt x="3313" y="793"/>
                </a:lnTo>
                <a:lnTo>
                  <a:pt x="3307" y="790"/>
                </a:lnTo>
                <a:lnTo>
                  <a:pt x="3300" y="788"/>
                </a:lnTo>
                <a:lnTo>
                  <a:pt x="3292" y="787"/>
                </a:lnTo>
                <a:lnTo>
                  <a:pt x="3285" y="788"/>
                </a:lnTo>
                <a:lnTo>
                  <a:pt x="3281" y="789"/>
                </a:lnTo>
                <a:lnTo>
                  <a:pt x="3278" y="790"/>
                </a:lnTo>
                <a:lnTo>
                  <a:pt x="3271" y="793"/>
                </a:lnTo>
                <a:lnTo>
                  <a:pt x="3268" y="796"/>
                </a:lnTo>
                <a:lnTo>
                  <a:pt x="3266" y="798"/>
                </a:lnTo>
                <a:lnTo>
                  <a:pt x="3261" y="804"/>
                </a:lnTo>
                <a:lnTo>
                  <a:pt x="3258" y="810"/>
                </a:lnTo>
                <a:lnTo>
                  <a:pt x="3256" y="813"/>
                </a:lnTo>
                <a:lnTo>
                  <a:pt x="3255" y="816"/>
                </a:lnTo>
                <a:lnTo>
                  <a:pt x="3254" y="824"/>
                </a:lnTo>
                <a:close/>
                <a:moveTo>
                  <a:pt x="3409" y="930"/>
                </a:moveTo>
                <a:lnTo>
                  <a:pt x="3409" y="753"/>
                </a:lnTo>
                <a:lnTo>
                  <a:pt x="3457" y="753"/>
                </a:lnTo>
                <a:lnTo>
                  <a:pt x="3457" y="784"/>
                </a:lnTo>
                <a:lnTo>
                  <a:pt x="3461" y="776"/>
                </a:lnTo>
                <a:lnTo>
                  <a:pt x="3465" y="769"/>
                </a:lnTo>
                <a:lnTo>
                  <a:pt x="3470" y="764"/>
                </a:lnTo>
                <a:lnTo>
                  <a:pt x="3475" y="759"/>
                </a:lnTo>
                <a:lnTo>
                  <a:pt x="3478" y="757"/>
                </a:lnTo>
                <a:lnTo>
                  <a:pt x="3481" y="755"/>
                </a:lnTo>
                <a:lnTo>
                  <a:pt x="3487" y="753"/>
                </a:lnTo>
                <a:lnTo>
                  <a:pt x="3494" y="751"/>
                </a:lnTo>
                <a:lnTo>
                  <a:pt x="3501" y="751"/>
                </a:lnTo>
                <a:lnTo>
                  <a:pt x="3509" y="751"/>
                </a:lnTo>
                <a:lnTo>
                  <a:pt x="3517" y="752"/>
                </a:lnTo>
                <a:lnTo>
                  <a:pt x="3517" y="796"/>
                </a:lnTo>
                <a:lnTo>
                  <a:pt x="3513" y="795"/>
                </a:lnTo>
                <a:lnTo>
                  <a:pt x="3507" y="794"/>
                </a:lnTo>
                <a:lnTo>
                  <a:pt x="3496" y="793"/>
                </a:lnTo>
                <a:lnTo>
                  <a:pt x="3488" y="794"/>
                </a:lnTo>
                <a:lnTo>
                  <a:pt x="3485" y="795"/>
                </a:lnTo>
                <a:lnTo>
                  <a:pt x="3481" y="796"/>
                </a:lnTo>
                <a:lnTo>
                  <a:pt x="3478" y="797"/>
                </a:lnTo>
                <a:lnTo>
                  <a:pt x="3475" y="799"/>
                </a:lnTo>
                <a:lnTo>
                  <a:pt x="3472" y="801"/>
                </a:lnTo>
                <a:lnTo>
                  <a:pt x="3469" y="803"/>
                </a:lnTo>
                <a:lnTo>
                  <a:pt x="3465" y="809"/>
                </a:lnTo>
                <a:lnTo>
                  <a:pt x="3463" y="812"/>
                </a:lnTo>
                <a:lnTo>
                  <a:pt x="3461" y="815"/>
                </a:lnTo>
                <a:lnTo>
                  <a:pt x="3460" y="818"/>
                </a:lnTo>
                <a:lnTo>
                  <a:pt x="3459" y="822"/>
                </a:lnTo>
                <a:lnTo>
                  <a:pt x="3459" y="826"/>
                </a:lnTo>
                <a:lnTo>
                  <a:pt x="3459" y="830"/>
                </a:lnTo>
                <a:lnTo>
                  <a:pt x="3459" y="930"/>
                </a:lnTo>
                <a:lnTo>
                  <a:pt x="3409" y="930"/>
                </a:lnTo>
                <a:close/>
                <a:moveTo>
                  <a:pt x="3690" y="804"/>
                </a:moveTo>
                <a:lnTo>
                  <a:pt x="3645" y="806"/>
                </a:lnTo>
                <a:lnTo>
                  <a:pt x="3644" y="802"/>
                </a:lnTo>
                <a:lnTo>
                  <a:pt x="3642" y="798"/>
                </a:lnTo>
                <a:lnTo>
                  <a:pt x="3639" y="795"/>
                </a:lnTo>
                <a:lnTo>
                  <a:pt x="3636" y="792"/>
                </a:lnTo>
                <a:lnTo>
                  <a:pt x="3632" y="789"/>
                </a:lnTo>
                <a:lnTo>
                  <a:pt x="3627" y="787"/>
                </a:lnTo>
                <a:lnTo>
                  <a:pt x="3622" y="786"/>
                </a:lnTo>
                <a:lnTo>
                  <a:pt x="3616" y="786"/>
                </a:lnTo>
                <a:lnTo>
                  <a:pt x="3610" y="786"/>
                </a:lnTo>
                <a:lnTo>
                  <a:pt x="3605" y="787"/>
                </a:lnTo>
                <a:lnTo>
                  <a:pt x="3601" y="788"/>
                </a:lnTo>
                <a:lnTo>
                  <a:pt x="3596" y="790"/>
                </a:lnTo>
                <a:lnTo>
                  <a:pt x="3593" y="793"/>
                </a:lnTo>
                <a:lnTo>
                  <a:pt x="3591" y="796"/>
                </a:lnTo>
                <a:lnTo>
                  <a:pt x="3589" y="799"/>
                </a:lnTo>
                <a:lnTo>
                  <a:pt x="3589" y="803"/>
                </a:lnTo>
                <a:lnTo>
                  <a:pt x="3589" y="806"/>
                </a:lnTo>
                <a:lnTo>
                  <a:pt x="3590" y="809"/>
                </a:lnTo>
                <a:lnTo>
                  <a:pt x="3591" y="811"/>
                </a:lnTo>
                <a:lnTo>
                  <a:pt x="3594" y="814"/>
                </a:lnTo>
                <a:lnTo>
                  <a:pt x="3597" y="816"/>
                </a:lnTo>
                <a:lnTo>
                  <a:pt x="3601" y="818"/>
                </a:lnTo>
                <a:lnTo>
                  <a:pt x="3605" y="819"/>
                </a:lnTo>
                <a:lnTo>
                  <a:pt x="3611" y="821"/>
                </a:lnTo>
                <a:lnTo>
                  <a:pt x="3643" y="827"/>
                </a:lnTo>
                <a:lnTo>
                  <a:pt x="3649" y="829"/>
                </a:lnTo>
                <a:lnTo>
                  <a:pt x="3655" y="830"/>
                </a:lnTo>
                <a:lnTo>
                  <a:pt x="3660" y="832"/>
                </a:lnTo>
                <a:lnTo>
                  <a:pt x="3665" y="834"/>
                </a:lnTo>
                <a:lnTo>
                  <a:pt x="3674" y="839"/>
                </a:lnTo>
                <a:lnTo>
                  <a:pt x="3681" y="844"/>
                </a:lnTo>
                <a:lnTo>
                  <a:pt x="3684" y="848"/>
                </a:lnTo>
                <a:lnTo>
                  <a:pt x="3687" y="851"/>
                </a:lnTo>
                <a:lnTo>
                  <a:pt x="3689" y="854"/>
                </a:lnTo>
                <a:lnTo>
                  <a:pt x="3691" y="858"/>
                </a:lnTo>
                <a:lnTo>
                  <a:pt x="3693" y="866"/>
                </a:lnTo>
                <a:lnTo>
                  <a:pt x="3694" y="870"/>
                </a:lnTo>
                <a:lnTo>
                  <a:pt x="3694" y="875"/>
                </a:lnTo>
                <a:lnTo>
                  <a:pt x="3694" y="879"/>
                </a:lnTo>
                <a:lnTo>
                  <a:pt x="3694" y="883"/>
                </a:lnTo>
                <a:lnTo>
                  <a:pt x="3693" y="888"/>
                </a:lnTo>
                <a:lnTo>
                  <a:pt x="3692" y="891"/>
                </a:lnTo>
                <a:lnTo>
                  <a:pt x="3690" y="895"/>
                </a:lnTo>
                <a:lnTo>
                  <a:pt x="3688" y="899"/>
                </a:lnTo>
                <a:lnTo>
                  <a:pt x="3686" y="902"/>
                </a:lnTo>
                <a:lnTo>
                  <a:pt x="3684" y="906"/>
                </a:lnTo>
                <a:lnTo>
                  <a:pt x="3678" y="912"/>
                </a:lnTo>
                <a:lnTo>
                  <a:pt x="3672" y="917"/>
                </a:lnTo>
                <a:lnTo>
                  <a:pt x="3664" y="922"/>
                </a:lnTo>
                <a:lnTo>
                  <a:pt x="3656" y="926"/>
                </a:lnTo>
                <a:lnTo>
                  <a:pt x="3647" y="929"/>
                </a:lnTo>
                <a:lnTo>
                  <a:pt x="3637" y="931"/>
                </a:lnTo>
                <a:lnTo>
                  <a:pt x="3627" y="933"/>
                </a:lnTo>
                <a:lnTo>
                  <a:pt x="3615" y="933"/>
                </a:lnTo>
                <a:lnTo>
                  <a:pt x="3607" y="933"/>
                </a:lnTo>
                <a:lnTo>
                  <a:pt x="3599" y="932"/>
                </a:lnTo>
                <a:lnTo>
                  <a:pt x="3591" y="931"/>
                </a:lnTo>
                <a:lnTo>
                  <a:pt x="3584" y="930"/>
                </a:lnTo>
                <a:lnTo>
                  <a:pt x="3577" y="928"/>
                </a:lnTo>
                <a:lnTo>
                  <a:pt x="3571" y="925"/>
                </a:lnTo>
                <a:lnTo>
                  <a:pt x="3565" y="922"/>
                </a:lnTo>
                <a:lnTo>
                  <a:pt x="3560" y="919"/>
                </a:lnTo>
                <a:lnTo>
                  <a:pt x="3555" y="915"/>
                </a:lnTo>
                <a:lnTo>
                  <a:pt x="3550" y="911"/>
                </a:lnTo>
                <a:lnTo>
                  <a:pt x="3546" y="906"/>
                </a:lnTo>
                <a:lnTo>
                  <a:pt x="3543" y="901"/>
                </a:lnTo>
                <a:lnTo>
                  <a:pt x="3540" y="896"/>
                </a:lnTo>
                <a:lnTo>
                  <a:pt x="3538" y="891"/>
                </a:lnTo>
                <a:lnTo>
                  <a:pt x="3536" y="885"/>
                </a:lnTo>
                <a:lnTo>
                  <a:pt x="3535" y="879"/>
                </a:lnTo>
                <a:lnTo>
                  <a:pt x="3584" y="876"/>
                </a:lnTo>
                <a:lnTo>
                  <a:pt x="3585" y="881"/>
                </a:lnTo>
                <a:lnTo>
                  <a:pt x="3587" y="886"/>
                </a:lnTo>
                <a:lnTo>
                  <a:pt x="3590" y="889"/>
                </a:lnTo>
                <a:lnTo>
                  <a:pt x="3594" y="892"/>
                </a:lnTo>
                <a:lnTo>
                  <a:pt x="3599" y="895"/>
                </a:lnTo>
                <a:lnTo>
                  <a:pt x="3604" y="897"/>
                </a:lnTo>
                <a:lnTo>
                  <a:pt x="3609" y="898"/>
                </a:lnTo>
                <a:lnTo>
                  <a:pt x="3616" y="898"/>
                </a:lnTo>
                <a:lnTo>
                  <a:pt x="3622" y="898"/>
                </a:lnTo>
                <a:lnTo>
                  <a:pt x="3627" y="897"/>
                </a:lnTo>
                <a:lnTo>
                  <a:pt x="3632" y="895"/>
                </a:lnTo>
                <a:lnTo>
                  <a:pt x="3634" y="894"/>
                </a:lnTo>
                <a:lnTo>
                  <a:pt x="3636" y="893"/>
                </a:lnTo>
                <a:lnTo>
                  <a:pt x="3640" y="890"/>
                </a:lnTo>
                <a:lnTo>
                  <a:pt x="3642" y="887"/>
                </a:lnTo>
                <a:lnTo>
                  <a:pt x="3643" y="886"/>
                </a:lnTo>
                <a:lnTo>
                  <a:pt x="3644" y="884"/>
                </a:lnTo>
                <a:lnTo>
                  <a:pt x="3644" y="880"/>
                </a:lnTo>
                <a:lnTo>
                  <a:pt x="3644" y="877"/>
                </a:lnTo>
                <a:lnTo>
                  <a:pt x="3643" y="874"/>
                </a:lnTo>
                <a:lnTo>
                  <a:pt x="3641" y="871"/>
                </a:lnTo>
                <a:lnTo>
                  <a:pt x="3639" y="869"/>
                </a:lnTo>
                <a:lnTo>
                  <a:pt x="3635" y="867"/>
                </a:lnTo>
                <a:lnTo>
                  <a:pt x="3631" y="865"/>
                </a:lnTo>
                <a:lnTo>
                  <a:pt x="3627" y="864"/>
                </a:lnTo>
                <a:lnTo>
                  <a:pt x="3622" y="862"/>
                </a:lnTo>
                <a:lnTo>
                  <a:pt x="3591" y="856"/>
                </a:lnTo>
                <a:lnTo>
                  <a:pt x="3585" y="855"/>
                </a:lnTo>
                <a:lnTo>
                  <a:pt x="3579" y="853"/>
                </a:lnTo>
                <a:lnTo>
                  <a:pt x="3569" y="849"/>
                </a:lnTo>
                <a:lnTo>
                  <a:pt x="3564" y="847"/>
                </a:lnTo>
                <a:lnTo>
                  <a:pt x="3560" y="844"/>
                </a:lnTo>
                <a:lnTo>
                  <a:pt x="3556" y="842"/>
                </a:lnTo>
                <a:lnTo>
                  <a:pt x="3553" y="839"/>
                </a:lnTo>
                <a:lnTo>
                  <a:pt x="3550" y="835"/>
                </a:lnTo>
                <a:lnTo>
                  <a:pt x="3547" y="832"/>
                </a:lnTo>
                <a:lnTo>
                  <a:pt x="3545" y="828"/>
                </a:lnTo>
                <a:lnTo>
                  <a:pt x="3543" y="824"/>
                </a:lnTo>
                <a:lnTo>
                  <a:pt x="3542" y="820"/>
                </a:lnTo>
                <a:lnTo>
                  <a:pt x="3541" y="815"/>
                </a:lnTo>
                <a:lnTo>
                  <a:pt x="3540" y="811"/>
                </a:lnTo>
                <a:lnTo>
                  <a:pt x="3540" y="806"/>
                </a:lnTo>
                <a:lnTo>
                  <a:pt x="3540" y="800"/>
                </a:lnTo>
                <a:lnTo>
                  <a:pt x="3541" y="794"/>
                </a:lnTo>
                <a:lnTo>
                  <a:pt x="3543" y="788"/>
                </a:lnTo>
                <a:lnTo>
                  <a:pt x="3545" y="783"/>
                </a:lnTo>
                <a:lnTo>
                  <a:pt x="3548" y="778"/>
                </a:lnTo>
                <a:lnTo>
                  <a:pt x="3551" y="774"/>
                </a:lnTo>
                <a:lnTo>
                  <a:pt x="3556" y="769"/>
                </a:lnTo>
                <a:lnTo>
                  <a:pt x="3560" y="766"/>
                </a:lnTo>
                <a:lnTo>
                  <a:pt x="3566" y="762"/>
                </a:lnTo>
                <a:lnTo>
                  <a:pt x="3572" y="759"/>
                </a:lnTo>
                <a:lnTo>
                  <a:pt x="3578" y="757"/>
                </a:lnTo>
                <a:lnTo>
                  <a:pt x="3584" y="754"/>
                </a:lnTo>
                <a:lnTo>
                  <a:pt x="3588" y="754"/>
                </a:lnTo>
                <a:lnTo>
                  <a:pt x="3591" y="753"/>
                </a:lnTo>
                <a:lnTo>
                  <a:pt x="3599" y="752"/>
                </a:lnTo>
                <a:lnTo>
                  <a:pt x="3607" y="751"/>
                </a:lnTo>
                <a:lnTo>
                  <a:pt x="3615" y="751"/>
                </a:lnTo>
                <a:lnTo>
                  <a:pt x="3623" y="751"/>
                </a:lnTo>
                <a:lnTo>
                  <a:pt x="3631" y="752"/>
                </a:lnTo>
                <a:lnTo>
                  <a:pt x="3638" y="753"/>
                </a:lnTo>
                <a:lnTo>
                  <a:pt x="3645" y="754"/>
                </a:lnTo>
                <a:lnTo>
                  <a:pt x="3651" y="756"/>
                </a:lnTo>
                <a:lnTo>
                  <a:pt x="3657" y="759"/>
                </a:lnTo>
                <a:lnTo>
                  <a:pt x="3663" y="762"/>
                </a:lnTo>
                <a:lnTo>
                  <a:pt x="3668" y="765"/>
                </a:lnTo>
                <a:lnTo>
                  <a:pt x="3672" y="769"/>
                </a:lnTo>
                <a:lnTo>
                  <a:pt x="3676" y="773"/>
                </a:lnTo>
                <a:lnTo>
                  <a:pt x="3680" y="777"/>
                </a:lnTo>
                <a:lnTo>
                  <a:pt x="3683" y="782"/>
                </a:lnTo>
                <a:lnTo>
                  <a:pt x="3685" y="787"/>
                </a:lnTo>
                <a:lnTo>
                  <a:pt x="3688" y="792"/>
                </a:lnTo>
                <a:lnTo>
                  <a:pt x="3689" y="798"/>
                </a:lnTo>
                <a:lnTo>
                  <a:pt x="3690" y="804"/>
                </a:lnTo>
                <a:close/>
                <a:moveTo>
                  <a:pt x="3751" y="730"/>
                </a:moveTo>
                <a:lnTo>
                  <a:pt x="3746" y="730"/>
                </a:lnTo>
                <a:lnTo>
                  <a:pt x="3741" y="729"/>
                </a:lnTo>
                <a:lnTo>
                  <a:pt x="3736" y="726"/>
                </a:lnTo>
                <a:lnTo>
                  <a:pt x="3732" y="723"/>
                </a:lnTo>
                <a:lnTo>
                  <a:pt x="3729" y="719"/>
                </a:lnTo>
                <a:lnTo>
                  <a:pt x="3726" y="715"/>
                </a:lnTo>
                <a:lnTo>
                  <a:pt x="3725" y="710"/>
                </a:lnTo>
                <a:lnTo>
                  <a:pt x="3724" y="705"/>
                </a:lnTo>
                <a:lnTo>
                  <a:pt x="3725" y="701"/>
                </a:lnTo>
                <a:lnTo>
                  <a:pt x="3726" y="696"/>
                </a:lnTo>
                <a:lnTo>
                  <a:pt x="3729" y="692"/>
                </a:lnTo>
                <a:lnTo>
                  <a:pt x="3732" y="688"/>
                </a:lnTo>
                <a:lnTo>
                  <a:pt x="3736" y="685"/>
                </a:lnTo>
                <a:lnTo>
                  <a:pt x="3741" y="683"/>
                </a:lnTo>
                <a:lnTo>
                  <a:pt x="3746" y="681"/>
                </a:lnTo>
                <a:lnTo>
                  <a:pt x="3751" y="681"/>
                </a:lnTo>
                <a:lnTo>
                  <a:pt x="3756" y="681"/>
                </a:lnTo>
                <a:lnTo>
                  <a:pt x="3761" y="683"/>
                </a:lnTo>
                <a:lnTo>
                  <a:pt x="3765" y="685"/>
                </a:lnTo>
                <a:lnTo>
                  <a:pt x="3770" y="688"/>
                </a:lnTo>
                <a:lnTo>
                  <a:pt x="3773" y="692"/>
                </a:lnTo>
                <a:lnTo>
                  <a:pt x="3775" y="696"/>
                </a:lnTo>
                <a:lnTo>
                  <a:pt x="3777" y="701"/>
                </a:lnTo>
                <a:lnTo>
                  <a:pt x="3777" y="705"/>
                </a:lnTo>
                <a:lnTo>
                  <a:pt x="3777" y="710"/>
                </a:lnTo>
                <a:lnTo>
                  <a:pt x="3775" y="715"/>
                </a:lnTo>
                <a:lnTo>
                  <a:pt x="3773" y="719"/>
                </a:lnTo>
                <a:lnTo>
                  <a:pt x="3770" y="723"/>
                </a:lnTo>
                <a:lnTo>
                  <a:pt x="3765" y="726"/>
                </a:lnTo>
                <a:lnTo>
                  <a:pt x="3761" y="729"/>
                </a:lnTo>
                <a:lnTo>
                  <a:pt x="3756" y="730"/>
                </a:lnTo>
                <a:lnTo>
                  <a:pt x="3751" y="730"/>
                </a:lnTo>
                <a:close/>
                <a:moveTo>
                  <a:pt x="3726" y="753"/>
                </a:moveTo>
                <a:lnTo>
                  <a:pt x="3775" y="753"/>
                </a:lnTo>
                <a:lnTo>
                  <a:pt x="3775" y="930"/>
                </a:lnTo>
                <a:lnTo>
                  <a:pt x="3726" y="930"/>
                </a:lnTo>
                <a:lnTo>
                  <a:pt x="3726" y="753"/>
                </a:lnTo>
                <a:close/>
                <a:moveTo>
                  <a:pt x="3908" y="753"/>
                </a:moveTo>
                <a:lnTo>
                  <a:pt x="3908" y="790"/>
                </a:lnTo>
                <a:lnTo>
                  <a:pt x="3874" y="790"/>
                </a:lnTo>
                <a:lnTo>
                  <a:pt x="3874" y="876"/>
                </a:lnTo>
                <a:lnTo>
                  <a:pt x="3874" y="880"/>
                </a:lnTo>
                <a:lnTo>
                  <a:pt x="3875" y="884"/>
                </a:lnTo>
                <a:lnTo>
                  <a:pt x="3876" y="886"/>
                </a:lnTo>
                <a:lnTo>
                  <a:pt x="3877" y="887"/>
                </a:lnTo>
                <a:lnTo>
                  <a:pt x="3879" y="889"/>
                </a:lnTo>
                <a:lnTo>
                  <a:pt x="3881" y="891"/>
                </a:lnTo>
                <a:lnTo>
                  <a:pt x="3884" y="892"/>
                </a:lnTo>
                <a:lnTo>
                  <a:pt x="3887" y="893"/>
                </a:lnTo>
                <a:lnTo>
                  <a:pt x="3891" y="893"/>
                </a:lnTo>
                <a:lnTo>
                  <a:pt x="3899" y="892"/>
                </a:lnTo>
                <a:lnTo>
                  <a:pt x="3904" y="891"/>
                </a:lnTo>
                <a:lnTo>
                  <a:pt x="3912" y="928"/>
                </a:lnTo>
                <a:lnTo>
                  <a:pt x="3901" y="930"/>
                </a:lnTo>
                <a:lnTo>
                  <a:pt x="3893" y="932"/>
                </a:lnTo>
                <a:lnTo>
                  <a:pt x="3884" y="932"/>
                </a:lnTo>
                <a:lnTo>
                  <a:pt x="3878" y="932"/>
                </a:lnTo>
                <a:lnTo>
                  <a:pt x="3871" y="932"/>
                </a:lnTo>
                <a:lnTo>
                  <a:pt x="3866" y="931"/>
                </a:lnTo>
                <a:lnTo>
                  <a:pt x="3860" y="930"/>
                </a:lnTo>
                <a:lnTo>
                  <a:pt x="3855" y="928"/>
                </a:lnTo>
                <a:lnTo>
                  <a:pt x="3850" y="926"/>
                </a:lnTo>
                <a:lnTo>
                  <a:pt x="3845" y="924"/>
                </a:lnTo>
                <a:lnTo>
                  <a:pt x="3841" y="921"/>
                </a:lnTo>
                <a:lnTo>
                  <a:pt x="3837" y="917"/>
                </a:lnTo>
                <a:lnTo>
                  <a:pt x="3834" y="914"/>
                </a:lnTo>
                <a:lnTo>
                  <a:pt x="3831" y="909"/>
                </a:lnTo>
                <a:lnTo>
                  <a:pt x="3829" y="905"/>
                </a:lnTo>
                <a:lnTo>
                  <a:pt x="3827" y="900"/>
                </a:lnTo>
                <a:lnTo>
                  <a:pt x="3826" y="894"/>
                </a:lnTo>
                <a:lnTo>
                  <a:pt x="3825" y="888"/>
                </a:lnTo>
                <a:lnTo>
                  <a:pt x="3825" y="882"/>
                </a:lnTo>
                <a:lnTo>
                  <a:pt x="3825" y="790"/>
                </a:lnTo>
                <a:lnTo>
                  <a:pt x="3801" y="790"/>
                </a:lnTo>
                <a:lnTo>
                  <a:pt x="3801" y="753"/>
                </a:lnTo>
                <a:lnTo>
                  <a:pt x="3825" y="753"/>
                </a:lnTo>
                <a:lnTo>
                  <a:pt x="3825" y="711"/>
                </a:lnTo>
                <a:lnTo>
                  <a:pt x="3874" y="711"/>
                </a:lnTo>
                <a:lnTo>
                  <a:pt x="3874" y="753"/>
                </a:lnTo>
                <a:lnTo>
                  <a:pt x="3908" y="753"/>
                </a:lnTo>
                <a:close/>
                <a:moveTo>
                  <a:pt x="3974" y="996"/>
                </a:moveTo>
                <a:lnTo>
                  <a:pt x="3965" y="996"/>
                </a:lnTo>
                <a:lnTo>
                  <a:pt x="3956" y="995"/>
                </a:lnTo>
                <a:lnTo>
                  <a:pt x="3949" y="993"/>
                </a:lnTo>
                <a:lnTo>
                  <a:pt x="3943" y="991"/>
                </a:lnTo>
                <a:lnTo>
                  <a:pt x="3954" y="954"/>
                </a:lnTo>
                <a:lnTo>
                  <a:pt x="3960" y="956"/>
                </a:lnTo>
                <a:lnTo>
                  <a:pt x="3966" y="957"/>
                </a:lnTo>
                <a:lnTo>
                  <a:pt x="3971" y="957"/>
                </a:lnTo>
                <a:lnTo>
                  <a:pt x="3976" y="957"/>
                </a:lnTo>
                <a:lnTo>
                  <a:pt x="3978" y="956"/>
                </a:lnTo>
                <a:lnTo>
                  <a:pt x="3980" y="955"/>
                </a:lnTo>
                <a:lnTo>
                  <a:pt x="3984" y="952"/>
                </a:lnTo>
                <a:lnTo>
                  <a:pt x="3987" y="948"/>
                </a:lnTo>
                <a:lnTo>
                  <a:pt x="3990" y="942"/>
                </a:lnTo>
                <a:lnTo>
                  <a:pt x="3993" y="935"/>
                </a:lnTo>
                <a:lnTo>
                  <a:pt x="3930" y="753"/>
                </a:lnTo>
                <a:lnTo>
                  <a:pt x="3981" y="753"/>
                </a:lnTo>
                <a:lnTo>
                  <a:pt x="4018" y="883"/>
                </a:lnTo>
                <a:lnTo>
                  <a:pt x="4056" y="753"/>
                </a:lnTo>
                <a:lnTo>
                  <a:pt x="4108" y="753"/>
                </a:lnTo>
                <a:lnTo>
                  <a:pt x="4040" y="949"/>
                </a:lnTo>
                <a:lnTo>
                  <a:pt x="4035" y="959"/>
                </a:lnTo>
                <a:lnTo>
                  <a:pt x="4033" y="964"/>
                </a:lnTo>
                <a:lnTo>
                  <a:pt x="4030" y="968"/>
                </a:lnTo>
                <a:lnTo>
                  <a:pt x="4024" y="976"/>
                </a:lnTo>
                <a:lnTo>
                  <a:pt x="4017" y="983"/>
                </a:lnTo>
                <a:lnTo>
                  <a:pt x="4013" y="986"/>
                </a:lnTo>
                <a:lnTo>
                  <a:pt x="4008" y="989"/>
                </a:lnTo>
                <a:lnTo>
                  <a:pt x="4003" y="991"/>
                </a:lnTo>
                <a:lnTo>
                  <a:pt x="3998" y="993"/>
                </a:lnTo>
                <a:lnTo>
                  <a:pt x="3993" y="994"/>
                </a:lnTo>
                <a:lnTo>
                  <a:pt x="3987" y="995"/>
                </a:lnTo>
                <a:lnTo>
                  <a:pt x="3980" y="996"/>
                </a:lnTo>
                <a:lnTo>
                  <a:pt x="3974" y="996"/>
                </a:lnTo>
                <a:close/>
                <a:moveTo>
                  <a:pt x="1623" y="590"/>
                </a:moveTo>
                <a:lnTo>
                  <a:pt x="1569" y="590"/>
                </a:lnTo>
                <a:lnTo>
                  <a:pt x="1651" y="354"/>
                </a:lnTo>
                <a:lnTo>
                  <a:pt x="1715" y="354"/>
                </a:lnTo>
                <a:lnTo>
                  <a:pt x="1797" y="590"/>
                </a:lnTo>
                <a:lnTo>
                  <a:pt x="1743" y="590"/>
                </a:lnTo>
                <a:lnTo>
                  <a:pt x="1726" y="536"/>
                </a:lnTo>
                <a:lnTo>
                  <a:pt x="1641" y="536"/>
                </a:lnTo>
                <a:lnTo>
                  <a:pt x="1623" y="590"/>
                </a:lnTo>
                <a:close/>
                <a:moveTo>
                  <a:pt x="1653" y="497"/>
                </a:moveTo>
                <a:lnTo>
                  <a:pt x="1713" y="497"/>
                </a:lnTo>
                <a:lnTo>
                  <a:pt x="1684" y="408"/>
                </a:lnTo>
                <a:lnTo>
                  <a:pt x="1653" y="497"/>
                </a:lnTo>
                <a:close/>
                <a:moveTo>
                  <a:pt x="1874" y="593"/>
                </a:moveTo>
                <a:lnTo>
                  <a:pt x="1867" y="593"/>
                </a:lnTo>
                <a:lnTo>
                  <a:pt x="1861" y="592"/>
                </a:lnTo>
                <a:lnTo>
                  <a:pt x="1856" y="591"/>
                </a:lnTo>
                <a:lnTo>
                  <a:pt x="1850" y="590"/>
                </a:lnTo>
                <a:lnTo>
                  <a:pt x="1845" y="588"/>
                </a:lnTo>
                <a:lnTo>
                  <a:pt x="1840" y="586"/>
                </a:lnTo>
                <a:lnTo>
                  <a:pt x="1836" y="583"/>
                </a:lnTo>
                <a:lnTo>
                  <a:pt x="1832" y="580"/>
                </a:lnTo>
                <a:lnTo>
                  <a:pt x="1828" y="576"/>
                </a:lnTo>
                <a:lnTo>
                  <a:pt x="1824" y="572"/>
                </a:lnTo>
                <a:lnTo>
                  <a:pt x="1821" y="568"/>
                </a:lnTo>
                <a:lnTo>
                  <a:pt x="1820" y="566"/>
                </a:lnTo>
                <a:lnTo>
                  <a:pt x="1819" y="563"/>
                </a:lnTo>
                <a:lnTo>
                  <a:pt x="1817" y="558"/>
                </a:lnTo>
                <a:lnTo>
                  <a:pt x="1816" y="553"/>
                </a:lnTo>
                <a:lnTo>
                  <a:pt x="1815" y="547"/>
                </a:lnTo>
                <a:lnTo>
                  <a:pt x="1815" y="540"/>
                </a:lnTo>
                <a:lnTo>
                  <a:pt x="1815" y="531"/>
                </a:lnTo>
                <a:lnTo>
                  <a:pt x="1817" y="523"/>
                </a:lnTo>
                <a:lnTo>
                  <a:pt x="1818" y="519"/>
                </a:lnTo>
                <a:lnTo>
                  <a:pt x="1820" y="515"/>
                </a:lnTo>
                <a:lnTo>
                  <a:pt x="1824" y="509"/>
                </a:lnTo>
                <a:lnTo>
                  <a:pt x="1827" y="507"/>
                </a:lnTo>
                <a:lnTo>
                  <a:pt x="1829" y="504"/>
                </a:lnTo>
                <a:lnTo>
                  <a:pt x="1832" y="502"/>
                </a:lnTo>
                <a:lnTo>
                  <a:pt x="1835" y="499"/>
                </a:lnTo>
                <a:lnTo>
                  <a:pt x="1838" y="497"/>
                </a:lnTo>
                <a:lnTo>
                  <a:pt x="1841" y="496"/>
                </a:lnTo>
                <a:lnTo>
                  <a:pt x="1845" y="494"/>
                </a:lnTo>
                <a:lnTo>
                  <a:pt x="1849" y="493"/>
                </a:lnTo>
                <a:lnTo>
                  <a:pt x="1856" y="490"/>
                </a:lnTo>
                <a:lnTo>
                  <a:pt x="1864" y="488"/>
                </a:lnTo>
                <a:lnTo>
                  <a:pt x="1873" y="487"/>
                </a:lnTo>
                <a:lnTo>
                  <a:pt x="1881" y="486"/>
                </a:lnTo>
                <a:lnTo>
                  <a:pt x="1901" y="484"/>
                </a:lnTo>
                <a:lnTo>
                  <a:pt x="1908" y="482"/>
                </a:lnTo>
                <a:lnTo>
                  <a:pt x="1914" y="481"/>
                </a:lnTo>
                <a:lnTo>
                  <a:pt x="1918" y="479"/>
                </a:lnTo>
                <a:lnTo>
                  <a:pt x="1920" y="478"/>
                </a:lnTo>
                <a:lnTo>
                  <a:pt x="1922" y="477"/>
                </a:lnTo>
                <a:lnTo>
                  <a:pt x="1923" y="476"/>
                </a:lnTo>
                <a:lnTo>
                  <a:pt x="1923" y="474"/>
                </a:lnTo>
                <a:lnTo>
                  <a:pt x="1924" y="472"/>
                </a:lnTo>
                <a:lnTo>
                  <a:pt x="1924" y="470"/>
                </a:lnTo>
                <a:lnTo>
                  <a:pt x="1924" y="464"/>
                </a:lnTo>
                <a:lnTo>
                  <a:pt x="1922" y="460"/>
                </a:lnTo>
                <a:lnTo>
                  <a:pt x="1921" y="458"/>
                </a:lnTo>
                <a:lnTo>
                  <a:pt x="1920" y="456"/>
                </a:lnTo>
                <a:lnTo>
                  <a:pt x="1919" y="454"/>
                </a:lnTo>
                <a:lnTo>
                  <a:pt x="1917" y="452"/>
                </a:lnTo>
                <a:lnTo>
                  <a:pt x="1913" y="450"/>
                </a:lnTo>
                <a:lnTo>
                  <a:pt x="1909" y="448"/>
                </a:lnTo>
                <a:lnTo>
                  <a:pt x="1904" y="447"/>
                </a:lnTo>
                <a:lnTo>
                  <a:pt x="1898" y="446"/>
                </a:lnTo>
                <a:lnTo>
                  <a:pt x="1892" y="447"/>
                </a:lnTo>
                <a:lnTo>
                  <a:pt x="1886" y="448"/>
                </a:lnTo>
                <a:lnTo>
                  <a:pt x="1881" y="450"/>
                </a:lnTo>
                <a:lnTo>
                  <a:pt x="1877" y="452"/>
                </a:lnTo>
                <a:lnTo>
                  <a:pt x="1873" y="455"/>
                </a:lnTo>
                <a:lnTo>
                  <a:pt x="1870" y="459"/>
                </a:lnTo>
                <a:lnTo>
                  <a:pt x="1868" y="463"/>
                </a:lnTo>
                <a:lnTo>
                  <a:pt x="1867" y="465"/>
                </a:lnTo>
                <a:lnTo>
                  <a:pt x="1866" y="467"/>
                </a:lnTo>
                <a:lnTo>
                  <a:pt x="1821" y="463"/>
                </a:lnTo>
                <a:lnTo>
                  <a:pt x="1823" y="457"/>
                </a:lnTo>
                <a:lnTo>
                  <a:pt x="1825" y="452"/>
                </a:lnTo>
                <a:lnTo>
                  <a:pt x="1827" y="446"/>
                </a:lnTo>
                <a:lnTo>
                  <a:pt x="1830" y="441"/>
                </a:lnTo>
                <a:lnTo>
                  <a:pt x="1833" y="437"/>
                </a:lnTo>
                <a:lnTo>
                  <a:pt x="1837" y="432"/>
                </a:lnTo>
                <a:lnTo>
                  <a:pt x="1841" y="428"/>
                </a:lnTo>
                <a:lnTo>
                  <a:pt x="1846" y="425"/>
                </a:lnTo>
                <a:lnTo>
                  <a:pt x="1851" y="421"/>
                </a:lnTo>
                <a:lnTo>
                  <a:pt x="1857" y="419"/>
                </a:lnTo>
                <a:lnTo>
                  <a:pt x="1863" y="416"/>
                </a:lnTo>
                <a:lnTo>
                  <a:pt x="1869" y="414"/>
                </a:lnTo>
                <a:lnTo>
                  <a:pt x="1876" y="413"/>
                </a:lnTo>
                <a:lnTo>
                  <a:pt x="1883" y="412"/>
                </a:lnTo>
                <a:lnTo>
                  <a:pt x="1890" y="411"/>
                </a:lnTo>
                <a:lnTo>
                  <a:pt x="1898" y="411"/>
                </a:lnTo>
                <a:lnTo>
                  <a:pt x="1908" y="411"/>
                </a:lnTo>
                <a:lnTo>
                  <a:pt x="1917" y="412"/>
                </a:lnTo>
                <a:lnTo>
                  <a:pt x="1926" y="414"/>
                </a:lnTo>
                <a:lnTo>
                  <a:pt x="1935" y="417"/>
                </a:lnTo>
                <a:lnTo>
                  <a:pt x="1943" y="420"/>
                </a:lnTo>
                <a:lnTo>
                  <a:pt x="1947" y="422"/>
                </a:lnTo>
                <a:lnTo>
                  <a:pt x="1950" y="425"/>
                </a:lnTo>
                <a:lnTo>
                  <a:pt x="1957" y="430"/>
                </a:lnTo>
                <a:lnTo>
                  <a:pt x="1963" y="436"/>
                </a:lnTo>
                <a:lnTo>
                  <a:pt x="1965" y="440"/>
                </a:lnTo>
                <a:lnTo>
                  <a:pt x="1967" y="443"/>
                </a:lnTo>
                <a:lnTo>
                  <a:pt x="1969" y="447"/>
                </a:lnTo>
                <a:lnTo>
                  <a:pt x="1970" y="451"/>
                </a:lnTo>
                <a:lnTo>
                  <a:pt x="1972" y="456"/>
                </a:lnTo>
                <a:lnTo>
                  <a:pt x="1972" y="460"/>
                </a:lnTo>
                <a:lnTo>
                  <a:pt x="1973" y="465"/>
                </a:lnTo>
                <a:lnTo>
                  <a:pt x="1973" y="470"/>
                </a:lnTo>
                <a:lnTo>
                  <a:pt x="1973" y="590"/>
                </a:lnTo>
                <a:lnTo>
                  <a:pt x="1927" y="590"/>
                </a:lnTo>
                <a:lnTo>
                  <a:pt x="1927" y="565"/>
                </a:lnTo>
                <a:lnTo>
                  <a:pt x="1922" y="571"/>
                </a:lnTo>
                <a:lnTo>
                  <a:pt x="1917" y="576"/>
                </a:lnTo>
                <a:lnTo>
                  <a:pt x="1912" y="581"/>
                </a:lnTo>
                <a:lnTo>
                  <a:pt x="1906" y="585"/>
                </a:lnTo>
                <a:lnTo>
                  <a:pt x="1899" y="589"/>
                </a:lnTo>
                <a:lnTo>
                  <a:pt x="1891" y="591"/>
                </a:lnTo>
                <a:lnTo>
                  <a:pt x="1887" y="592"/>
                </a:lnTo>
                <a:lnTo>
                  <a:pt x="1883" y="592"/>
                </a:lnTo>
                <a:lnTo>
                  <a:pt x="1874" y="593"/>
                </a:lnTo>
                <a:close/>
                <a:moveTo>
                  <a:pt x="1888" y="559"/>
                </a:moveTo>
                <a:lnTo>
                  <a:pt x="1895" y="559"/>
                </a:lnTo>
                <a:lnTo>
                  <a:pt x="1902" y="557"/>
                </a:lnTo>
                <a:lnTo>
                  <a:pt x="1905" y="556"/>
                </a:lnTo>
                <a:lnTo>
                  <a:pt x="1908" y="554"/>
                </a:lnTo>
                <a:lnTo>
                  <a:pt x="1914" y="550"/>
                </a:lnTo>
                <a:lnTo>
                  <a:pt x="1916" y="547"/>
                </a:lnTo>
                <a:lnTo>
                  <a:pt x="1919" y="545"/>
                </a:lnTo>
                <a:lnTo>
                  <a:pt x="1922" y="539"/>
                </a:lnTo>
                <a:lnTo>
                  <a:pt x="1924" y="533"/>
                </a:lnTo>
                <a:lnTo>
                  <a:pt x="1924" y="530"/>
                </a:lnTo>
                <a:lnTo>
                  <a:pt x="1924" y="527"/>
                </a:lnTo>
                <a:lnTo>
                  <a:pt x="1924" y="508"/>
                </a:lnTo>
                <a:lnTo>
                  <a:pt x="1921" y="510"/>
                </a:lnTo>
                <a:lnTo>
                  <a:pt x="1915" y="511"/>
                </a:lnTo>
                <a:lnTo>
                  <a:pt x="1903" y="514"/>
                </a:lnTo>
                <a:lnTo>
                  <a:pt x="1890" y="516"/>
                </a:lnTo>
                <a:lnTo>
                  <a:pt x="1884" y="517"/>
                </a:lnTo>
                <a:lnTo>
                  <a:pt x="1879" y="518"/>
                </a:lnTo>
                <a:lnTo>
                  <a:pt x="1874" y="520"/>
                </a:lnTo>
                <a:lnTo>
                  <a:pt x="1870" y="523"/>
                </a:lnTo>
                <a:lnTo>
                  <a:pt x="1866" y="526"/>
                </a:lnTo>
                <a:lnTo>
                  <a:pt x="1864" y="530"/>
                </a:lnTo>
                <a:lnTo>
                  <a:pt x="1863" y="532"/>
                </a:lnTo>
                <a:lnTo>
                  <a:pt x="1862" y="534"/>
                </a:lnTo>
                <a:lnTo>
                  <a:pt x="1862" y="539"/>
                </a:lnTo>
                <a:lnTo>
                  <a:pt x="1862" y="543"/>
                </a:lnTo>
                <a:lnTo>
                  <a:pt x="1863" y="548"/>
                </a:lnTo>
                <a:lnTo>
                  <a:pt x="1865" y="549"/>
                </a:lnTo>
                <a:lnTo>
                  <a:pt x="1866" y="551"/>
                </a:lnTo>
                <a:lnTo>
                  <a:pt x="1869" y="554"/>
                </a:lnTo>
                <a:lnTo>
                  <a:pt x="1873" y="556"/>
                </a:lnTo>
                <a:lnTo>
                  <a:pt x="1875" y="557"/>
                </a:lnTo>
                <a:lnTo>
                  <a:pt x="1877" y="558"/>
                </a:lnTo>
                <a:lnTo>
                  <a:pt x="1882" y="559"/>
                </a:lnTo>
                <a:lnTo>
                  <a:pt x="1888" y="559"/>
                </a:lnTo>
                <a:close/>
                <a:moveTo>
                  <a:pt x="2063" y="590"/>
                </a:moveTo>
                <a:lnTo>
                  <a:pt x="2013" y="590"/>
                </a:lnTo>
                <a:lnTo>
                  <a:pt x="2013" y="354"/>
                </a:lnTo>
                <a:lnTo>
                  <a:pt x="2063" y="354"/>
                </a:lnTo>
                <a:lnTo>
                  <a:pt x="2063" y="590"/>
                </a:lnTo>
                <a:close/>
                <a:moveTo>
                  <a:pt x="2197" y="413"/>
                </a:moveTo>
                <a:lnTo>
                  <a:pt x="2197" y="450"/>
                </a:lnTo>
                <a:lnTo>
                  <a:pt x="2164" y="450"/>
                </a:lnTo>
                <a:lnTo>
                  <a:pt x="2164" y="535"/>
                </a:lnTo>
                <a:lnTo>
                  <a:pt x="2164" y="540"/>
                </a:lnTo>
                <a:lnTo>
                  <a:pt x="2165" y="544"/>
                </a:lnTo>
                <a:lnTo>
                  <a:pt x="2166" y="545"/>
                </a:lnTo>
                <a:lnTo>
                  <a:pt x="2167" y="547"/>
                </a:lnTo>
                <a:lnTo>
                  <a:pt x="2169" y="549"/>
                </a:lnTo>
                <a:lnTo>
                  <a:pt x="2171" y="551"/>
                </a:lnTo>
                <a:lnTo>
                  <a:pt x="2174" y="552"/>
                </a:lnTo>
                <a:lnTo>
                  <a:pt x="2177" y="552"/>
                </a:lnTo>
                <a:lnTo>
                  <a:pt x="2181" y="553"/>
                </a:lnTo>
                <a:lnTo>
                  <a:pt x="2188" y="552"/>
                </a:lnTo>
                <a:lnTo>
                  <a:pt x="2193" y="551"/>
                </a:lnTo>
                <a:lnTo>
                  <a:pt x="2201" y="587"/>
                </a:lnTo>
                <a:lnTo>
                  <a:pt x="2190" y="590"/>
                </a:lnTo>
                <a:lnTo>
                  <a:pt x="2183" y="591"/>
                </a:lnTo>
                <a:lnTo>
                  <a:pt x="2174" y="592"/>
                </a:lnTo>
                <a:lnTo>
                  <a:pt x="2168" y="592"/>
                </a:lnTo>
                <a:lnTo>
                  <a:pt x="2161" y="592"/>
                </a:lnTo>
                <a:lnTo>
                  <a:pt x="2156" y="591"/>
                </a:lnTo>
                <a:lnTo>
                  <a:pt x="2150" y="590"/>
                </a:lnTo>
                <a:lnTo>
                  <a:pt x="2145" y="588"/>
                </a:lnTo>
                <a:lnTo>
                  <a:pt x="2140" y="586"/>
                </a:lnTo>
                <a:lnTo>
                  <a:pt x="2135" y="583"/>
                </a:lnTo>
                <a:lnTo>
                  <a:pt x="2131" y="581"/>
                </a:lnTo>
                <a:lnTo>
                  <a:pt x="2127" y="577"/>
                </a:lnTo>
                <a:lnTo>
                  <a:pt x="2124" y="573"/>
                </a:lnTo>
                <a:lnTo>
                  <a:pt x="2121" y="569"/>
                </a:lnTo>
                <a:lnTo>
                  <a:pt x="2119" y="564"/>
                </a:lnTo>
                <a:lnTo>
                  <a:pt x="2117" y="559"/>
                </a:lnTo>
                <a:lnTo>
                  <a:pt x="2116" y="554"/>
                </a:lnTo>
                <a:lnTo>
                  <a:pt x="2115" y="548"/>
                </a:lnTo>
                <a:lnTo>
                  <a:pt x="2115" y="542"/>
                </a:lnTo>
                <a:lnTo>
                  <a:pt x="2115" y="450"/>
                </a:lnTo>
                <a:lnTo>
                  <a:pt x="2091" y="450"/>
                </a:lnTo>
                <a:lnTo>
                  <a:pt x="2091" y="413"/>
                </a:lnTo>
                <a:lnTo>
                  <a:pt x="2115" y="413"/>
                </a:lnTo>
                <a:lnTo>
                  <a:pt x="2115" y="371"/>
                </a:lnTo>
                <a:lnTo>
                  <a:pt x="2164" y="371"/>
                </a:lnTo>
                <a:lnTo>
                  <a:pt x="2164" y="413"/>
                </a:lnTo>
                <a:lnTo>
                  <a:pt x="2197" y="413"/>
                </a:lnTo>
                <a:close/>
                <a:moveTo>
                  <a:pt x="2304" y="593"/>
                </a:moveTo>
                <a:lnTo>
                  <a:pt x="2291" y="592"/>
                </a:lnTo>
                <a:lnTo>
                  <a:pt x="2285" y="591"/>
                </a:lnTo>
                <a:lnTo>
                  <a:pt x="2279" y="590"/>
                </a:lnTo>
                <a:lnTo>
                  <a:pt x="2268" y="587"/>
                </a:lnTo>
                <a:lnTo>
                  <a:pt x="2263" y="584"/>
                </a:lnTo>
                <a:lnTo>
                  <a:pt x="2258" y="582"/>
                </a:lnTo>
                <a:lnTo>
                  <a:pt x="2249" y="575"/>
                </a:lnTo>
                <a:lnTo>
                  <a:pt x="2245" y="572"/>
                </a:lnTo>
                <a:lnTo>
                  <a:pt x="2241" y="568"/>
                </a:lnTo>
                <a:lnTo>
                  <a:pt x="2234" y="559"/>
                </a:lnTo>
                <a:lnTo>
                  <a:pt x="2231" y="555"/>
                </a:lnTo>
                <a:lnTo>
                  <a:pt x="2228" y="550"/>
                </a:lnTo>
                <a:lnTo>
                  <a:pt x="2223" y="539"/>
                </a:lnTo>
                <a:lnTo>
                  <a:pt x="2221" y="533"/>
                </a:lnTo>
                <a:lnTo>
                  <a:pt x="2220" y="527"/>
                </a:lnTo>
                <a:lnTo>
                  <a:pt x="2219" y="521"/>
                </a:lnTo>
                <a:lnTo>
                  <a:pt x="2218" y="515"/>
                </a:lnTo>
                <a:lnTo>
                  <a:pt x="2218" y="509"/>
                </a:lnTo>
                <a:lnTo>
                  <a:pt x="2217" y="502"/>
                </a:lnTo>
                <a:lnTo>
                  <a:pt x="2218" y="495"/>
                </a:lnTo>
                <a:lnTo>
                  <a:pt x="2218" y="489"/>
                </a:lnTo>
                <a:lnTo>
                  <a:pt x="2219" y="482"/>
                </a:lnTo>
                <a:lnTo>
                  <a:pt x="2220" y="476"/>
                </a:lnTo>
                <a:lnTo>
                  <a:pt x="2223" y="465"/>
                </a:lnTo>
                <a:lnTo>
                  <a:pt x="2225" y="459"/>
                </a:lnTo>
                <a:lnTo>
                  <a:pt x="2228" y="454"/>
                </a:lnTo>
                <a:lnTo>
                  <a:pt x="2234" y="444"/>
                </a:lnTo>
                <a:lnTo>
                  <a:pt x="2237" y="440"/>
                </a:lnTo>
                <a:lnTo>
                  <a:pt x="2241" y="436"/>
                </a:lnTo>
                <a:lnTo>
                  <a:pt x="2245" y="432"/>
                </a:lnTo>
                <a:lnTo>
                  <a:pt x="2249" y="428"/>
                </a:lnTo>
                <a:lnTo>
                  <a:pt x="2253" y="425"/>
                </a:lnTo>
                <a:lnTo>
                  <a:pt x="2258" y="422"/>
                </a:lnTo>
                <a:lnTo>
                  <a:pt x="2263" y="419"/>
                </a:lnTo>
                <a:lnTo>
                  <a:pt x="2268" y="417"/>
                </a:lnTo>
                <a:lnTo>
                  <a:pt x="2274" y="415"/>
                </a:lnTo>
                <a:lnTo>
                  <a:pt x="2279" y="413"/>
                </a:lnTo>
                <a:lnTo>
                  <a:pt x="2285" y="412"/>
                </a:lnTo>
                <a:lnTo>
                  <a:pt x="2291" y="411"/>
                </a:lnTo>
                <a:lnTo>
                  <a:pt x="2304" y="411"/>
                </a:lnTo>
                <a:lnTo>
                  <a:pt x="2317" y="411"/>
                </a:lnTo>
                <a:lnTo>
                  <a:pt x="2323" y="412"/>
                </a:lnTo>
                <a:lnTo>
                  <a:pt x="2329" y="413"/>
                </a:lnTo>
                <a:lnTo>
                  <a:pt x="2340" y="417"/>
                </a:lnTo>
                <a:lnTo>
                  <a:pt x="2346" y="419"/>
                </a:lnTo>
                <a:lnTo>
                  <a:pt x="2351" y="422"/>
                </a:lnTo>
                <a:lnTo>
                  <a:pt x="2360" y="428"/>
                </a:lnTo>
                <a:lnTo>
                  <a:pt x="2364" y="432"/>
                </a:lnTo>
                <a:lnTo>
                  <a:pt x="2368" y="436"/>
                </a:lnTo>
                <a:lnTo>
                  <a:pt x="2375" y="444"/>
                </a:lnTo>
                <a:lnTo>
                  <a:pt x="2378" y="449"/>
                </a:lnTo>
                <a:lnTo>
                  <a:pt x="2381" y="454"/>
                </a:lnTo>
                <a:lnTo>
                  <a:pt x="2385" y="465"/>
                </a:lnTo>
                <a:lnTo>
                  <a:pt x="2387" y="470"/>
                </a:lnTo>
                <a:lnTo>
                  <a:pt x="2389" y="476"/>
                </a:lnTo>
                <a:lnTo>
                  <a:pt x="2390" y="482"/>
                </a:lnTo>
                <a:lnTo>
                  <a:pt x="2391" y="489"/>
                </a:lnTo>
                <a:lnTo>
                  <a:pt x="2391" y="495"/>
                </a:lnTo>
                <a:lnTo>
                  <a:pt x="2391" y="502"/>
                </a:lnTo>
                <a:lnTo>
                  <a:pt x="2391" y="509"/>
                </a:lnTo>
                <a:lnTo>
                  <a:pt x="2391" y="515"/>
                </a:lnTo>
                <a:lnTo>
                  <a:pt x="2390" y="521"/>
                </a:lnTo>
                <a:lnTo>
                  <a:pt x="2389" y="527"/>
                </a:lnTo>
                <a:lnTo>
                  <a:pt x="2385" y="539"/>
                </a:lnTo>
                <a:lnTo>
                  <a:pt x="2383" y="544"/>
                </a:lnTo>
                <a:lnTo>
                  <a:pt x="2381" y="550"/>
                </a:lnTo>
                <a:lnTo>
                  <a:pt x="2375" y="559"/>
                </a:lnTo>
                <a:lnTo>
                  <a:pt x="2372" y="564"/>
                </a:lnTo>
                <a:lnTo>
                  <a:pt x="2368" y="568"/>
                </a:lnTo>
                <a:lnTo>
                  <a:pt x="2364" y="572"/>
                </a:lnTo>
                <a:lnTo>
                  <a:pt x="2360" y="575"/>
                </a:lnTo>
                <a:lnTo>
                  <a:pt x="2355" y="579"/>
                </a:lnTo>
                <a:lnTo>
                  <a:pt x="2351" y="582"/>
                </a:lnTo>
                <a:lnTo>
                  <a:pt x="2346" y="584"/>
                </a:lnTo>
                <a:lnTo>
                  <a:pt x="2340" y="587"/>
                </a:lnTo>
                <a:lnTo>
                  <a:pt x="2335" y="589"/>
                </a:lnTo>
                <a:lnTo>
                  <a:pt x="2329" y="590"/>
                </a:lnTo>
                <a:lnTo>
                  <a:pt x="2323" y="591"/>
                </a:lnTo>
                <a:lnTo>
                  <a:pt x="2317" y="592"/>
                </a:lnTo>
                <a:lnTo>
                  <a:pt x="2304" y="593"/>
                </a:lnTo>
                <a:close/>
                <a:moveTo>
                  <a:pt x="2305" y="555"/>
                </a:moveTo>
                <a:lnTo>
                  <a:pt x="2309" y="555"/>
                </a:lnTo>
                <a:lnTo>
                  <a:pt x="2313" y="554"/>
                </a:lnTo>
                <a:lnTo>
                  <a:pt x="2317" y="553"/>
                </a:lnTo>
                <a:lnTo>
                  <a:pt x="2321" y="551"/>
                </a:lnTo>
                <a:lnTo>
                  <a:pt x="2324" y="549"/>
                </a:lnTo>
                <a:lnTo>
                  <a:pt x="2327" y="547"/>
                </a:lnTo>
                <a:lnTo>
                  <a:pt x="2330" y="544"/>
                </a:lnTo>
                <a:lnTo>
                  <a:pt x="2332" y="540"/>
                </a:lnTo>
                <a:lnTo>
                  <a:pt x="2334" y="536"/>
                </a:lnTo>
                <a:lnTo>
                  <a:pt x="2336" y="532"/>
                </a:lnTo>
                <a:lnTo>
                  <a:pt x="2338" y="527"/>
                </a:lnTo>
                <a:lnTo>
                  <a:pt x="2339" y="523"/>
                </a:lnTo>
                <a:lnTo>
                  <a:pt x="2341" y="513"/>
                </a:lnTo>
                <a:lnTo>
                  <a:pt x="2341" y="507"/>
                </a:lnTo>
                <a:lnTo>
                  <a:pt x="2342" y="502"/>
                </a:lnTo>
                <a:lnTo>
                  <a:pt x="2341" y="491"/>
                </a:lnTo>
                <a:lnTo>
                  <a:pt x="2339" y="480"/>
                </a:lnTo>
                <a:lnTo>
                  <a:pt x="2338" y="476"/>
                </a:lnTo>
                <a:lnTo>
                  <a:pt x="2336" y="471"/>
                </a:lnTo>
                <a:lnTo>
                  <a:pt x="2332" y="463"/>
                </a:lnTo>
                <a:lnTo>
                  <a:pt x="2330" y="460"/>
                </a:lnTo>
                <a:lnTo>
                  <a:pt x="2327" y="457"/>
                </a:lnTo>
                <a:lnTo>
                  <a:pt x="2324" y="454"/>
                </a:lnTo>
                <a:lnTo>
                  <a:pt x="2321" y="452"/>
                </a:lnTo>
                <a:lnTo>
                  <a:pt x="2317" y="450"/>
                </a:lnTo>
                <a:lnTo>
                  <a:pt x="2313" y="449"/>
                </a:lnTo>
                <a:lnTo>
                  <a:pt x="2309" y="448"/>
                </a:lnTo>
                <a:lnTo>
                  <a:pt x="2305" y="448"/>
                </a:lnTo>
                <a:lnTo>
                  <a:pt x="2300" y="448"/>
                </a:lnTo>
                <a:lnTo>
                  <a:pt x="2296" y="449"/>
                </a:lnTo>
                <a:lnTo>
                  <a:pt x="2292" y="450"/>
                </a:lnTo>
                <a:lnTo>
                  <a:pt x="2288" y="452"/>
                </a:lnTo>
                <a:lnTo>
                  <a:pt x="2285" y="454"/>
                </a:lnTo>
                <a:lnTo>
                  <a:pt x="2282" y="457"/>
                </a:lnTo>
                <a:lnTo>
                  <a:pt x="2279" y="460"/>
                </a:lnTo>
                <a:lnTo>
                  <a:pt x="2277" y="463"/>
                </a:lnTo>
                <a:lnTo>
                  <a:pt x="2272" y="471"/>
                </a:lnTo>
                <a:lnTo>
                  <a:pt x="2271" y="476"/>
                </a:lnTo>
                <a:lnTo>
                  <a:pt x="2270" y="480"/>
                </a:lnTo>
                <a:lnTo>
                  <a:pt x="2269" y="485"/>
                </a:lnTo>
                <a:lnTo>
                  <a:pt x="2268" y="491"/>
                </a:lnTo>
                <a:lnTo>
                  <a:pt x="2267" y="496"/>
                </a:lnTo>
                <a:lnTo>
                  <a:pt x="2267" y="502"/>
                </a:lnTo>
                <a:lnTo>
                  <a:pt x="2268" y="513"/>
                </a:lnTo>
                <a:lnTo>
                  <a:pt x="2270" y="523"/>
                </a:lnTo>
                <a:lnTo>
                  <a:pt x="2271" y="527"/>
                </a:lnTo>
                <a:lnTo>
                  <a:pt x="2272" y="532"/>
                </a:lnTo>
                <a:lnTo>
                  <a:pt x="2274" y="536"/>
                </a:lnTo>
                <a:lnTo>
                  <a:pt x="2277" y="540"/>
                </a:lnTo>
                <a:lnTo>
                  <a:pt x="2279" y="544"/>
                </a:lnTo>
                <a:lnTo>
                  <a:pt x="2282" y="547"/>
                </a:lnTo>
                <a:lnTo>
                  <a:pt x="2285" y="549"/>
                </a:lnTo>
                <a:lnTo>
                  <a:pt x="2288" y="551"/>
                </a:lnTo>
                <a:lnTo>
                  <a:pt x="2292" y="553"/>
                </a:lnTo>
                <a:lnTo>
                  <a:pt x="2296" y="554"/>
                </a:lnTo>
                <a:lnTo>
                  <a:pt x="2300" y="555"/>
                </a:lnTo>
                <a:lnTo>
                  <a:pt x="2305" y="555"/>
                </a:lnTo>
                <a:close/>
                <a:moveTo>
                  <a:pt x="2539" y="512"/>
                </a:moveTo>
                <a:lnTo>
                  <a:pt x="2430" y="512"/>
                </a:lnTo>
                <a:lnTo>
                  <a:pt x="2430" y="473"/>
                </a:lnTo>
                <a:lnTo>
                  <a:pt x="2539" y="473"/>
                </a:lnTo>
                <a:lnTo>
                  <a:pt x="2539" y="512"/>
                </a:lnTo>
                <a:close/>
                <a:moveTo>
                  <a:pt x="2695" y="514"/>
                </a:moveTo>
                <a:lnTo>
                  <a:pt x="2695" y="413"/>
                </a:lnTo>
                <a:lnTo>
                  <a:pt x="2744" y="413"/>
                </a:lnTo>
                <a:lnTo>
                  <a:pt x="2744" y="590"/>
                </a:lnTo>
                <a:lnTo>
                  <a:pt x="2697" y="590"/>
                </a:lnTo>
                <a:lnTo>
                  <a:pt x="2697" y="558"/>
                </a:lnTo>
                <a:lnTo>
                  <a:pt x="2693" y="565"/>
                </a:lnTo>
                <a:lnTo>
                  <a:pt x="2688" y="572"/>
                </a:lnTo>
                <a:lnTo>
                  <a:pt x="2682" y="577"/>
                </a:lnTo>
                <a:lnTo>
                  <a:pt x="2675" y="583"/>
                </a:lnTo>
                <a:lnTo>
                  <a:pt x="2672" y="585"/>
                </a:lnTo>
                <a:lnTo>
                  <a:pt x="2668" y="587"/>
                </a:lnTo>
                <a:lnTo>
                  <a:pt x="2666" y="588"/>
                </a:lnTo>
                <a:lnTo>
                  <a:pt x="2664" y="588"/>
                </a:lnTo>
                <a:lnTo>
                  <a:pt x="2660" y="590"/>
                </a:lnTo>
                <a:lnTo>
                  <a:pt x="2651" y="591"/>
                </a:lnTo>
                <a:lnTo>
                  <a:pt x="2647" y="592"/>
                </a:lnTo>
                <a:lnTo>
                  <a:pt x="2642" y="592"/>
                </a:lnTo>
                <a:lnTo>
                  <a:pt x="2635" y="592"/>
                </a:lnTo>
                <a:lnTo>
                  <a:pt x="2629" y="591"/>
                </a:lnTo>
                <a:lnTo>
                  <a:pt x="2623" y="589"/>
                </a:lnTo>
                <a:lnTo>
                  <a:pt x="2618" y="588"/>
                </a:lnTo>
                <a:lnTo>
                  <a:pt x="2612" y="585"/>
                </a:lnTo>
                <a:lnTo>
                  <a:pt x="2607" y="582"/>
                </a:lnTo>
                <a:lnTo>
                  <a:pt x="2603" y="578"/>
                </a:lnTo>
                <a:lnTo>
                  <a:pt x="2598" y="574"/>
                </a:lnTo>
                <a:lnTo>
                  <a:pt x="2596" y="572"/>
                </a:lnTo>
                <a:lnTo>
                  <a:pt x="2595" y="570"/>
                </a:lnTo>
                <a:lnTo>
                  <a:pt x="2591" y="564"/>
                </a:lnTo>
                <a:lnTo>
                  <a:pt x="2588" y="559"/>
                </a:lnTo>
                <a:lnTo>
                  <a:pt x="2587" y="556"/>
                </a:lnTo>
                <a:lnTo>
                  <a:pt x="2586" y="553"/>
                </a:lnTo>
                <a:lnTo>
                  <a:pt x="2584" y="547"/>
                </a:lnTo>
                <a:lnTo>
                  <a:pt x="2583" y="540"/>
                </a:lnTo>
                <a:lnTo>
                  <a:pt x="2582" y="533"/>
                </a:lnTo>
                <a:lnTo>
                  <a:pt x="2582" y="525"/>
                </a:lnTo>
                <a:lnTo>
                  <a:pt x="2582" y="413"/>
                </a:lnTo>
                <a:lnTo>
                  <a:pt x="2631" y="413"/>
                </a:lnTo>
                <a:lnTo>
                  <a:pt x="2631" y="517"/>
                </a:lnTo>
                <a:lnTo>
                  <a:pt x="2631" y="524"/>
                </a:lnTo>
                <a:lnTo>
                  <a:pt x="2633" y="531"/>
                </a:lnTo>
                <a:lnTo>
                  <a:pt x="2636" y="536"/>
                </a:lnTo>
                <a:lnTo>
                  <a:pt x="2637" y="539"/>
                </a:lnTo>
                <a:lnTo>
                  <a:pt x="2639" y="541"/>
                </a:lnTo>
                <a:lnTo>
                  <a:pt x="2644" y="545"/>
                </a:lnTo>
                <a:lnTo>
                  <a:pt x="2646" y="547"/>
                </a:lnTo>
                <a:lnTo>
                  <a:pt x="2649" y="548"/>
                </a:lnTo>
                <a:lnTo>
                  <a:pt x="2655" y="550"/>
                </a:lnTo>
                <a:lnTo>
                  <a:pt x="2658" y="550"/>
                </a:lnTo>
                <a:lnTo>
                  <a:pt x="2661" y="551"/>
                </a:lnTo>
                <a:lnTo>
                  <a:pt x="2668" y="550"/>
                </a:lnTo>
                <a:lnTo>
                  <a:pt x="2674" y="548"/>
                </a:lnTo>
                <a:lnTo>
                  <a:pt x="2680" y="545"/>
                </a:lnTo>
                <a:lnTo>
                  <a:pt x="2685" y="541"/>
                </a:lnTo>
                <a:lnTo>
                  <a:pt x="2687" y="539"/>
                </a:lnTo>
                <a:lnTo>
                  <a:pt x="2689" y="536"/>
                </a:lnTo>
                <a:lnTo>
                  <a:pt x="2693" y="530"/>
                </a:lnTo>
                <a:lnTo>
                  <a:pt x="2695" y="523"/>
                </a:lnTo>
                <a:lnTo>
                  <a:pt x="2695" y="519"/>
                </a:lnTo>
                <a:lnTo>
                  <a:pt x="2695" y="514"/>
                </a:lnTo>
                <a:close/>
                <a:moveTo>
                  <a:pt x="2834" y="487"/>
                </a:moveTo>
                <a:lnTo>
                  <a:pt x="2834" y="590"/>
                </a:lnTo>
                <a:lnTo>
                  <a:pt x="2785" y="590"/>
                </a:lnTo>
                <a:lnTo>
                  <a:pt x="2785" y="413"/>
                </a:lnTo>
                <a:lnTo>
                  <a:pt x="2832" y="413"/>
                </a:lnTo>
                <a:lnTo>
                  <a:pt x="2832" y="444"/>
                </a:lnTo>
                <a:lnTo>
                  <a:pt x="2837" y="437"/>
                </a:lnTo>
                <a:lnTo>
                  <a:pt x="2842" y="430"/>
                </a:lnTo>
                <a:lnTo>
                  <a:pt x="2847" y="425"/>
                </a:lnTo>
                <a:lnTo>
                  <a:pt x="2854" y="420"/>
                </a:lnTo>
                <a:lnTo>
                  <a:pt x="2861" y="416"/>
                </a:lnTo>
                <a:lnTo>
                  <a:pt x="2865" y="414"/>
                </a:lnTo>
                <a:lnTo>
                  <a:pt x="2869" y="413"/>
                </a:lnTo>
                <a:lnTo>
                  <a:pt x="2878" y="411"/>
                </a:lnTo>
                <a:lnTo>
                  <a:pt x="2882" y="411"/>
                </a:lnTo>
                <a:lnTo>
                  <a:pt x="2887" y="411"/>
                </a:lnTo>
                <a:lnTo>
                  <a:pt x="2894" y="411"/>
                </a:lnTo>
                <a:lnTo>
                  <a:pt x="2900" y="412"/>
                </a:lnTo>
                <a:lnTo>
                  <a:pt x="2906" y="413"/>
                </a:lnTo>
                <a:lnTo>
                  <a:pt x="2912" y="415"/>
                </a:lnTo>
                <a:lnTo>
                  <a:pt x="2917" y="418"/>
                </a:lnTo>
                <a:lnTo>
                  <a:pt x="2922" y="421"/>
                </a:lnTo>
                <a:lnTo>
                  <a:pt x="2927" y="424"/>
                </a:lnTo>
                <a:lnTo>
                  <a:pt x="2932" y="428"/>
                </a:lnTo>
                <a:lnTo>
                  <a:pt x="2935" y="433"/>
                </a:lnTo>
                <a:lnTo>
                  <a:pt x="2939" y="438"/>
                </a:lnTo>
                <a:lnTo>
                  <a:pt x="2942" y="444"/>
                </a:lnTo>
                <a:lnTo>
                  <a:pt x="2943" y="446"/>
                </a:lnTo>
                <a:lnTo>
                  <a:pt x="2944" y="449"/>
                </a:lnTo>
                <a:lnTo>
                  <a:pt x="2946" y="456"/>
                </a:lnTo>
                <a:lnTo>
                  <a:pt x="2947" y="462"/>
                </a:lnTo>
                <a:lnTo>
                  <a:pt x="2948" y="470"/>
                </a:lnTo>
                <a:lnTo>
                  <a:pt x="2948" y="477"/>
                </a:lnTo>
                <a:lnTo>
                  <a:pt x="2948" y="590"/>
                </a:lnTo>
                <a:lnTo>
                  <a:pt x="2899" y="590"/>
                </a:lnTo>
                <a:lnTo>
                  <a:pt x="2899" y="486"/>
                </a:lnTo>
                <a:lnTo>
                  <a:pt x="2899" y="478"/>
                </a:lnTo>
                <a:lnTo>
                  <a:pt x="2898" y="475"/>
                </a:lnTo>
                <a:lnTo>
                  <a:pt x="2897" y="471"/>
                </a:lnTo>
                <a:lnTo>
                  <a:pt x="2895" y="466"/>
                </a:lnTo>
                <a:lnTo>
                  <a:pt x="2893" y="463"/>
                </a:lnTo>
                <a:lnTo>
                  <a:pt x="2891" y="461"/>
                </a:lnTo>
                <a:lnTo>
                  <a:pt x="2886" y="457"/>
                </a:lnTo>
                <a:lnTo>
                  <a:pt x="2884" y="455"/>
                </a:lnTo>
                <a:lnTo>
                  <a:pt x="2881" y="454"/>
                </a:lnTo>
                <a:lnTo>
                  <a:pt x="2875" y="452"/>
                </a:lnTo>
                <a:lnTo>
                  <a:pt x="2871" y="451"/>
                </a:lnTo>
                <a:lnTo>
                  <a:pt x="2868" y="451"/>
                </a:lnTo>
                <a:lnTo>
                  <a:pt x="2861" y="452"/>
                </a:lnTo>
                <a:lnTo>
                  <a:pt x="2854" y="454"/>
                </a:lnTo>
                <a:lnTo>
                  <a:pt x="2851" y="455"/>
                </a:lnTo>
                <a:lnTo>
                  <a:pt x="2849" y="457"/>
                </a:lnTo>
                <a:lnTo>
                  <a:pt x="2846" y="459"/>
                </a:lnTo>
                <a:lnTo>
                  <a:pt x="2844" y="461"/>
                </a:lnTo>
                <a:lnTo>
                  <a:pt x="2842" y="463"/>
                </a:lnTo>
                <a:lnTo>
                  <a:pt x="2840" y="466"/>
                </a:lnTo>
                <a:lnTo>
                  <a:pt x="2838" y="469"/>
                </a:lnTo>
                <a:lnTo>
                  <a:pt x="2837" y="472"/>
                </a:lnTo>
                <a:lnTo>
                  <a:pt x="2835" y="479"/>
                </a:lnTo>
                <a:lnTo>
                  <a:pt x="2834" y="483"/>
                </a:lnTo>
                <a:lnTo>
                  <a:pt x="2834" y="487"/>
                </a:lnTo>
                <a:close/>
                <a:moveTo>
                  <a:pt x="3014" y="390"/>
                </a:moveTo>
                <a:lnTo>
                  <a:pt x="3008" y="390"/>
                </a:lnTo>
                <a:lnTo>
                  <a:pt x="3004" y="388"/>
                </a:lnTo>
                <a:lnTo>
                  <a:pt x="2999" y="386"/>
                </a:lnTo>
                <a:lnTo>
                  <a:pt x="2995" y="383"/>
                </a:lnTo>
                <a:lnTo>
                  <a:pt x="2992" y="379"/>
                </a:lnTo>
                <a:lnTo>
                  <a:pt x="2989" y="375"/>
                </a:lnTo>
                <a:lnTo>
                  <a:pt x="2988" y="370"/>
                </a:lnTo>
                <a:lnTo>
                  <a:pt x="2987" y="365"/>
                </a:lnTo>
                <a:lnTo>
                  <a:pt x="2988" y="360"/>
                </a:lnTo>
                <a:lnTo>
                  <a:pt x="2989" y="356"/>
                </a:lnTo>
                <a:lnTo>
                  <a:pt x="2992" y="352"/>
                </a:lnTo>
                <a:lnTo>
                  <a:pt x="2995" y="348"/>
                </a:lnTo>
                <a:lnTo>
                  <a:pt x="2999" y="345"/>
                </a:lnTo>
                <a:lnTo>
                  <a:pt x="3004" y="342"/>
                </a:lnTo>
                <a:lnTo>
                  <a:pt x="3008" y="341"/>
                </a:lnTo>
                <a:lnTo>
                  <a:pt x="3014" y="341"/>
                </a:lnTo>
                <a:lnTo>
                  <a:pt x="3019" y="341"/>
                </a:lnTo>
                <a:lnTo>
                  <a:pt x="3024" y="342"/>
                </a:lnTo>
                <a:lnTo>
                  <a:pt x="3028" y="345"/>
                </a:lnTo>
                <a:lnTo>
                  <a:pt x="3032" y="348"/>
                </a:lnTo>
                <a:lnTo>
                  <a:pt x="3036" y="352"/>
                </a:lnTo>
                <a:lnTo>
                  <a:pt x="3038" y="356"/>
                </a:lnTo>
                <a:lnTo>
                  <a:pt x="3040" y="360"/>
                </a:lnTo>
                <a:lnTo>
                  <a:pt x="3040" y="365"/>
                </a:lnTo>
                <a:lnTo>
                  <a:pt x="3040" y="370"/>
                </a:lnTo>
                <a:lnTo>
                  <a:pt x="3038" y="375"/>
                </a:lnTo>
                <a:lnTo>
                  <a:pt x="3036" y="379"/>
                </a:lnTo>
                <a:lnTo>
                  <a:pt x="3032" y="383"/>
                </a:lnTo>
                <a:lnTo>
                  <a:pt x="3028" y="386"/>
                </a:lnTo>
                <a:lnTo>
                  <a:pt x="3024" y="388"/>
                </a:lnTo>
                <a:lnTo>
                  <a:pt x="3019" y="390"/>
                </a:lnTo>
                <a:lnTo>
                  <a:pt x="3014" y="390"/>
                </a:lnTo>
                <a:close/>
                <a:moveTo>
                  <a:pt x="2989" y="413"/>
                </a:moveTo>
                <a:lnTo>
                  <a:pt x="3038" y="413"/>
                </a:lnTo>
                <a:lnTo>
                  <a:pt x="3038" y="590"/>
                </a:lnTo>
                <a:lnTo>
                  <a:pt x="2989" y="590"/>
                </a:lnTo>
                <a:lnTo>
                  <a:pt x="2989" y="413"/>
                </a:lnTo>
                <a:close/>
                <a:moveTo>
                  <a:pt x="3242" y="413"/>
                </a:moveTo>
                <a:lnTo>
                  <a:pt x="3180" y="590"/>
                </a:lnTo>
                <a:lnTo>
                  <a:pt x="3125" y="590"/>
                </a:lnTo>
                <a:lnTo>
                  <a:pt x="3063" y="413"/>
                </a:lnTo>
                <a:lnTo>
                  <a:pt x="3115" y="413"/>
                </a:lnTo>
                <a:lnTo>
                  <a:pt x="3151" y="539"/>
                </a:lnTo>
                <a:lnTo>
                  <a:pt x="3190" y="413"/>
                </a:lnTo>
                <a:lnTo>
                  <a:pt x="3242" y="413"/>
                </a:lnTo>
                <a:close/>
                <a:moveTo>
                  <a:pt x="3340" y="593"/>
                </a:moveTo>
                <a:lnTo>
                  <a:pt x="3333" y="593"/>
                </a:lnTo>
                <a:lnTo>
                  <a:pt x="3327" y="592"/>
                </a:lnTo>
                <a:lnTo>
                  <a:pt x="3315" y="590"/>
                </a:lnTo>
                <a:lnTo>
                  <a:pt x="3309" y="589"/>
                </a:lnTo>
                <a:lnTo>
                  <a:pt x="3303" y="587"/>
                </a:lnTo>
                <a:lnTo>
                  <a:pt x="3293" y="582"/>
                </a:lnTo>
                <a:lnTo>
                  <a:pt x="3288" y="579"/>
                </a:lnTo>
                <a:lnTo>
                  <a:pt x="3284" y="576"/>
                </a:lnTo>
                <a:lnTo>
                  <a:pt x="3279" y="572"/>
                </a:lnTo>
                <a:lnTo>
                  <a:pt x="3276" y="569"/>
                </a:lnTo>
                <a:lnTo>
                  <a:pt x="3269" y="560"/>
                </a:lnTo>
                <a:lnTo>
                  <a:pt x="3266" y="555"/>
                </a:lnTo>
                <a:lnTo>
                  <a:pt x="3263" y="550"/>
                </a:lnTo>
                <a:lnTo>
                  <a:pt x="3258" y="540"/>
                </a:lnTo>
                <a:lnTo>
                  <a:pt x="3256" y="534"/>
                </a:lnTo>
                <a:lnTo>
                  <a:pt x="3255" y="528"/>
                </a:lnTo>
                <a:lnTo>
                  <a:pt x="3254" y="522"/>
                </a:lnTo>
                <a:lnTo>
                  <a:pt x="3253" y="516"/>
                </a:lnTo>
                <a:lnTo>
                  <a:pt x="3252" y="509"/>
                </a:lnTo>
                <a:lnTo>
                  <a:pt x="3252" y="502"/>
                </a:lnTo>
                <a:lnTo>
                  <a:pt x="3252" y="495"/>
                </a:lnTo>
                <a:lnTo>
                  <a:pt x="3253" y="489"/>
                </a:lnTo>
                <a:lnTo>
                  <a:pt x="3254" y="483"/>
                </a:lnTo>
                <a:lnTo>
                  <a:pt x="3255" y="477"/>
                </a:lnTo>
                <a:lnTo>
                  <a:pt x="3258" y="465"/>
                </a:lnTo>
                <a:lnTo>
                  <a:pt x="3260" y="459"/>
                </a:lnTo>
                <a:lnTo>
                  <a:pt x="3263" y="454"/>
                </a:lnTo>
                <a:lnTo>
                  <a:pt x="3269" y="445"/>
                </a:lnTo>
                <a:lnTo>
                  <a:pt x="3272" y="440"/>
                </a:lnTo>
                <a:lnTo>
                  <a:pt x="3275" y="436"/>
                </a:lnTo>
                <a:lnTo>
                  <a:pt x="3279" y="432"/>
                </a:lnTo>
                <a:lnTo>
                  <a:pt x="3283" y="428"/>
                </a:lnTo>
                <a:lnTo>
                  <a:pt x="3293" y="422"/>
                </a:lnTo>
                <a:lnTo>
                  <a:pt x="3297" y="419"/>
                </a:lnTo>
                <a:lnTo>
                  <a:pt x="3303" y="417"/>
                </a:lnTo>
                <a:lnTo>
                  <a:pt x="3308" y="415"/>
                </a:lnTo>
                <a:lnTo>
                  <a:pt x="3314" y="413"/>
                </a:lnTo>
                <a:lnTo>
                  <a:pt x="3319" y="412"/>
                </a:lnTo>
                <a:lnTo>
                  <a:pt x="3325" y="411"/>
                </a:lnTo>
                <a:lnTo>
                  <a:pt x="3338" y="411"/>
                </a:lnTo>
                <a:lnTo>
                  <a:pt x="3349" y="411"/>
                </a:lnTo>
                <a:lnTo>
                  <a:pt x="3360" y="413"/>
                </a:lnTo>
                <a:lnTo>
                  <a:pt x="3365" y="414"/>
                </a:lnTo>
                <a:lnTo>
                  <a:pt x="3370" y="416"/>
                </a:lnTo>
                <a:lnTo>
                  <a:pt x="3380" y="421"/>
                </a:lnTo>
                <a:lnTo>
                  <a:pt x="3389" y="426"/>
                </a:lnTo>
                <a:lnTo>
                  <a:pt x="3393" y="429"/>
                </a:lnTo>
                <a:lnTo>
                  <a:pt x="3397" y="433"/>
                </a:lnTo>
                <a:lnTo>
                  <a:pt x="3404" y="441"/>
                </a:lnTo>
                <a:lnTo>
                  <a:pt x="3407" y="446"/>
                </a:lnTo>
                <a:lnTo>
                  <a:pt x="3410" y="450"/>
                </a:lnTo>
                <a:lnTo>
                  <a:pt x="3412" y="456"/>
                </a:lnTo>
                <a:lnTo>
                  <a:pt x="3415" y="461"/>
                </a:lnTo>
                <a:lnTo>
                  <a:pt x="3417" y="467"/>
                </a:lnTo>
                <a:lnTo>
                  <a:pt x="3418" y="473"/>
                </a:lnTo>
                <a:lnTo>
                  <a:pt x="3419" y="479"/>
                </a:lnTo>
                <a:lnTo>
                  <a:pt x="3420" y="486"/>
                </a:lnTo>
                <a:lnTo>
                  <a:pt x="3421" y="493"/>
                </a:lnTo>
                <a:lnTo>
                  <a:pt x="3421" y="500"/>
                </a:lnTo>
                <a:lnTo>
                  <a:pt x="3421" y="514"/>
                </a:lnTo>
                <a:lnTo>
                  <a:pt x="3301" y="514"/>
                </a:lnTo>
                <a:lnTo>
                  <a:pt x="3301" y="519"/>
                </a:lnTo>
                <a:lnTo>
                  <a:pt x="3301" y="523"/>
                </a:lnTo>
                <a:lnTo>
                  <a:pt x="3302" y="528"/>
                </a:lnTo>
                <a:lnTo>
                  <a:pt x="3303" y="532"/>
                </a:lnTo>
                <a:lnTo>
                  <a:pt x="3307" y="539"/>
                </a:lnTo>
                <a:lnTo>
                  <a:pt x="3309" y="542"/>
                </a:lnTo>
                <a:lnTo>
                  <a:pt x="3311" y="545"/>
                </a:lnTo>
                <a:lnTo>
                  <a:pt x="3314" y="548"/>
                </a:lnTo>
                <a:lnTo>
                  <a:pt x="3317" y="550"/>
                </a:lnTo>
                <a:lnTo>
                  <a:pt x="3321" y="552"/>
                </a:lnTo>
                <a:lnTo>
                  <a:pt x="3324" y="554"/>
                </a:lnTo>
                <a:lnTo>
                  <a:pt x="3328" y="555"/>
                </a:lnTo>
                <a:lnTo>
                  <a:pt x="3332" y="556"/>
                </a:lnTo>
                <a:lnTo>
                  <a:pt x="3341" y="557"/>
                </a:lnTo>
                <a:lnTo>
                  <a:pt x="3347" y="556"/>
                </a:lnTo>
                <a:lnTo>
                  <a:pt x="3352" y="555"/>
                </a:lnTo>
                <a:lnTo>
                  <a:pt x="3357" y="554"/>
                </a:lnTo>
                <a:lnTo>
                  <a:pt x="3362" y="551"/>
                </a:lnTo>
                <a:lnTo>
                  <a:pt x="3364" y="550"/>
                </a:lnTo>
                <a:lnTo>
                  <a:pt x="3366" y="548"/>
                </a:lnTo>
                <a:lnTo>
                  <a:pt x="3370" y="545"/>
                </a:lnTo>
                <a:lnTo>
                  <a:pt x="3372" y="541"/>
                </a:lnTo>
                <a:lnTo>
                  <a:pt x="3375" y="536"/>
                </a:lnTo>
                <a:lnTo>
                  <a:pt x="3420" y="539"/>
                </a:lnTo>
                <a:lnTo>
                  <a:pt x="3418" y="545"/>
                </a:lnTo>
                <a:lnTo>
                  <a:pt x="3416" y="551"/>
                </a:lnTo>
                <a:lnTo>
                  <a:pt x="3414" y="556"/>
                </a:lnTo>
                <a:lnTo>
                  <a:pt x="3411" y="561"/>
                </a:lnTo>
                <a:lnTo>
                  <a:pt x="3407" y="566"/>
                </a:lnTo>
                <a:lnTo>
                  <a:pt x="3403" y="570"/>
                </a:lnTo>
                <a:lnTo>
                  <a:pt x="3399" y="575"/>
                </a:lnTo>
                <a:lnTo>
                  <a:pt x="3394" y="578"/>
                </a:lnTo>
                <a:lnTo>
                  <a:pt x="3388" y="582"/>
                </a:lnTo>
                <a:lnTo>
                  <a:pt x="3382" y="585"/>
                </a:lnTo>
                <a:lnTo>
                  <a:pt x="3376" y="587"/>
                </a:lnTo>
                <a:lnTo>
                  <a:pt x="3370" y="589"/>
                </a:lnTo>
                <a:lnTo>
                  <a:pt x="3366" y="590"/>
                </a:lnTo>
                <a:lnTo>
                  <a:pt x="3363" y="591"/>
                </a:lnTo>
                <a:lnTo>
                  <a:pt x="3355" y="592"/>
                </a:lnTo>
                <a:lnTo>
                  <a:pt x="3348" y="593"/>
                </a:lnTo>
                <a:lnTo>
                  <a:pt x="3340" y="593"/>
                </a:lnTo>
                <a:close/>
                <a:moveTo>
                  <a:pt x="3301" y="483"/>
                </a:moveTo>
                <a:lnTo>
                  <a:pt x="3375" y="483"/>
                </a:lnTo>
                <a:lnTo>
                  <a:pt x="3375" y="480"/>
                </a:lnTo>
                <a:lnTo>
                  <a:pt x="3374" y="476"/>
                </a:lnTo>
                <a:lnTo>
                  <a:pt x="3373" y="472"/>
                </a:lnTo>
                <a:lnTo>
                  <a:pt x="3372" y="469"/>
                </a:lnTo>
                <a:lnTo>
                  <a:pt x="3371" y="466"/>
                </a:lnTo>
                <a:lnTo>
                  <a:pt x="3369" y="463"/>
                </a:lnTo>
                <a:lnTo>
                  <a:pt x="3367" y="460"/>
                </a:lnTo>
                <a:lnTo>
                  <a:pt x="3365" y="457"/>
                </a:lnTo>
                <a:lnTo>
                  <a:pt x="3359" y="453"/>
                </a:lnTo>
                <a:lnTo>
                  <a:pt x="3353" y="450"/>
                </a:lnTo>
                <a:lnTo>
                  <a:pt x="3346" y="448"/>
                </a:lnTo>
                <a:lnTo>
                  <a:pt x="3339" y="447"/>
                </a:lnTo>
                <a:lnTo>
                  <a:pt x="3331" y="448"/>
                </a:lnTo>
                <a:lnTo>
                  <a:pt x="3327" y="449"/>
                </a:lnTo>
                <a:lnTo>
                  <a:pt x="3324" y="450"/>
                </a:lnTo>
                <a:lnTo>
                  <a:pt x="3317" y="453"/>
                </a:lnTo>
                <a:lnTo>
                  <a:pt x="3315" y="455"/>
                </a:lnTo>
                <a:lnTo>
                  <a:pt x="3312" y="458"/>
                </a:lnTo>
                <a:lnTo>
                  <a:pt x="3307" y="463"/>
                </a:lnTo>
                <a:lnTo>
                  <a:pt x="3304" y="470"/>
                </a:lnTo>
                <a:lnTo>
                  <a:pt x="3303" y="473"/>
                </a:lnTo>
                <a:lnTo>
                  <a:pt x="3302" y="476"/>
                </a:lnTo>
                <a:lnTo>
                  <a:pt x="3301" y="483"/>
                </a:lnTo>
                <a:close/>
                <a:moveTo>
                  <a:pt x="3456" y="590"/>
                </a:moveTo>
                <a:lnTo>
                  <a:pt x="3456" y="413"/>
                </a:lnTo>
                <a:lnTo>
                  <a:pt x="3503" y="413"/>
                </a:lnTo>
                <a:lnTo>
                  <a:pt x="3503" y="444"/>
                </a:lnTo>
                <a:lnTo>
                  <a:pt x="3507" y="436"/>
                </a:lnTo>
                <a:lnTo>
                  <a:pt x="3511" y="429"/>
                </a:lnTo>
                <a:lnTo>
                  <a:pt x="3516" y="424"/>
                </a:lnTo>
                <a:lnTo>
                  <a:pt x="3521" y="419"/>
                </a:lnTo>
                <a:lnTo>
                  <a:pt x="3524" y="417"/>
                </a:lnTo>
                <a:lnTo>
                  <a:pt x="3527" y="415"/>
                </a:lnTo>
                <a:lnTo>
                  <a:pt x="3534" y="413"/>
                </a:lnTo>
                <a:lnTo>
                  <a:pt x="3540" y="411"/>
                </a:lnTo>
                <a:lnTo>
                  <a:pt x="3548" y="410"/>
                </a:lnTo>
                <a:lnTo>
                  <a:pt x="3556" y="411"/>
                </a:lnTo>
                <a:lnTo>
                  <a:pt x="3563" y="412"/>
                </a:lnTo>
                <a:lnTo>
                  <a:pt x="3563" y="456"/>
                </a:lnTo>
                <a:lnTo>
                  <a:pt x="3559" y="455"/>
                </a:lnTo>
                <a:lnTo>
                  <a:pt x="3554" y="454"/>
                </a:lnTo>
                <a:lnTo>
                  <a:pt x="3542" y="453"/>
                </a:lnTo>
                <a:lnTo>
                  <a:pt x="3535" y="454"/>
                </a:lnTo>
                <a:lnTo>
                  <a:pt x="3531" y="454"/>
                </a:lnTo>
                <a:lnTo>
                  <a:pt x="3528" y="456"/>
                </a:lnTo>
                <a:lnTo>
                  <a:pt x="3524" y="457"/>
                </a:lnTo>
                <a:lnTo>
                  <a:pt x="3521" y="459"/>
                </a:lnTo>
                <a:lnTo>
                  <a:pt x="3518" y="461"/>
                </a:lnTo>
                <a:lnTo>
                  <a:pt x="3515" y="463"/>
                </a:lnTo>
                <a:lnTo>
                  <a:pt x="3511" y="469"/>
                </a:lnTo>
                <a:lnTo>
                  <a:pt x="3509" y="472"/>
                </a:lnTo>
                <a:lnTo>
                  <a:pt x="3508" y="475"/>
                </a:lnTo>
                <a:lnTo>
                  <a:pt x="3506" y="478"/>
                </a:lnTo>
                <a:lnTo>
                  <a:pt x="3506" y="482"/>
                </a:lnTo>
                <a:lnTo>
                  <a:pt x="3505" y="486"/>
                </a:lnTo>
                <a:lnTo>
                  <a:pt x="3505" y="490"/>
                </a:lnTo>
                <a:lnTo>
                  <a:pt x="3505" y="590"/>
                </a:lnTo>
                <a:lnTo>
                  <a:pt x="3456" y="590"/>
                </a:lnTo>
                <a:close/>
                <a:moveTo>
                  <a:pt x="3736" y="463"/>
                </a:moveTo>
                <a:lnTo>
                  <a:pt x="3692" y="466"/>
                </a:lnTo>
                <a:lnTo>
                  <a:pt x="3690" y="462"/>
                </a:lnTo>
                <a:lnTo>
                  <a:pt x="3688" y="458"/>
                </a:lnTo>
                <a:lnTo>
                  <a:pt x="3686" y="455"/>
                </a:lnTo>
                <a:lnTo>
                  <a:pt x="3682" y="451"/>
                </a:lnTo>
                <a:lnTo>
                  <a:pt x="3678" y="449"/>
                </a:lnTo>
                <a:lnTo>
                  <a:pt x="3673" y="447"/>
                </a:lnTo>
                <a:lnTo>
                  <a:pt x="3668" y="446"/>
                </a:lnTo>
                <a:lnTo>
                  <a:pt x="3662" y="445"/>
                </a:lnTo>
                <a:lnTo>
                  <a:pt x="3656" y="446"/>
                </a:lnTo>
                <a:lnTo>
                  <a:pt x="3651" y="447"/>
                </a:lnTo>
                <a:lnTo>
                  <a:pt x="3647" y="448"/>
                </a:lnTo>
                <a:lnTo>
                  <a:pt x="3643" y="450"/>
                </a:lnTo>
                <a:lnTo>
                  <a:pt x="3639" y="453"/>
                </a:lnTo>
                <a:lnTo>
                  <a:pt x="3637" y="456"/>
                </a:lnTo>
                <a:lnTo>
                  <a:pt x="3635" y="459"/>
                </a:lnTo>
                <a:lnTo>
                  <a:pt x="3635" y="463"/>
                </a:lnTo>
                <a:lnTo>
                  <a:pt x="3635" y="466"/>
                </a:lnTo>
                <a:lnTo>
                  <a:pt x="3636" y="469"/>
                </a:lnTo>
                <a:lnTo>
                  <a:pt x="3638" y="471"/>
                </a:lnTo>
                <a:lnTo>
                  <a:pt x="3640" y="474"/>
                </a:lnTo>
                <a:lnTo>
                  <a:pt x="3643" y="476"/>
                </a:lnTo>
                <a:lnTo>
                  <a:pt x="3647" y="478"/>
                </a:lnTo>
                <a:lnTo>
                  <a:pt x="3652" y="479"/>
                </a:lnTo>
                <a:lnTo>
                  <a:pt x="3657" y="481"/>
                </a:lnTo>
                <a:lnTo>
                  <a:pt x="3689" y="487"/>
                </a:lnTo>
                <a:lnTo>
                  <a:pt x="3696" y="488"/>
                </a:lnTo>
                <a:lnTo>
                  <a:pt x="3701" y="490"/>
                </a:lnTo>
                <a:lnTo>
                  <a:pt x="3707" y="492"/>
                </a:lnTo>
                <a:lnTo>
                  <a:pt x="3712" y="494"/>
                </a:lnTo>
                <a:lnTo>
                  <a:pt x="3720" y="499"/>
                </a:lnTo>
                <a:lnTo>
                  <a:pt x="3728" y="504"/>
                </a:lnTo>
                <a:lnTo>
                  <a:pt x="3731" y="507"/>
                </a:lnTo>
                <a:lnTo>
                  <a:pt x="3733" y="511"/>
                </a:lnTo>
                <a:lnTo>
                  <a:pt x="3735" y="514"/>
                </a:lnTo>
                <a:lnTo>
                  <a:pt x="3737" y="518"/>
                </a:lnTo>
                <a:lnTo>
                  <a:pt x="3740" y="526"/>
                </a:lnTo>
                <a:lnTo>
                  <a:pt x="3740" y="530"/>
                </a:lnTo>
                <a:lnTo>
                  <a:pt x="3740" y="535"/>
                </a:lnTo>
                <a:lnTo>
                  <a:pt x="3740" y="539"/>
                </a:lnTo>
                <a:lnTo>
                  <a:pt x="3740" y="543"/>
                </a:lnTo>
                <a:lnTo>
                  <a:pt x="3739" y="547"/>
                </a:lnTo>
                <a:lnTo>
                  <a:pt x="3738" y="551"/>
                </a:lnTo>
                <a:lnTo>
                  <a:pt x="3736" y="555"/>
                </a:lnTo>
                <a:lnTo>
                  <a:pt x="3735" y="559"/>
                </a:lnTo>
                <a:lnTo>
                  <a:pt x="3733" y="562"/>
                </a:lnTo>
                <a:lnTo>
                  <a:pt x="3730" y="565"/>
                </a:lnTo>
                <a:lnTo>
                  <a:pt x="3725" y="572"/>
                </a:lnTo>
                <a:lnTo>
                  <a:pt x="3718" y="577"/>
                </a:lnTo>
                <a:lnTo>
                  <a:pt x="3711" y="582"/>
                </a:lnTo>
                <a:lnTo>
                  <a:pt x="3702" y="586"/>
                </a:lnTo>
                <a:lnTo>
                  <a:pt x="3693" y="589"/>
                </a:lnTo>
                <a:lnTo>
                  <a:pt x="3683" y="591"/>
                </a:lnTo>
                <a:lnTo>
                  <a:pt x="3673" y="593"/>
                </a:lnTo>
                <a:lnTo>
                  <a:pt x="3662" y="593"/>
                </a:lnTo>
                <a:lnTo>
                  <a:pt x="3653" y="593"/>
                </a:lnTo>
                <a:lnTo>
                  <a:pt x="3645" y="592"/>
                </a:lnTo>
                <a:lnTo>
                  <a:pt x="3637" y="591"/>
                </a:lnTo>
                <a:lnTo>
                  <a:pt x="3630" y="589"/>
                </a:lnTo>
                <a:lnTo>
                  <a:pt x="3623" y="587"/>
                </a:lnTo>
                <a:lnTo>
                  <a:pt x="3617" y="585"/>
                </a:lnTo>
                <a:lnTo>
                  <a:pt x="3611" y="582"/>
                </a:lnTo>
                <a:lnTo>
                  <a:pt x="3606" y="578"/>
                </a:lnTo>
                <a:lnTo>
                  <a:pt x="3601" y="575"/>
                </a:lnTo>
                <a:lnTo>
                  <a:pt x="3596" y="570"/>
                </a:lnTo>
                <a:lnTo>
                  <a:pt x="3593" y="566"/>
                </a:lnTo>
                <a:lnTo>
                  <a:pt x="3589" y="561"/>
                </a:lnTo>
                <a:lnTo>
                  <a:pt x="3587" y="556"/>
                </a:lnTo>
                <a:lnTo>
                  <a:pt x="3584" y="550"/>
                </a:lnTo>
                <a:lnTo>
                  <a:pt x="3583" y="545"/>
                </a:lnTo>
                <a:lnTo>
                  <a:pt x="3582" y="538"/>
                </a:lnTo>
                <a:lnTo>
                  <a:pt x="3630" y="536"/>
                </a:lnTo>
                <a:lnTo>
                  <a:pt x="3631" y="541"/>
                </a:lnTo>
                <a:lnTo>
                  <a:pt x="3634" y="545"/>
                </a:lnTo>
                <a:lnTo>
                  <a:pt x="3637" y="549"/>
                </a:lnTo>
                <a:lnTo>
                  <a:pt x="3640" y="552"/>
                </a:lnTo>
                <a:lnTo>
                  <a:pt x="3645" y="555"/>
                </a:lnTo>
                <a:lnTo>
                  <a:pt x="3650" y="556"/>
                </a:lnTo>
                <a:lnTo>
                  <a:pt x="3656" y="557"/>
                </a:lnTo>
                <a:lnTo>
                  <a:pt x="3662" y="558"/>
                </a:lnTo>
                <a:lnTo>
                  <a:pt x="3668" y="557"/>
                </a:lnTo>
                <a:lnTo>
                  <a:pt x="3673" y="557"/>
                </a:lnTo>
                <a:lnTo>
                  <a:pt x="3678" y="555"/>
                </a:lnTo>
                <a:lnTo>
                  <a:pt x="3681" y="554"/>
                </a:lnTo>
                <a:lnTo>
                  <a:pt x="3683" y="553"/>
                </a:lnTo>
                <a:lnTo>
                  <a:pt x="3686" y="550"/>
                </a:lnTo>
                <a:lnTo>
                  <a:pt x="3689" y="547"/>
                </a:lnTo>
                <a:lnTo>
                  <a:pt x="3689" y="545"/>
                </a:lnTo>
                <a:lnTo>
                  <a:pt x="3690" y="544"/>
                </a:lnTo>
                <a:lnTo>
                  <a:pt x="3691" y="540"/>
                </a:lnTo>
                <a:lnTo>
                  <a:pt x="3690" y="537"/>
                </a:lnTo>
                <a:lnTo>
                  <a:pt x="3689" y="534"/>
                </a:lnTo>
                <a:lnTo>
                  <a:pt x="3687" y="531"/>
                </a:lnTo>
                <a:lnTo>
                  <a:pt x="3685" y="529"/>
                </a:lnTo>
                <a:lnTo>
                  <a:pt x="3682" y="527"/>
                </a:lnTo>
                <a:lnTo>
                  <a:pt x="3678" y="525"/>
                </a:lnTo>
                <a:lnTo>
                  <a:pt x="3673" y="523"/>
                </a:lnTo>
                <a:lnTo>
                  <a:pt x="3668" y="522"/>
                </a:lnTo>
                <a:lnTo>
                  <a:pt x="3637" y="516"/>
                </a:lnTo>
                <a:lnTo>
                  <a:pt x="3631" y="515"/>
                </a:lnTo>
                <a:lnTo>
                  <a:pt x="3625" y="513"/>
                </a:lnTo>
                <a:lnTo>
                  <a:pt x="3615" y="509"/>
                </a:lnTo>
                <a:lnTo>
                  <a:pt x="3610" y="507"/>
                </a:lnTo>
                <a:lnTo>
                  <a:pt x="3606" y="504"/>
                </a:lnTo>
                <a:lnTo>
                  <a:pt x="3602" y="501"/>
                </a:lnTo>
                <a:lnTo>
                  <a:pt x="3599" y="498"/>
                </a:lnTo>
                <a:lnTo>
                  <a:pt x="3596" y="495"/>
                </a:lnTo>
                <a:lnTo>
                  <a:pt x="3593" y="492"/>
                </a:lnTo>
                <a:lnTo>
                  <a:pt x="3591" y="488"/>
                </a:lnTo>
                <a:lnTo>
                  <a:pt x="3589" y="484"/>
                </a:lnTo>
                <a:lnTo>
                  <a:pt x="3588" y="480"/>
                </a:lnTo>
                <a:lnTo>
                  <a:pt x="3587" y="475"/>
                </a:lnTo>
                <a:lnTo>
                  <a:pt x="3586" y="471"/>
                </a:lnTo>
                <a:lnTo>
                  <a:pt x="3586" y="466"/>
                </a:lnTo>
                <a:lnTo>
                  <a:pt x="3587" y="459"/>
                </a:lnTo>
                <a:lnTo>
                  <a:pt x="3587" y="454"/>
                </a:lnTo>
                <a:lnTo>
                  <a:pt x="3589" y="448"/>
                </a:lnTo>
                <a:lnTo>
                  <a:pt x="3591" y="443"/>
                </a:lnTo>
                <a:lnTo>
                  <a:pt x="3594" y="438"/>
                </a:lnTo>
                <a:lnTo>
                  <a:pt x="3598" y="433"/>
                </a:lnTo>
                <a:lnTo>
                  <a:pt x="3602" y="429"/>
                </a:lnTo>
                <a:lnTo>
                  <a:pt x="3607" y="425"/>
                </a:lnTo>
                <a:lnTo>
                  <a:pt x="3612" y="422"/>
                </a:lnTo>
                <a:lnTo>
                  <a:pt x="3618" y="419"/>
                </a:lnTo>
                <a:lnTo>
                  <a:pt x="3624" y="416"/>
                </a:lnTo>
                <a:lnTo>
                  <a:pt x="3631" y="414"/>
                </a:lnTo>
                <a:lnTo>
                  <a:pt x="3634" y="413"/>
                </a:lnTo>
                <a:lnTo>
                  <a:pt x="3638" y="413"/>
                </a:lnTo>
                <a:lnTo>
                  <a:pt x="3645" y="412"/>
                </a:lnTo>
                <a:lnTo>
                  <a:pt x="3653" y="411"/>
                </a:lnTo>
                <a:lnTo>
                  <a:pt x="3661" y="411"/>
                </a:lnTo>
                <a:lnTo>
                  <a:pt x="3669" y="411"/>
                </a:lnTo>
                <a:lnTo>
                  <a:pt x="3677" y="412"/>
                </a:lnTo>
                <a:lnTo>
                  <a:pt x="3684" y="413"/>
                </a:lnTo>
                <a:lnTo>
                  <a:pt x="3691" y="414"/>
                </a:lnTo>
                <a:lnTo>
                  <a:pt x="3697" y="416"/>
                </a:lnTo>
                <a:lnTo>
                  <a:pt x="3703" y="419"/>
                </a:lnTo>
                <a:lnTo>
                  <a:pt x="3709" y="421"/>
                </a:lnTo>
                <a:lnTo>
                  <a:pt x="3714" y="425"/>
                </a:lnTo>
                <a:lnTo>
                  <a:pt x="3718" y="428"/>
                </a:lnTo>
                <a:lnTo>
                  <a:pt x="3723" y="432"/>
                </a:lnTo>
                <a:lnTo>
                  <a:pt x="3726" y="437"/>
                </a:lnTo>
                <a:lnTo>
                  <a:pt x="3728" y="439"/>
                </a:lnTo>
                <a:lnTo>
                  <a:pt x="3729" y="441"/>
                </a:lnTo>
                <a:lnTo>
                  <a:pt x="3732" y="446"/>
                </a:lnTo>
                <a:lnTo>
                  <a:pt x="3734" y="452"/>
                </a:lnTo>
                <a:lnTo>
                  <a:pt x="3735" y="457"/>
                </a:lnTo>
                <a:lnTo>
                  <a:pt x="3736" y="463"/>
                </a:lnTo>
                <a:close/>
                <a:moveTo>
                  <a:pt x="3797" y="390"/>
                </a:moveTo>
                <a:lnTo>
                  <a:pt x="3792" y="390"/>
                </a:lnTo>
                <a:lnTo>
                  <a:pt x="3787" y="388"/>
                </a:lnTo>
                <a:lnTo>
                  <a:pt x="3783" y="386"/>
                </a:lnTo>
                <a:lnTo>
                  <a:pt x="3778" y="383"/>
                </a:lnTo>
                <a:lnTo>
                  <a:pt x="3775" y="379"/>
                </a:lnTo>
                <a:lnTo>
                  <a:pt x="3773" y="375"/>
                </a:lnTo>
                <a:lnTo>
                  <a:pt x="3771" y="370"/>
                </a:lnTo>
                <a:lnTo>
                  <a:pt x="3771" y="365"/>
                </a:lnTo>
                <a:lnTo>
                  <a:pt x="3771" y="360"/>
                </a:lnTo>
                <a:lnTo>
                  <a:pt x="3773" y="356"/>
                </a:lnTo>
                <a:lnTo>
                  <a:pt x="3775" y="352"/>
                </a:lnTo>
                <a:lnTo>
                  <a:pt x="3778" y="348"/>
                </a:lnTo>
                <a:lnTo>
                  <a:pt x="3783" y="345"/>
                </a:lnTo>
                <a:lnTo>
                  <a:pt x="3787" y="342"/>
                </a:lnTo>
                <a:lnTo>
                  <a:pt x="3792" y="341"/>
                </a:lnTo>
                <a:lnTo>
                  <a:pt x="3797" y="341"/>
                </a:lnTo>
                <a:lnTo>
                  <a:pt x="3802" y="341"/>
                </a:lnTo>
                <a:lnTo>
                  <a:pt x="3807" y="342"/>
                </a:lnTo>
                <a:lnTo>
                  <a:pt x="3812" y="345"/>
                </a:lnTo>
                <a:lnTo>
                  <a:pt x="3816" y="348"/>
                </a:lnTo>
                <a:lnTo>
                  <a:pt x="3819" y="352"/>
                </a:lnTo>
                <a:lnTo>
                  <a:pt x="3822" y="356"/>
                </a:lnTo>
                <a:lnTo>
                  <a:pt x="3823" y="360"/>
                </a:lnTo>
                <a:lnTo>
                  <a:pt x="3824" y="365"/>
                </a:lnTo>
                <a:lnTo>
                  <a:pt x="3823" y="370"/>
                </a:lnTo>
                <a:lnTo>
                  <a:pt x="3822" y="375"/>
                </a:lnTo>
                <a:lnTo>
                  <a:pt x="3819" y="379"/>
                </a:lnTo>
                <a:lnTo>
                  <a:pt x="3816" y="383"/>
                </a:lnTo>
                <a:lnTo>
                  <a:pt x="3812" y="386"/>
                </a:lnTo>
                <a:lnTo>
                  <a:pt x="3807" y="388"/>
                </a:lnTo>
                <a:lnTo>
                  <a:pt x="3802" y="390"/>
                </a:lnTo>
                <a:lnTo>
                  <a:pt x="3797" y="390"/>
                </a:lnTo>
                <a:close/>
                <a:moveTo>
                  <a:pt x="3772" y="413"/>
                </a:moveTo>
                <a:lnTo>
                  <a:pt x="3822" y="413"/>
                </a:lnTo>
                <a:lnTo>
                  <a:pt x="3822" y="590"/>
                </a:lnTo>
                <a:lnTo>
                  <a:pt x="3772" y="590"/>
                </a:lnTo>
                <a:lnTo>
                  <a:pt x="3772" y="413"/>
                </a:lnTo>
                <a:close/>
                <a:moveTo>
                  <a:pt x="3955" y="413"/>
                </a:moveTo>
                <a:lnTo>
                  <a:pt x="3955" y="450"/>
                </a:lnTo>
                <a:lnTo>
                  <a:pt x="3921" y="450"/>
                </a:lnTo>
                <a:lnTo>
                  <a:pt x="3921" y="535"/>
                </a:lnTo>
                <a:lnTo>
                  <a:pt x="3922" y="540"/>
                </a:lnTo>
                <a:lnTo>
                  <a:pt x="3923" y="544"/>
                </a:lnTo>
                <a:lnTo>
                  <a:pt x="3923" y="545"/>
                </a:lnTo>
                <a:lnTo>
                  <a:pt x="3924" y="547"/>
                </a:lnTo>
                <a:lnTo>
                  <a:pt x="3926" y="549"/>
                </a:lnTo>
                <a:lnTo>
                  <a:pt x="3929" y="551"/>
                </a:lnTo>
                <a:lnTo>
                  <a:pt x="3931" y="552"/>
                </a:lnTo>
                <a:lnTo>
                  <a:pt x="3935" y="552"/>
                </a:lnTo>
                <a:lnTo>
                  <a:pt x="3938" y="553"/>
                </a:lnTo>
                <a:lnTo>
                  <a:pt x="3945" y="552"/>
                </a:lnTo>
                <a:lnTo>
                  <a:pt x="3950" y="551"/>
                </a:lnTo>
                <a:lnTo>
                  <a:pt x="3958" y="587"/>
                </a:lnTo>
                <a:lnTo>
                  <a:pt x="3948" y="590"/>
                </a:lnTo>
                <a:lnTo>
                  <a:pt x="3940" y="591"/>
                </a:lnTo>
                <a:lnTo>
                  <a:pt x="3931" y="592"/>
                </a:lnTo>
                <a:lnTo>
                  <a:pt x="3925" y="592"/>
                </a:lnTo>
                <a:lnTo>
                  <a:pt x="3919" y="592"/>
                </a:lnTo>
                <a:lnTo>
                  <a:pt x="3913" y="591"/>
                </a:lnTo>
                <a:lnTo>
                  <a:pt x="3907" y="590"/>
                </a:lnTo>
                <a:lnTo>
                  <a:pt x="3902" y="588"/>
                </a:lnTo>
                <a:lnTo>
                  <a:pt x="3896" y="586"/>
                </a:lnTo>
                <a:lnTo>
                  <a:pt x="3892" y="583"/>
                </a:lnTo>
                <a:lnTo>
                  <a:pt x="3887" y="581"/>
                </a:lnTo>
                <a:lnTo>
                  <a:pt x="3884" y="577"/>
                </a:lnTo>
                <a:lnTo>
                  <a:pt x="3880" y="573"/>
                </a:lnTo>
                <a:lnTo>
                  <a:pt x="3878" y="569"/>
                </a:lnTo>
                <a:lnTo>
                  <a:pt x="3875" y="564"/>
                </a:lnTo>
                <a:lnTo>
                  <a:pt x="3874" y="559"/>
                </a:lnTo>
                <a:lnTo>
                  <a:pt x="3872" y="554"/>
                </a:lnTo>
                <a:lnTo>
                  <a:pt x="3872" y="548"/>
                </a:lnTo>
                <a:lnTo>
                  <a:pt x="3871" y="542"/>
                </a:lnTo>
                <a:lnTo>
                  <a:pt x="3871" y="450"/>
                </a:lnTo>
                <a:lnTo>
                  <a:pt x="3847" y="450"/>
                </a:lnTo>
                <a:lnTo>
                  <a:pt x="3847" y="413"/>
                </a:lnTo>
                <a:lnTo>
                  <a:pt x="3871" y="413"/>
                </a:lnTo>
                <a:lnTo>
                  <a:pt x="3871" y="371"/>
                </a:lnTo>
                <a:lnTo>
                  <a:pt x="3921" y="371"/>
                </a:lnTo>
                <a:lnTo>
                  <a:pt x="3921" y="413"/>
                </a:lnTo>
                <a:lnTo>
                  <a:pt x="3955" y="413"/>
                </a:lnTo>
                <a:close/>
                <a:moveTo>
                  <a:pt x="4062" y="593"/>
                </a:moveTo>
                <a:lnTo>
                  <a:pt x="4056" y="593"/>
                </a:lnTo>
                <a:lnTo>
                  <a:pt x="4049" y="592"/>
                </a:lnTo>
                <a:lnTo>
                  <a:pt x="4037" y="590"/>
                </a:lnTo>
                <a:lnTo>
                  <a:pt x="4031" y="589"/>
                </a:lnTo>
                <a:lnTo>
                  <a:pt x="4026" y="587"/>
                </a:lnTo>
                <a:lnTo>
                  <a:pt x="4015" y="582"/>
                </a:lnTo>
                <a:lnTo>
                  <a:pt x="4011" y="579"/>
                </a:lnTo>
                <a:lnTo>
                  <a:pt x="4006" y="576"/>
                </a:lnTo>
                <a:lnTo>
                  <a:pt x="4002" y="572"/>
                </a:lnTo>
                <a:lnTo>
                  <a:pt x="3998" y="569"/>
                </a:lnTo>
                <a:lnTo>
                  <a:pt x="3991" y="560"/>
                </a:lnTo>
                <a:lnTo>
                  <a:pt x="3988" y="555"/>
                </a:lnTo>
                <a:lnTo>
                  <a:pt x="3985" y="550"/>
                </a:lnTo>
                <a:lnTo>
                  <a:pt x="3981" y="540"/>
                </a:lnTo>
                <a:lnTo>
                  <a:pt x="3979" y="534"/>
                </a:lnTo>
                <a:lnTo>
                  <a:pt x="3977" y="528"/>
                </a:lnTo>
                <a:lnTo>
                  <a:pt x="3976" y="522"/>
                </a:lnTo>
                <a:lnTo>
                  <a:pt x="3975" y="516"/>
                </a:lnTo>
                <a:lnTo>
                  <a:pt x="3975" y="509"/>
                </a:lnTo>
                <a:lnTo>
                  <a:pt x="3975" y="502"/>
                </a:lnTo>
                <a:lnTo>
                  <a:pt x="3975" y="495"/>
                </a:lnTo>
                <a:lnTo>
                  <a:pt x="3975" y="489"/>
                </a:lnTo>
                <a:lnTo>
                  <a:pt x="3976" y="483"/>
                </a:lnTo>
                <a:lnTo>
                  <a:pt x="3977" y="477"/>
                </a:lnTo>
                <a:lnTo>
                  <a:pt x="3981" y="465"/>
                </a:lnTo>
                <a:lnTo>
                  <a:pt x="3983" y="459"/>
                </a:lnTo>
                <a:lnTo>
                  <a:pt x="3985" y="454"/>
                </a:lnTo>
                <a:lnTo>
                  <a:pt x="3991" y="445"/>
                </a:lnTo>
                <a:lnTo>
                  <a:pt x="3994" y="440"/>
                </a:lnTo>
                <a:lnTo>
                  <a:pt x="3998" y="436"/>
                </a:lnTo>
                <a:lnTo>
                  <a:pt x="4002" y="432"/>
                </a:lnTo>
                <a:lnTo>
                  <a:pt x="4006" y="428"/>
                </a:lnTo>
                <a:lnTo>
                  <a:pt x="4015" y="422"/>
                </a:lnTo>
                <a:lnTo>
                  <a:pt x="4020" y="419"/>
                </a:lnTo>
                <a:lnTo>
                  <a:pt x="4025" y="417"/>
                </a:lnTo>
                <a:lnTo>
                  <a:pt x="4030" y="415"/>
                </a:lnTo>
                <a:lnTo>
                  <a:pt x="4036" y="413"/>
                </a:lnTo>
                <a:lnTo>
                  <a:pt x="4042" y="412"/>
                </a:lnTo>
                <a:lnTo>
                  <a:pt x="4048" y="411"/>
                </a:lnTo>
                <a:lnTo>
                  <a:pt x="4060" y="411"/>
                </a:lnTo>
                <a:lnTo>
                  <a:pt x="4072" y="411"/>
                </a:lnTo>
                <a:lnTo>
                  <a:pt x="4083" y="413"/>
                </a:lnTo>
                <a:lnTo>
                  <a:pt x="4088" y="414"/>
                </a:lnTo>
                <a:lnTo>
                  <a:pt x="4093" y="416"/>
                </a:lnTo>
                <a:lnTo>
                  <a:pt x="4103" y="421"/>
                </a:lnTo>
                <a:lnTo>
                  <a:pt x="4111" y="426"/>
                </a:lnTo>
                <a:lnTo>
                  <a:pt x="4116" y="429"/>
                </a:lnTo>
                <a:lnTo>
                  <a:pt x="4119" y="433"/>
                </a:lnTo>
                <a:lnTo>
                  <a:pt x="4126" y="441"/>
                </a:lnTo>
                <a:lnTo>
                  <a:pt x="4129" y="446"/>
                </a:lnTo>
                <a:lnTo>
                  <a:pt x="4132" y="450"/>
                </a:lnTo>
                <a:lnTo>
                  <a:pt x="4135" y="456"/>
                </a:lnTo>
                <a:lnTo>
                  <a:pt x="4137" y="461"/>
                </a:lnTo>
                <a:lnTo>
                  <a:pt x="4139" y="467"/>
                </a:lnTo>
                <a:lnTo>
                  <a:pt x="4141" y="473"/>
                </a:lnTo>
                <a:lnTo>
                  <a:pt x="4142" y="479"/>
                </a:lnTo>
                <a:lnTo>
                  <a:pt x="4143" y="486"/>
                </a:lnTo>
                <a:lnTo>
                  <a:pt x="4143" y="493"/>
                </a:lnTo>
                <a:lnTo>
                  <a:pt x="4143" y="500"/>
                </a:lnTo>
                <a:lnTo>
                  <a:pt x="4143" y="514"/>
                </a:lnTo>
                <a:lnTo>
                  <a:pt x="4023" y="514"/>
                </a:lnTo>
                <a:lnTo>
                  <a:pt x="4023" y="519"/>
                </a:lnTo>
                <a:lnTo>
                  <a:pt x="4024" y="523"/>
                </a:lnTo>
                <a:lnTo>
                  <a:pt x="4026" y="532"/>
                </a:lnTo>
                <a:lnTo>
                  <a:pt x="4027" y="535"/>
                </a:lnTo>
                <a:lnTo>
                  <a:pt x="4029" y="539"/>
                </a:lnTo>
                <a:lnTo>
                  <a:pt x="4031" y="542"/>
                </a:lnTo>
                <a:lnTo>
                  <a:pt x="4034" y="545"/>
                </a:lnTo>
                <a:lnTo>
                  <a:pt x="4037" y="548"/>
                </a:lnTo>
                <a:lnTo>
                  <a:pt x="4040" y="550"/>
                </a:lnTo>
                <a:lnTo>
                  <a:pt x="4043" y="552"/>
                </a:lnTo>
                <a:lnTo>
                  <a:pt x="4047" y="554"/>
                </a:lnTo>
                <a:lnTo>
                  <a:pt x="4050" y="555"/>
                </a:lnTo>
                <a:lnTo>
                  <a:pt x="4054" y="556"/>
                </a:lnTo>
                <a:lnTo>
                  <a:pt x="4063" y="557"/>
                </a:lnTo>
                <a:lnTo>
                  <a:pt x="4069" y="556"/>
                </a:lnTo>
                <a:lnTo>
                  <a:pt x="4075" y="555"/>
                </a:lnTo>
                <a:lnTo>
                  <a:pt x="4080" y="554"/>
                </a:lnTo>
                <a:lnTo>
                  <a:pt x="4084" y="551"/>
                </a:lnTo>
                <a:lnTo>
                  <a:pt x="4087" y="550"/>
                </a:lnTo>
                <a:lnTo>
                  <a:pt x="4089" y="548"/>
                </a:lnTo>
                <a:lnTo>
                  <a:pt x="4092" y="545"/>
                </a:lnTo>
                <a:lnTo>
                  <a:pt x="4095" y="541"/>
                </a:lnTo>
                <a:lnTo>
                  <a:pt x="4097" y="536"/>
                </a:lnTo>
                <a:lnTo>
                  <a:pt x="4142" y="539"/>
                </a:lnTo>
                <a:lnTo>
                  <a:pt x="4141" y="545"/>
                </a:lnTo>
                <a:lnTo>
                  <a:pt x="4139" y="551"/>
                </a:lnTo>
                <a:lnTo>
                  <a:pt x="4136" y="556"/>
                </a:lnTo>
                <a:lnTo>
                  <a:pt x="4133" y="561"/>
                </a:lnTo>
                <a:lnTo>
                  <a:pt x="4130" y="566"/>
                </a:lnTo>
                <a:lnTo>
                  <a:pt x="4126" y="570"/>
                </a:lnTo>
                <a:lnTo>
                  <a:pt x="4121" y="575"/>
                </a:lnTo>
                <a:lnTo>
                  <a:pt x="4116" y="578"/>
                </a:lnTo>
                <a:lnTo>
                  <a:pt x="4111" y="582"/>
                </a:lnTo>
                <a:lnTo>
                  <a:pt x="4105" y="585"/>
                </a:lnTo>
                <a:lnTo>
                  <a:pt x="4099" y="587"/>
                </a:lnTo>
                <a:lnTo>
                  <a:pt x="4092" y="589"/>
                </a:lnTo>
                <a:lnTo>
                  <a:pt x="4089" y="590"/>
                </a:lnTo>
                <a:lnTo>
                  <a:pt x="4085" y="591"/>
                </a:lnTo>
                <a:lnTo>
                  <a:pt x="4078" y="592"/>
                </a:lnTo>
                <a:lnTo>
                  <a:pt x="4070" y="593"/>
                </a:lnTo>
                <a:lnTo>
                  <a:pt x="4062" y="593"/>
                </a:lnTo>
                <a:close/>
                <a:moveTo>
                  <a:pt x="4023" y="483"/>
                </a:moveTo>
                <a:lnTo>
                  <a:pt x="4097" y="483"/>
                </a:lnTo>
                <a:lnTo>
                  <a:pt x="4097" y="480"/>
                </a:lnTo>
                <a:lnTo>
                  <a:pt x="4097" y="476"/>
                </a:lnTo>
                <a:lnTo>
                  <a:pt x="4096" y="472"/>
                </a:lnTo>
                <a:lnTo>
                  <a:pt x="4095" y="469"/>
                </a:lnTo>
                <a:lnTo>
                  <a:pt x="4093" y="466"/>
                </a:lnTo>
                <a:lnTo>
                  <a:pt x="4092" y="463"/>
                </a:lnTo>
                <a:lnTo>
                  <a:pt x="4089" y="460"/>
                </a:lnTo>
                <a:lnTo>
                  <a:pt x="4087" y="457"/>
                </a:lnTo>
                <a:lnTo>
                  <a:pt x="4082" y="453"/>
                </a:lnTo>
                <a:lnTo>
                  <a:pt x="4076" y="450"/>
                </a:lnTo>
                <a:lnTo>
                  <a:pt x="4069" y="448"/>
                </a:lnTo>
                <a:lnTo>
                  <a:pt x="4061" y="447"/>
                </a:lnTo>
                <a:lnTo>
                  <a:pt x="4053" y="448"/>
                </a:lnTo>
                <a:lnTo>
                  <a:pt x="4050" y="449"/>
                </a:lnTo>
                <a:lnTo>
                  <a:pt x="4046" y="450"/>
                </a:lnTo>
                <a:lnTo>
                  <a:pt x="4040" y="453"/>
                </a:lnTo>
                <a:lnTo>
                  <a:pt x="4037" y="455"/>
                </a:lnTo>
                <a:lnTo>
                  <a:pt x="4034" y="458"/>
                </a:lnTo>
                <a:lnTo>
                  <a:pt x="4030" y="463"/>
                </a:lnTo>
                <a:lnTo>
                  <a:pt x="4026" y="470"/>
                </a:lnTo>
                <a:lnTo>
                  <a:pt x="4025" y="473"/>
                </a:lnTo>
                <a:lnTo>
                  <a:pt x="4024" y="476"/>
                </a:lnTo>
                <a:lnTo>
                  <a:pt x="4023" y="483"/>
                </a:lnTo>
                <a:close/>
                <a:moveTo>
                  <a:pt x="4267" y="413"/>
                </a:moveTo>
                <a:lnTo>
                  <a:pt x="4267" y="450"/>
                </a:lnTo>
                <a:lnTo>
                  <a:pt x="4234" y="450"/>
                </a:lnTo>
                <a:lnTo>
                  <a:pt x="4234" y="535"/>
                </a:lnTo>
                <a:lnTo>
                  <a:pt x="4234" y="540"/>
                </a:lnTo>
                <a:lnTo>
                  <a:pt x="4235" y="544"/>
                </a:lnTo>
                <a:lnTo>
                  <a:pt x="4236" y="545"/>
                </a:lnTo>
                <a:lnTo>
                  <a:pt x="4236" y="547"/>
                </a:lnTo>
                <a:lnTo>
                  <a:pt x="4238" y="549"/>
                </a:lnTo>
                <a:lnTo>
                  <a:pt x="4241" y="551"/>
                </a:lnTo>
                <a:lnTo>
                  <a:pt x="4244" y="552"/>
                </a:lnTo>
                <a:lnTo>
                  <a:pt x="4247" y="552"/>
                </a:lnTo>
                <a:lnTo>
                  <a:pt x="4250" y="553"/>
                </a:lnTo>
                <a:lnTo>
                  <a:pt x="4257" y="552"/>
                </a:lnTo>
                <a:lnTo>
                  <a:pt x="4263" y="551"/>
                </a:lnTo>
                <a:lnTo>
                  <a:pt x="4270" y="587"/>
                </a:lnTo>
                <a:lnTo>
                  <a:pt x="4260" y="590"/>
                </a:lnTo>
                <a:lnTo>
                  <a:pt x="4253" y="591"/>
                </a:lnTo>
                <a:lnTo>
                  <a:pt x="4244" y="592"/>
                </a:lnTo>
                <a:lnTo>
                  <a:pt x="4237" y="592"/>
                </a:lnTo>
                <a:lnTo>
                  <a:pt x="4231" y="592"/>
                </a:lnTo>
                <a:lnTo>
                  <a:pt x="4225" y="591"/>
                </a:lnTo>
                <a:lnTo>
                  <a:pt x="4220" y="590"/>
                </a:lnTo>
                <a:lnTo>
                  <a:pt x="4214" y="588"/>
                </a:lnTo>
                <a:lnTo>
                  <a:pt x="4210" y="586"/>
                </a:lnTo>
                <a:lnTo>
                  <a:pt x="4205" y="583"/>
                </a:lnTo>
                <a:lnTo>
                  <a:pt x="4201" y="581"/>
                </a:lnTo>
                <a:lnTo>
                  <a:pt x="4197" y="577"/>
                </a:lnTo>
                <a:lnTo>
                  <a:pt x="4194" y="573"/>
                </a:lnTo>
                <a:lnTo>
                  <a:pt x="4191" y="569"/>
                </a:lnTo>
                <a:lnTo>
                  <a:pt x="4189" y="564"/>
                </a:lnTo>
                <a:lnTo>
                  <a:pt x="4187" y="559"/>
                </a:lnTo>
                <a:lnTo>
                  <a:pt x="4186" y="554"/>
                </a:lnTo>
                <a:lnTo>
                  <a:pt x="4185" y="548"/>
                </a:lnTo>
                <a:lnTo>
                  <a:pt x="4185" y="542"/>
                </a:lnTo>
                <a:lnTo>
                  <a:pt x="4185" y="450"/>
                </a:lnTo>
                <a:lnTo>
                  <a:pt x="4161" y="450"/>
                </a:lnTo>
                <a:lnTo>
                  <a:pt x="4161" y="413"/>
                </a:lnTo>
                <a:lnTo>
                  <a:pt x="4185" y="413"/>
                </a:lnTo>
                <a:lnTo>
                  <a:pt x="4185" y="371"/>
                </a:lnTo>
                <a:lnTo>
                  <a:pt x="4234" y="371"/>
                </a:lnTo>
                <a:lnTo>
                  <a:pt x="4234" y="413"/>
                </a:lnTo>
                <a:lnTo>
                  <a:pt x="4267" y="413"/>
                </a:lnTo>
                <a:close/>
                <a:moveTo>
                  <a:pt x="4376" y="593"/>
                </a:moveTo>
                <a:lnTo>
                  <a:pt x="4369" y="593"/>
                </a:lnTo>
                <a:lnTo>
                  <a:pt x="4363" y="592"/>
                </a:lnTo>
                <a:lnTo>
                  <a:pt x="4349" y="590"/>
                </a:lnTo>
                <a:lnTo>
                  <a:pt x="4344" y="589"/>
                </a:lnTo>
                <a:lnTo>
                  <a:pt x="4338" y="587"/>
                </a:lnTo>
                <a:lnTo>
                  <a:pt x="4328" y="582"/>
                </a:lnTo>
                <a:lnTo>
                  <a:pt x="4323" y="579"/>
                </a:lnTo>
                <a:lnTo>
                  <a:pt x="4319" y="576"/>
                </a:lnTo>
                <a:lnTo>
                  <a:pt x="4314" y="572"/>
                </a:lnTo>
                <a:lnTo>
                  <a:pt x="4310" y="569"/>
                </a:lnTo>
                <a:lnTo>
                  <a:pt x="4303" y="560"/>
                </a:lnTo>
                <a:lnTo>
                  <a:pt x="4300" y="555"/>
                </a:lnTo>
                <a:lnTo>
                  <a:pt x="4298" y="550"/>
                </a:lnTo>
                <a:lnTo>
                  <a:pt x="4293" y="540"/>
                </a:lnTo>
                <a:lnTo>
                  <a:pt x="4291" y="534"/>
                </a:lnTo>
                <a:lnTo>
                  <a:pt x="4290" y="528"/>
                </a:lnTo>
                <a:lnTo>
                  <a:pt x="4289" y="522"/>
                </a:lnTo>
                <a:lnTo>
                  <a:pt x="4288" y="516"/>
                </a:lnTo>
                <a:lnTo>
                  <a:pt x="4287" y="509"/>
                </a:lnTo>
                <a:lnTo>
                  <a:pt x="4287" y="502"/>
                </a:lnTo>
                <a:lnTo>
                  <a:pt x="4287" y="495"/>
                </a:lnTo>
                <a:lnTo>
                  <a:pt x="4288" y="489"/>
                </a:lnTo>
                <a:lnTo>
                  <a:pt x="4289" y="483"/>
                </a:lnTo>
                <a:lnTo>
                  <a:pt x="4290" y="477"/>
                </a:lnTo>
                <a:lnTo>
                  <a:pt x="4293" y="465"/>
                </a:lnTo>
                <a:lnTo>
                  <a:pt x="4295" y="459"/>
                </a:lnTo>
                <a:lnTo>
                  <a:pt x="4298" y="454"/>
                </a:lnTo>
                <a:lnTo>
                  <a:pt x="4303" y="445"/>
                </a:lnTo>
                <a:lnTo>
                  <a:pt x="4307" y="440"/>
                </a:lnTo>
                <a:lnTo>
                  <a:pt x="4310" y="436"/>
                </a:lnTo>
                <a:lnTo>
                  <a:pt x="4314" y="432"/>
                </a:lnTo>
                <a:lnTo>
                  <a:pt x="4318" y="428"/>
                </a:lnTo>
                <a:lnTo>
                  <a:pt x="4327" y="422"/>
                </a:lnTo>
                <a:lnTo>
                  <a:pt x="4332" y="419"/>
                </a:lnTo>
                <a:lnTo>
                  <a:pt x="4338" y="417"/>
                </a:lnTo>
                <a:lnTo>
                  <a:pt x="4343" y="415"/>
                </a:lnTo>
                <a:lnTo>
                  <a:pt x="4348" y="413"/>
                </a:lnTo>
                <a:lnTo>
                  <a:pt x="4354" y="412"/>
                </a:lnTo>
                <a:lnTo>
                  <a:pt x="4361" y="411"/>
                </a:lnTo>
                <a:lnTo>
                  <a:pt x="4374" y="411"/>
                </a:lnTo>
                <a:lnTo>
                  <a:pt x="4385" y="411"/>
                </a:lnTo>
                <a:lnTo>
                  <a:pt x="4396" y="413"/>
                </a:lnTo>
                <a:lnTo>
                  <a:pt x="4401" y="414"/>
                </a:lnTo>
                <a:lnTo>
                  <a:pt x="4406" y="416"/>
                </a:lnTo>
                <a:lnTo>
                  <a:pt x="4416" y="421"/>
                </a:lnTo>
                <a:lnTo>
                  <a:pt x="4425" y="426"/>
                </a:lnTo>
                <a:lnTo>
                  <a:pt x="4429" y="429"/>
                </a:lnTo>
                <a:lnTo>
                  <a:pt x="4433" y="433"/>
                </a:lnTo>
                <a:lnTo>
                  <a:pt x="4440" y="441"/>
                </a:lnTo>
                <a:lnTo>
                  <a:pt x="4443" y="446"/>
                </a:lnTo>
                <a:lnTo>
                  <a:pt x="4446" y="450"/>
                </a:lnTo>
                <a:lnTo>
                  <a:pt x="4448" y="456"/>
                </a:lnTo>
                <a:lnTo>
                  <a:pt x="4451" y="461"/>
                </a:lnTo>
                <a:lnTo>
                  <a:pt x="4453" y="467"/>
                </a:lnTo>
                <a:lnTo>
                  <a:pt x="4454" y="473"/>
                </a:lnTo>
                <a:lnTo>
                  <a:pt x="4455" y="479"/>
                </a:lnTo>
                <a:lnTo>
                  <a:pt x="4456" y="486"/>
                </a:lnTo>
                <a:lnTo>
                  <a:pt x="4457" y="493"/>
                </a:lnTo>
                <a:lnTo>
                  <a:pt x="4457" y="500"/>
                </a:lnTo>
                <a:lnTo>
                  <a:pt x="4457" y="514"/>
                </a:lnTo>
                <a:lnTo>
                  <a:pt x="4335" y="514"/>
                </a:lnTo>
                <a:lnTo>
                  <a:pt x="4336" y="519"/>
                </a:lnTo>
                <a:lnTo>
                  <a:pt x="4336" y="523"/>
                </a:lnTo>
                <a:lnTo>
                  <a:pt x="4338" y="532"/>
                </a:lnTo>
                <a:lnTo>
                  <a:pt x="4342" y="539"/>
                </a:lnTo>
                <a:lnTo>
                  <a:pt x="4344" y="542"/>
                </a:lnTo>
                <a:lnTo>
                  <a:pt x="4346" y="545"/>
                </a:lnTo>
                <a:lnTo>
                  <a:pt x="4349" y="548"/>
                </a:lnTo>
                <a:lnTo>
                  <a:pt x="4352" y="550"/>
                </a:lnTo>
                <a:lnTo>
                  <a:pt x="4355" y="552"/>
                </a:lnTo>
                <a:lnTo>
                  <a:pt x="4360" y="554"/>
                </a:lnTo>
                <a:lnTo>
                  <a:pt x="4364" y="555"/>
                </a:lnTo>
                <a:lnTo>
                  <a:pt x="4368" y="556"/>
                </a:lnTo>
                <a:lnTo>
                  <a:pt x="4377" y="557"/>
                </a:lnTo>
                <a:lnTo>
                  <a:pt x="4382" y="556"/>
                </a:lnTo>
                <a:lnTo>
                  <a:pt x="4388" y="555"/>
                </a:lnTo>
                <a:lnTo>
                  <a:pt x="4393" y="554"/>
                </a:lnTo>
                <a:lnTo>
                  <a:pt x="4398" y="551"/>
                </a:lnTo>
                <a:lnTo>
                  <a:pt x="4400" y="550"/>
                </a:lnTo>
                <a:lnTo>
                  <a:pt x="4402" y="548"/>
                </a:lnTo>
                <a:lnTo>
                  <a:pt x="4405" y="545"/>
                </a:lnTo>
                <a:lnTo>
                  <a:pt x="4408" y="541"/>
                </a:lnTo>
                <a:lnTo>
                  <a:pt x="4410" y="536"/>
                </a:lnTo>
                <a:lnTo>
                  <a:pt x="4456" y="539"/>
                </a:lnTo>
                <a:lnTo>
                  <a:pt x="4454" y="545"/>
                </a:lnTo>
                <a:lnTo>
                  <a:pt x="4452" y="551"/>
                </a:lnTo>
                <a:lnTo>
                  <a:pt x="4450" y="556"/>
                </a:lnTo>
                <a:lnTo>
                  <a:pt x="4447" y="561"/>
                </a:lnTo>
                <a:lnTo>
                  <a:pt x="4443" y="566"/>
                </a:lnTo>
                <a:lnTo>
                  <a:pt x="4439" y="570"/>
                </a:lnTo>
                <a:lnTo>
                  <a:pt x="4435" y="575"/>
                </a:lnTo>
                <a:lnTo>
                  <a:pt x="4430" y="578"/>
                </a:lnTo>
                <a:lnTo>
                  <a:pt x="4424" y="582"/>
                </a:lnTo>
                <a:lnTo>
                  <a:pt x="4418" y="585"/>
                </a:lnTo>
                <a:lnTo>
                  <a:pt x="4412" y="587"/>
                </a:lnTo>
                <a:lnTo>
                  <a:pt x="4406" y="589"/>
                </a:lnTo>
                <a:lnTo>
                  <a:pt x="4402" y="590"/>
                </a:lnTo>
                <a:lnTo>
                  <a:pt x="4399" y="591"/>
                </a:lnTo>
                <a:lnTo>
                  <a:pt x="4391" y="592"/>
                </a:lnTo>
                <a:lnTo>
                  <a:pt x="4384" y="593"/>
                </a:lnTo>
                <a:lnTo>
                  <a:pt x="4376" y="593"/>
                </a:lnTo>
                <a:close/>
                <a:moveTo>
                  <a:pt x="4335" y="483"/>
                </a:moveTo>
                <a:lnTo>
                  <a:pt x="4411" y="483"/>
                </a:lnTo>
                <a:lnTo>
                  <a:pt x="4411" y="480"/>
                </a:lnTo>
                <a:lnTo>
                  <a:pt x="4410" y="476"/>
                </a:lnTo>
                <a:lnTo>
                  <a:pt x="4409" y="472"/>
                </a:lnTo>
                <a:lnTo>
                  <a:pt x="4408" y="469"/>
                </a:lnTo>
                <a:lnTo>
                  <a:pt x="4407" y="466"/>
                </a:lnTo>
                <a:lnTo>
                  <a:pt x="4405" y="463"/>
                </a:lnTo>
                <a:lnTo>
                  <a:pt x="4403" y="460"/>
                </a:lnTo>
                <a:lnTo>
                  <a:pt x="4401" y="457"/>
                </a:lnTo>
                <a:lnTo>
                  <a:pt x="4395" y="453"/>
                </a:lnTo>
                <a:lnTo>
                  <a:pt x="4389" y="450"/>
                </a:lnTo>
                <a:lnTo>
                  <a:pt x="4382" y="448"/>
                </a:lnTo>
                <a:lnTo>
                  <a:pt x="4375" y="447"/>
                </a:lnTo>
                <a:lnTo>
                  <a:pt x="4367" y="448"/>
                </a:lnTo>
                <a:lnTo>
                  <a:pt x="4363" y="449"/>
                </a:lnTo>
                <a:lnTo>
                  <a:pt x="4360" y="450"/>
                </a:lnTo>
                <a:lnTo>
                  <a:pt x="4352" y="453"/>
                </a:lnTo>
                <a:lnTo>
                  <a:pt x="4349" y="455"/>
                </a:lnTo>
                <a:lnTo>
                  <a:pt x="4347" y="458"/>
                </a:lnTo>
                <a:lnTo>
                  <a:pt x="4342" y="463"/>
                </a:lnTo>
                <a:lnTo>
                  <a:pt x="4339" y="470"/>
                </a:lnTo>
                <a:lnTo>
                  <a:pt x="4337" y="473"/>
                </a:lnTo>
                <a:lnTo>
                  <a:pt x="4336" y="476"/>
                </a:lnTo>
                <a:lnTo>
                  <a:pt x="4335" y="483"/>
                </a:lnTo>
                <a:close/>
                <a:moveTo>
                  <a:pt x="4580" y="413"/>
                </a:moveTo>
                <a:lnTo>
                  <a:pt x="4580" y="450"/>
                </a:lnTo>
                <a:lnTo>
                  <a:pt x="4547" y="450"/>
                </a:lnTo>
                <a:lnTo>
                  <a:pt x="4547" y="535"/>
                </a:lnTo>
                <a:lnTo>
                  <a:pt x="4548" y="540"/>
                </a:lnTo>
                <a:lnTo>
                  <a:pt x="4548" y="544"/>
                </a:lnTo>
                <a:lnTo>
                  <a:pt x="4549" y="545"/>
                </a:lnTo>
                <a:lnTo>
                  <a:pt x="4550" y="547"/>
                </a:lnTo>
                <a:lnTo>
                  <a:pt x="4552" y="549"/>
                </a:lnTo>
                <a:lnTo>
                  <a:pt x="4554" y="551"/>
                </a:lnTo>
                <a:lnTo>
                  <a:pt x="4557" y="552"/>
                </a:lnTo>
                <a:lnTo>
                  <a:pt x="4560" y="552"/>
                </a:lnTo>
                <a:lnTo>
                  <a:pt x="4564" y="553"/>
                </a:lnTo>
                <a:lnTo>
                  <a:pt x="4571" y="552"/>
                </a:lnTo>
                <a:lnTo>
                  <a:pt x="4576" y="551"/>
                </a:lnTo>
                <a:lnTo>
                  <a:pt x="4584" y="587"/>
                </a:lnTo>
                <a:lnTo>
                  <a:pt x="4573" y="590"/>
                </a:lnTo>
                <a:lnTo>
                  <a:pt x="4566" y="591"/>
                </a:lnTo>
                <a:lnTo>
                  <a:pt x="4557" y="592"/>
                </a:lnTo>
                <a:lnTo>
                  <a:pt x="4551" y="592"/>
                </a:lnTo>
                <a:lnTo>
                  <a:pt x="4544" y="592"/>
                </a:lnTo>
                <a:lnTo>
                  <a:pt x="4539" y="591"/>
                </a:lnTo>
                <a:lnTo>
                  <a:pt x="4533" y="590"/>
                </a:lnTo>
                <a:lnTo>
                  <a:pt x="4528" y="588"/>
                </a:lnTo>
                <a:lnTo>
                  <a:pt x="4523" y="586"/>
                </a:lnTo>
                <a:lnTo>
                  <a:pt x="4518" y="583"/>
                </a:lnTo>
                <a:lnTo>
                  <a:pt x="4514" y="581"/>
                </a:lnTo>
                <a:lnTo>
                  <a:pt x="4510" y="577"/>
                </a:lnTo>
                <a:lnTo>
                  <a:pt x="4507" y="573"/>
                </a:lnTo>
                <a:lnTo>
                  <a:pt x="4504" y="569"/>
                </a:lnTo>
                <a:lnTo>
                  <a:pt x="4502" y="564"/>
                </a:lnTo>
                <a:lnTo>
                  <a:pt x="4500" y="559"/>
                </a:lnTo>
                <a:lnTo>
                  <a:pt x="4499" y="554"/>
                </a:lnTo>
                <a:lnTo>
                  <a:pt x="4498" y="548"/>
                </a:lnTo>
                <a:lnTo>
                  <a:pt x="4498" y="542"/>
                </a:lnTo>
                <a:lnTo>
                  <a:pt x="4498" y="450"/>
                </a:lnTo>
                <a:lnTo>
                  <a:pt x="4474" y="450"/>
                </a:lnTo>
                <a:lnTo>
                  <a:pt x="4474" y="413"/>
                </a:lnTo>
                <a:lnTo>
                  <a:pt x="4498" y="413"/>
                </a:lnTo>
                <a:lnTo>
                  <a:pt x="4498" y="371"/>
                </a:lnTo>
                <a:lnTo>
                  <a:pt x="4547" y="371"/>
                </a:lnTo>
                <a:lnTo>
                  <a:pt x="4547" y="413"/>
                </a:lnTo>
                <a:lnTo>
                  <a:pt x="4580" y="413"/>
                </a:lnTo>
                <a:close/>
                <a:moveTo>
                  <a:pt x="578" y="585"/>
                </a:moveTo>
                <a:lnTo>
                  <a:pt x="465" y="257"/>
                </a:lnTo>
                <a:lnTo>
                  <a:pt x="352" y="585"/>
                </a:lnTo>
                <a:lnTo>
                  <a:pt x="578" y="585"/>
                </a:lnTo>
                <a:close/>
                <a:moveTo>
                  <a:pt x="930" y="930"/>
                </a:moveTo>
                <a:lnTo>
                  <a:pt x="699" y="930"/>
                </a:lnTo>
                <a:lnTo>
                  <a:pt x="642" y="768"/>
                </a:lnTo>
                <a:lnTo>
                  <a:pt x="288" y="768"/>
                </a:lnTo>
                <a:lnTo>
                  <a:pt x="232" y="930"/>
                </a:lnTo>
                <a:lnTo>
                  <a:pt x="0" y="930"/>
                </a:lnTo>
                <a:lnTo>
                  <a:pt x="162" y="471"/>
                </a:lnTo>
                <a:lnTo>
                  <a:pt x="326" y="12"/>
                </a:lnTo>
                <a:lnTo>
                  <a:pt x="603" y="12"/>
                </a:lnTo>
                <a:lnTo>
                  <a:pt x="767" y="471"/>
                </a:lnTo>
                <a:lnTo>
                  <a:pt x="930" y="930"/>
                </a:lnTo>
                <a:close/>
                <a:moveTo>
                  <a:pt x="1016" y="930"/>
                </a:moveTo>
                <a:lnTo>
                  <a:pt x="1016" y="722"/>
                </a:lnTo>
                <a:lnTo>
                  <a:pt x="1225" y="722"/>
                </a:lnTo>
                <a:lnTo>
                  <a:pt x="1225" y="930"/>
                </a:lnTo>
                <a:lnTo>
                  <a:pt x="1016" y="9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214FC4-D5E6-4BFF-BDD7-E1A5F00F21BF}"/>
              </a:ext>
            </a:extLst>
          </p:cNvPr>
          <p:cNvCxnSpPr>
            <a:cxnSpLocks/>
          </p:cNvCxnSpPr>
          <p:nvPr/>
        </p:nvCxnSpPr>
        <p:spPr>
          <a:xfrm>
            <a:off x="6600056" y="1233937"/>
            <a:ext cx="396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A1682D5-9875-6DFE-B1FA-F20EE130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1B3CB0-6D42-4A3D-BA02-FB7BF29EA559}" type="datetime1">
              <a:rPr lang="fi-FI" smtClean="0"/>
              <a:t>24.9.2025</a:t>
            </a:fld>
            <a:endParaRPr lang="fi-FI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B76FCA5-9DA7-BF02-3EBB-BC56DDA0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07BD9D2-D4DB-4F42-21C0-76A363F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41435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91D0-BA71-4930-90B6-9C26923BB7A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65843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6476-C2D2-4758-B513-0C56AE264C3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1617C-A1F8-7D62-64C2-33C28BF06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5688" y="2205039"/>
            <a:ext cx="10080625" cy="3671886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7660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ED0B97-304B-4A37-964C-4FF5CC87DCC8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1617C-A1F8-7D62-64C2-33C28BF06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5688" y="2205039"/>
            <a:ext cx="10080625" cy="3671886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1290A9EE-B882-1AC8-FB03-9E891579AE3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00206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2CFA-D290-47C3-89D1-77F4ECF21958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1617C-A1F8-7D62-64C2-33C28BF06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5688" y="2205039"/>
            <a:ext cx="10080625" cy="3671886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618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9333C-41AE-4B20-BE24-B044B1819EFD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1617C-A1F8-7D62-64C2-33C28BF06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5688" y="2205039"/>
            <a:ext cx="10080625" cy="3671886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4550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8183-BD44-402F-BB29-17C16323EDBE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1617C-A1F8-7D62-64C2-33C28BF06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5688" y="2205039"/>
            <a:ext cx="10080625" cy="3671886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3780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/>
            </a:lvl1pPr>
            <a:lvl2pPr marL="539750" indent="-266700">
              <a:defRPr/>
            </a:lvl2pPr>
            <a:lvl3pPr marL="808038" indent="-276225">
              <a:defRPr/>
            </a:lvl3pPr>
            <a:lvl4pPr marL="1077913" indent="-266700">
              <a:defRPr/>
            </a:lvl4pPr>
            <a:lvl5pPr marL="1347788" indent="-266700">
              <a:defRPr/>
            </a:lvl5pPr>
            <a:lvl6pPr marL="1617663" indent="-266700">
              <a:defRPr/>
            </a:lvl6pPr>
            <a:lvl7pPr marL="1885950" indent="-276225">
              <a:defRPr/>
            </a:lvl7pPr>
            <a:lvl8pPr marL="2155825" indent="-266700">
              <a:defRPr/>
            </a:lvl8pPr>
            <a:lvl9pPr marL="2425700" indent="-2667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1240-A509-41BB-B3D4-03E0ED8C18A8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56715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ullets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9750" indent="-266700">
              <a:defRPr>
                <a:solidFill>
                  <a:schemeClr val="bg1"/>
                </a:solidFill>
              </a:defRPr>
            </a:lvl2pPr>
            <a:lvl3pPr marL="808038" indent="-276225">
              <a:defRPr>
                <a:solidFill>
                  <a:schemeClr val="bg1"/>
                </a:solidFill>
              </a:defRPr>
            </a:lvl3pPr>
            <a:lvl4pPr marL="1077913" indent="-266700">
              <a:defRPr>
                <a:solidFill>
                  <a:schemeClr val="bg1"/>
                </a:solidFill>
              </a:defRPr>
            </a:lvl4pPr>
            <a:lvl5pPr marL="1347788" indent="-266700">
              <a:defRPr>
                <a:solidFill>
                  <a:schemeClr val="bg1"/>
                </a:solidFill>
              </a:defRPr>
            </a:lvl5pPr>
            <a:lvl6pPr marL="1617663" indent="-266700">
              <a:defRPr>
                <a:solidFill>
                  <a:schemeClr val="bg1"/>
                </a:solidFill>
              </a:defRPr>
            </a:lvl6pPr>
            <a:lvl7pPr marL="1885950" indent="-276225">
              <a:defRPr>
                <a:solidFill>
                  <a:schemeClr val="bg1"/>
                </a:solidFill>
              </a:defRPr>
            </a:lvl7pPr>
            <a:lvl8pPr marL="2155825" indent="-266700">
              <a:defRPr>
                <a:solidFill>
                  <a:schemeClr val="bg1"/>
                </a:solidFill>
              </a:defRPr>
            </a:lvl8pPr>
            <a:lvl9pPr marL="2425700" indent="-2667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BB4AD1-9B19-4FCC-A824-85533512B08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925B5BF-537D-28C4-E616-ABEDC53298D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2932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 and Conten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/>
            </a:lvl1pPr>
            <a:lvl2pPr marL="539750" indent="-266700">
              <a:defRPr/>
            </a:lvl2pPr>
            <a:lvl3pPr marL="808038" indent="-276225">
              <a:defRPr/>
            </a:lvl3pPr>
            <a:lvl4pPr marL="1077913" indent="-266700">
              <a:defRPr/>
            </a:lvl4pPr>
            <a:lvl5pPr marL="1347788" indent="-266700">
              <a:defRPr/>
            </a:lvl5pPr>
            <a:lvl6pPr marL="1617663" indent="-266700">
              <a:defRPr/>
            </a:lvl6pPr>
            <a:lvl7pPr marL="1885950" indent="-276225">
              <a:defRPr/>
            </a:lvl7pPr>
            <a:lvl8pPr marL="2155825" indent="-266700">
              <a:defRPr/>
            </a:lvl8pPr>
            <a:lvl9pPr marL="2425700" indent="-2667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B6E8-79D7-4555-9A79-970A381D5D43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8940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 and Content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/>
            </a:lvl1pPr>
            <a:lvl2pPr marL="539750" indent="-266700">
              <a:defRPr/>
            </a:lvl2pPr>
            <a:lvl3pPr marL="808038" indent="-276225">
              <a:defRPr/>
            </a:lvl3pPr>
            <a:lvl4pPr marL="1077913" indent="-266700">
              <a:defRPr/>
            </a:lvl4pPr>
            <a:lvl5pPr marL="1347788" indent="-266700">
              <a:defRPr/>
            </a:lvl5pPr>
            <a:lvl6pPr marL="1617663" indent="-266700">
              <a:defRPr/>
            </a:lvl6pPr>
            <a:lvl7pPr marL="1885950" indent="-276225">
              <a:defRPr/>
            </a:lvl7pPr>
            <a:lvl8pPr marL="2155825" indent="-266700">
              <a:defRPr/>
            </a:lvl8pPr>
            <a:lvl9pPr marL="2425700" indent="-2667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6C929-5BC8-452D-910B-4BF79563C176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4732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 and Content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/>
            </a:lvl1pPr>
            <a:lvl2pPr marL="539750" indent="-266700">
              <a:defRPr/>
            </a:lvl2pPr>
            <a:lvl3pPr marL="808038" indent="-276225">
              <a:defRPr/>
            </a:lvl3pPr>
            <a:lvl4pPr marL="1077913" indent="-266700">
              <a:defRPr/>
            </a:lvl4pPr>
            <a:lvl5pPr marL="1347788" indent="-266700">
              <a:defRPr/>
            </a:lvl5pPr>
            <a:lvl6pPr marL="1617663" indent="-266700">
              <a:defRPr/>
            </a:lvl6pPr>
            <a:lvl7pPr marL="1885950" indent="-276225">
              <a:defRPr/>
            </a:lvl7pPr>
            <a:lvl8pPr marL="2155825" indent="-266700">
              <a:defRPr/>
            </a:lvl8pPr>
            <a:lvl9pPr marL="2425700" indent="-2667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CD90-F2D3-4E8B-8B58-F509DCE77095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9990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748EA-64F1-4FF8-A310-D65A4D8F8CE2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AF440-5C52-ECEB-B15D-EBBA951D8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2689DE4-F150-1AC4-080E-1FC4078A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86658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6D1069C-CFD7-4CB9-A7EF-D3E01EC9DFA2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AF440-5C52-ECEB-B15D-EBBA951D8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4896296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2689DE4-F150-1AC4-080E-1FC4078A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2205037"/>
            <a:ext cx="4896296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18D0D236-0E9F-85F5-9BC1-6B8DF3DB512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09642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B0B8-A1FA-4B69-955F-690159AD7610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AF440-5C52-ECEB-B15D-EBBA951D8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2689DE4-F150-1AC4-080E-1FC4078A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33962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132A7-3389-4F56-B2C9-2B8B9489C75B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AF440-5C52-ECEB-B15D-EBBA951D8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2689DE4-F150-1AC4-080E-1FC4078A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548651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139D2-6CDC-4B99-9F01-EE52CFA829E7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3AF440-5C52-ECEB-B15D-EBBA951D8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2689DE4-F150-1AC4-080E-1FC4078A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2205037"/>
            <a:ext cx="4896296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36162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3168104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BFA1-AAA3-B436-0EE2-E469AA39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1825" y="2205037"/>
            <a:ext cx="316835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1B3-F4B3-44ED-8C76-EAF5908FB5A6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A1A8FC-ED18-02E4-A33A-C74DEBE3A1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8208" y="2205037"/>
            <a:ext cx="3168105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563379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3168104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BFA1-AAA3-B436-0EE2-E469AA39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1825" y="2205037"/>
            <a:ext cx="3168352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D33729-D1DA-44A5-B716-959F727C477B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A1A8FC-ED18-02E4-A33A-C74DEBE3A1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8208" y="2205037"/>
            <a:ext cx="3168105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7912BB5-9834-D960-62E3-9D95A380EB5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726333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3168104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BFA1-AAA3-B436-0EE2-E469AA39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1825" y="2205037"/>
            <a:ext cx="316835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DB6B-93BC-4489-BE45-E1138EA5C50F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A1A8FC-ED18-02E4-A33A-C74DEBE3A1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8208" y="2205037"/>
            <a:ext cx="3168105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866850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3168104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BFA1-AAA3-B436-0EE2-E469AA39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1825" y="2205037"/>
            <a:ext cx="316835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188E-E294-49D7-81EF-207455EE32A1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A1A8FC-ED18-02E4-A33A-C74DEBE3A1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8208" y="2205037"/>
            <a:ext cx="3168105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035503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688" y="2205037"/>
            <a:ext cx="3168104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BFA1-AAA3-B436-0EE2-E469AA39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1825" y="2205037"/>
            <a:ext cx="316835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94EE-2C45-4D4C-9922-C3FF625AEECA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A1A8FC-ED18-02E4-A33A-C74DEBE3A1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8208" y="2205037"/>
            <a:ext cx="3168105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05903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91D0-BA71-4930-90B6-9C26923BB7A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680086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D479A-DB2F-447E-9BA3-10E3683883B7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5A269375-E1A8-C31B-7E8E-7F024302667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678250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E360-DC58-451D-88AB-8D5FAB6EAF21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831382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48EE-D9C2-44B2-87A1-0DAC0DC35107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753090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E05B-FFAF-0858-13F9-0EB7AD3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BAE1-440C-4375-9AB8-FBF655257209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89D3-D829-039B-7727-4ABD59B9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E2EE-0379-76A8-D3FE-92AD796C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95DFD4-86D0-9FF1-D4D8-602EECF8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182779"/>
            <a:ext cx="11371365" cy="492443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570951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1079971"/>
          </a:xfrm>
        </p:spPr>
        <p:txBody>
          <a:bodyPr/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2205037"/>
            <a:ext cx="532797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2C7BC-AA75-561B-AC06-1034496152F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1C5049-DAE1-4EBF-A7B2-0C7C354C206B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EC51CAF-7174-FC82-643D-1D327D11943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484465-F54B-AF10-4DE5-9408CEC679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82666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and Pictur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1079971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2205037"/>
            <a:ext cx="5327972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E9DBB8D9-1FAC-C1EB-F377-B1DBC3921D1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D950C6D-A26F-82AD-182C-D6A75325AAB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98B13E-06C0-48AA-84B5-8369B4E5AEEA}" type="datetime1">
              <a:rPr lang="fi-FI" smtClean="0"/>
              <a:t>24.9.2025</a:t>
            </a:fld>
            <a:endParaRPr lang="fi-FI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6FD463F-4C08-CD4B-ACA8-A8D406E1D0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DEFB73-E47C-07B1-833F-288DD37CC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281762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1079971"/>
          </a:xfrm>
        </p:spPr>
        <p:txBody>
          <a:bodyPr/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2205037"/>
            <a:ext cx="532797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B32AC-0ABC-0E7B-294B-708C591BFA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23783B-DD0F-4710-A1BA-5480E3CE4EE6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E3C45FD-2DA7-21D3-D7EA-EDB8CC0DED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7EF4F3-F356-D015-B51C-F58A2EFAFC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111945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1079971"/>
          </a:xfrm>
        </p:spPr>
        <p:txBody>
          <a:bodyPr/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2205037"/>
            <a:ext cx="532797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7003-12B8-DA47-F8E1-382B0F5AA9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1AB077-7286-4FF1-84B3-C1003786B57B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D2F484C-0C8C-D0FD-09BC-0B16D6CA57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F20DBE-D9A9-41D0-C209-1177231424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704568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1079971"/>
          </a:xfrm>
        </p:spPr>
        <p:txBody>
          <a:bodyPr/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2205037"/>
            <a:ext cx="5327972" cy="3671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B3000-AED7-FFA7-06DD-1B8AF1D7EF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A87482-3D8E-4882-AB23-A56E187BB32F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980F80-8A9D-A1A1-2592-73099A5065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1E2DBB-4A09-9204-F075-52D5356D84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40881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tx1"/>
          </a:solidFill>
        </p:spPr>
        <p:txBody>
          <a:bodyPr lIns="360000" tIns="360000" rIns="360000" bIns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1076325" indent="0">
              <a:buNone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0C619-D2A1-26CD-F8DE-1F1FC0A0EB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1C6DA5-7F61-474B-AC43-026E42EF5815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340A2-ADB0-C4DB-BEC4-741C5D2BFA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832BD1-9BBA-98CE-116F-05ABC6CBA9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054837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tx1"/>
          </a:solidFill>
        </p:spPr>
        <p:txBody>
          <a:bodyPr lIns="360000" tIns="360000" rIns="360000" bIns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1076325" indent="0">
              <a:buNone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A142A-BF4E-5EF0-8055-D60384BD50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92C395-50BE-4067-966F-BBD3DB69F6F1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780F4-1A92-F147-469C-3F289BD99E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96244F1-5AD7-1A82-FC48-D3C4AC0F7D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343028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tx1"/>
          </a:solidFill>
        </p:spPr>
        <p:txBody>
          <a:bodyPr lIns="360000" tIns="360000" rIns="360000" bIns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1076325" indent="0">
              <a:buNone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993854-8244-43E3-C637-3DC3E22EE8C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3B29AF-7AEB-418F-9FB6-5C771EFBF7A8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C7C5B-53CC-BAF2-FF29-BF8EBB2FDD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487434-97D5-2547-3523-2345F0919C5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079673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2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tx1"/>
          </a:solidFill>
        </p:spPr>
        <p:txBody>
          <a:bodyPr lIns="360000" tIns="360000" rIns="360000" bIns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1076325" indent="0">
              <a:buNone/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9C5E6-3848-DD51-861F-1560139569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D875B4-12A4-4E7C-A967-BE39110B5BD3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DF37D-70A5-B3BF-17C8-24A668D69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3D1A9-B4DE-2DBA-6821-ED921573F1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8152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3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bg1"/>
          </a:solidFill>
        </p:spPr>
        <p:txBody>
          <a:bodyPr lIns="360000" tIns="360000" rIns="360000" b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F7FF4B69-C798-C3F1-7188-B925B03733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0E494-A65E-1D78-DB63-3C5D959CBF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F2C208E-BFE5-4C7F-9FE0-F5C263B90072}" type="datetime1">
              <a:rPr lang="fi-FI" smtClean="0"/>
              <a:t>24.9.2025</a:t>
            </a:fld>
            <a:endParaRPr lang="fi-FI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7EEDB51-27D7-7F66-3869-56438094A3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036D707-D9E0-5D34-60D5-E79DC68815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586776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3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accent3"/>
          </a:solidFill>
        </p:spPr>
        <p:txBody>
          <a:bodyPr lIns="360000" tIns="360000" rIns="360000" b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F7FF4B69-C798-C3F1-7188-B925B03733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DC4F0-F8C6-06CD-A34E-EF0D5D3EF4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09E609A-1AB3-4F6D-944B-59C5E6DF5A4F}" type="datetime1">
              <a:rPr lang="fi-FI" smtClean="0"/>
              <a:t>24.9.2025</a:t>
            </a:fld>
            <a:endParaRPr lang="fi-FI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46D1C0-3FD0-2362-C159-BEADDB3EF4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C20592-6442-81CE-E493-1241C6AC5F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068722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3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accent2"/>
          </a:solidFill>
        </p:spPr>
        <p:txBody>
          <a:bodyPr lIns="360000" tIns="360000" rIns="360000" b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F7FF4B69-C798-C3F1-7188-B925B03733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26E52-F01E-BC81-F222-7E4621B627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C44718-D510-4448-A541-0C722B037997}" type="datetime1">
              <a:rPr lang="fi-FI" smtClean="0"/>
              <a:t>24.9.2025</a:t>
            </a:fld>
            <a:endParaRPr lang="fi-FI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7057D4-C8D8-E41D-29C3-A43C0026CE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9318E7-B01A-6A00-49C8-15BE06F449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725615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3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3429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</a:t>
            </a:r>
            <a:br>
              <a:rPr lang="fi-FI" noProof="1"/>
            </a:br>
            <a:r>
              <a:rPr lang="fi-FI" noProof="1"/>
              <a:t>Fit the image to frame by choosing:</a:t>
            </a:r>
            <a:br>
              <a:rPr lang="fi-FI" noProof="1"/>
            </a:br>
            <a:r>
              <a:rPr lang="fi-FI" noProof="1"/>
              <a:t>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9DCEB1-9C2B-0120-BA93-9B57D41B9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6096000" cy="3429000"/>
          </a:xfrm>
          <a:solidFill>
            <a:schemeClr val="accent1"/>
          </a:solidFill>
        </p:spPr>
        <p:txBody>
          <a:bodyPr lIns="360000" tIns="360000" rIns="360000" b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F7FF4B69-C798-C3F1-7188-B925B03733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9FBD-DF44-BB8B-9867-383C65A5BB2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4F2E637-55F1-424E-850D-C7CF1DF9A8DF}" type="datetime1">
              <a:rPr lang="fi-FI" smtClean="0"/>
              <a:t>24.9.2025</a:t>
            </a:fld>
            <a:endParaRPr lang="fi-FI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79603E4-4E8F-7DE5-DBF4-3D80A204C0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85C845B-33B8-3089-1820-F8375F1F31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3258410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image, Fit the image to frame by choosing: 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C31FA69-E208-B16D-749C-C889E904FF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7988" y="6165336"/>
            <a:ext cx="385200" cy="28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1E97D-067B-6A56-E3C1-E0B0E8237E3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1433BB3-799A-4858-9AE8-2D0BD859EE3B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DD562FA-3522-5D86-6B5D-D46C31407CA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35D3F8-519A-BD10-B212-14EA8C3C6B2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09334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Ne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vert="horz" lIns="0" tIns="0" rIns="0" bIns="0" rtlCol="0" anchor="t" anchorCtr="0">
            <a:noAutofit/>
          </a:bodyPr>
          <a:lstStyle>
            <a:lvl1pPr>
              <a:defRPr lang="fi-FI" sz="1200" noProof="1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fi-FI" noProof="1"/>
              <a:t>Click icon to add image, Fit the image to frame by choosing: crop&gt;fit / rajaa&gt;sovita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5327973" cy="415498"/>
          </a:xfrm>
        </p:spPr>
        <p:txBody>
          <a:bodyPr>
            <a:spAutoFit/>
          </a:bodyPr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C31FA69-E208-B16D-749C-C889E904FF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7988" y="6165336"/>
            <a:ext cx="385200" cy="28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8E6FE-529C-6F82-E69C-32498ED0463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A5EB07-D21D-49B5-AE7A-016634FFB222}" type="datetime1">
              <a:rPr lang="fi-FI" smtClean="0"/>
              <a:t>24.9.2025</a:t>
            </a:fld>
            <a:endParaRPr lang="fi-FI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8CC8F0-0CF6-102F-F83A-926998C0334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5F946C-BD14-D558-2FBC-9358BC12A7B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61057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049C-A29A-43EB-8A26-47DC3C4E28E5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1E4B692-D8EE-2089-7427-A5399BE66F3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07988" y="1844674"/>
            <a:ext cx="2016119" cy="1296293"/>
          </a:xfrm>
        </p:spPr>
        <p:txBody>
          <a:bodyPr anchor="t" anchorCtr="0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FA5604-DFA9-5599-E5FB-95F12FB285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3284538"/>
            <a:ext cx="2015604" cy="2592387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27A3A4-CC58-367B-E36F-7AC44E8EC4D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711607" y="1844674"/>
            <a:ext cx="2088765" cy="1296293"/>
          </a:xfrm>
        </p:spPr>
        <p:txBody>
          <a:bodyPr anchor="t" anchorCtr="0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6A71658-2640-5820-00C0-A497E0475D0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087880" y="1844674"/>
            <a:ext cx="2016738" cy="1296293"/>
          </a:xfrm>
        </p:spPr>
        <p:txBody>
          <a:bodyPr anchor="t" anchorCtr="0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507729F-3FC3-227F-5A8B-85517FBB16B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392126" y="1844674"/>
            <a:ext cx="2088765" cy="1296293"/>
          </a:xfrm>
        </p:spPr>
        <p:txBody>
          <a:bodyPr anchor="t" anchorCtr="0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B959ACE-C45A-F672-6EF3-2497A285A00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9768409" y="1844674"/>
            <a:ext cx="2016120" cy="1296293"/>
          </a:xfrm>
        </p:spPr>
        <p:txBody>
          <a:bodyPr anchor="t" anchorCtr="0"/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D9D79536-3D7F-7D6F-2BE3-5C618CB120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11624" y="3284538"/>
            <a:ext cx="2088232" cy="2592387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9B545D8-3555-6CE3-D8FD-D2E749B189F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88198" y="3284538"/>
            <a:ext cx="2015604" cy="2592387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DB34C07-D845-0A71-7110-873D3E54FE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2144" y="3284538"/>
            <a:ext cx="2088232" cy="2592387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12168A2-46B4-55B8-F41F-994C00D2483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69028" y="3284538"/>
            <a:ext cx="2015604" cy="2592387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95700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B8057-5B10-4860-BED8-96FD12809D40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909D46F-AC09-DECA-BACA-C1675FF98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87E3998-D801-6A68-FC17-6DEBC7159F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1162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D97F3D4F-F6AB-ED14-9484-30FEA15061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8819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F5BB4B25-AFF9-AFEA-85BA-E387072E79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9214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DB44BCB-11F4-E11F-6050-6499858CFA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6902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0527BA6-8E7F-91F7-0FF5-EAFF7FBB23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7988" y="1844673"/>
            <a:ext cx="1584000" cy="1584000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5B7FD09-6933-9B2C-E660-44271E46576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711607" y="1844673"/>
            <a:ext cx="1584000" cy="1584000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E9BC9FF-8079-A9F7-940B-AD180B5C711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87880" y="1844673"/>
            <a:ext cx="1584000" cy="1584000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E256EA-AF3A-004E-60D5-EB46182584F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392126" y="1844673"/>
            <a:ext cx="1584000" cy="1584000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3F0EB54-3301-1385-D27F-5E7B2877AC9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768409" y="1844673"/>
            <a:ext cx="1584000" cy="1584000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57289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B8057-5B10-4860-BED8-96FD12809D40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909D46F-AC09-DECA-BACA-C1675FF98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87E3998-D801-6A68-FC17-6DEBC7159F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1162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D97F3D4F-F6AB-ED14-9484-30FEA15061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8819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F5BB4B25-AFF9-AFEA-85BA-E387072E79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9214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DB44BCB-11F4-E11F-6050-6499858CFA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6902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0527BA6-8E7F-91F7-0FF5-EAFF7FBB23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7988" y="1844673"/>
            <a:ext cx="1584000" cy="1584000"/>
          </a:xfrm>
          <a:prstGeom prst="ellipse">
            <a:avLst/>
          </a:prstGeom>
          <a:solidFill>
            <a:schemeClr val="accent3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5B7FD09-6933-9B2C-E660-44271E46576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711607" y="1844673"/>
            <a:ext cx="1584000" cy="1584000"/>
          </a:xfrm>
          <a:prstGeom prst="ellipse">
            <a:avLst/>
          </a:prstGeom>
          <a:solidFill>
            <a:schemeClr val="accent3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E9BC9FF-8079-A9F7-940B-AD180B5C711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87880" y="1844673"/>
            <a:ext cx="1584000" cy="1584000"/>
          </a:xfrm>
          <a:prstGeom prst="ellipse">
            <a:avLst/>
          </a:prstGeom>
          <a:solidFill>
            <a:schemeClr val="accent3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E256EA-AF3A-004E-60D5-EB46182584F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392126" y="1844673"/>
            <a:ext cx="1584000" cy="1584000"/>
          </a:xfrm>
          <a:prstGeom prst="ellipse">
            <a:avLst/>
          </a:prstGeom>
          <a:solidFill>
            <a:schemeClr val="accent3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3F0EB54-3301-1385-D27F-5E7B2877AC9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768409" y="1844673"/>
            <a:ext cx="1584000" cy="1584000"/>
          </a:xfrm>
          <a:prstGeom prst="ellipse">
            <a:avLst/>
          </a:prstGeom>
          <a:solidFill>
            <a:schemeClr val="accent3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8355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B8057-5B10-4860-BED8-96FD12809D40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909D46F-AC09-DECA-BACA-C1675FF98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87E3998-D801-6A68-FC17-6DEBC7159F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1162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D97F3D4F-F6AB-ED14-9484-30FEA15061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8819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F5BB4B25-AFF9-AFEA-85BA-E387072E79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9214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DB44BCB-11F4-E11F-6050-6499858CFA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6902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0527BA6-8E7F-91F7-0FF5-EAFF7FBB23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7988" y="1844673"/>
            <a:ext cx="1584000" cy="15840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5B7FD09-6933-9B2C-E660-44271E46576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711607" y="1844673"/>
            <a:ext cx="1584000" cy="15840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E9BC9FF-8079-A9F7-940B-AD180B5C711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87880" y="1844673"/>
            <a:ext cx="1584000" cy="15840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E256EA-AF3A-004E-60D5-EB46182584F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392126" y="1844673"/>
            <a:ext cx="1584000" cy="15840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3F0EB54-3301-1385-D27F-5E7B2877AC9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768409" y="1844673"/>
            <a:ext cx="1584000" cy="15840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1147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B8057-5B10-4860-BED8-96FD12809D40}" type="datetime1">
              <a:rPr lang="fi-FI" smtClean="0"/>
              <a:t>24.9.2025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909D46F-AC09-DECA-BACA-C1675FF98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87E3998-D801-6A68-FC17-6DEBC7159F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1162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D97F3D4F-F6AB-ED14-9484-30FEA15061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8819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F5BB4B25-AFF9-AFEA-85BA-E387072E79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92144" y="3573016"/>
            <a:ext cx="2088232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DB44BCB-11F4-E11F-6050-6499858CFA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69028" y="3573016"/>
            <a:ext cx="2015604" cy="2303909"/>
          </a:xfrm>
        </p:spPr>
        <p:txBody>
          <a:bodyPr/>
          <a:lstStyle>
            <a:lvl1pPr>
              <a:defRPr sz="1000"/>
            </a:lvl1pPr>
            <a:lvl2pPr marL="182563" indent="-182563">
              <a:defRPr sz="1000"/>
            </a:lvl2pPr>
            <a:lvl3pPr marL="355600" indent="-173038">
              <a:defRPr sz="1000"/>
            </a:lvl3pPr>
            <a:lvl4pPr marL="539750" indent="-184150">
              <a:defRPr sz="1000"/>
            </a:lvl4pPr>
            <a:lvl5pPr marL="722313" indent="-182563">
              <a:defRPr sz="1000"/>
            </a:lvl5pPr>
            <a:lvl6pPr marL="895350" indent="-173038">
              <a:defRPr sz="1000"/>
            </a:lvl6pPr>
            <a:lvl7pPr marL="1077913" indent="-182563">
              <a:defRPr sz="1000"/>
            </a:lvl7pPr>
            <a:lvl8pPr marL="1250950" indent="-173038">
              <a:defRPr sz="1000"/>
            </a:lvl8pPr>
            <a:lvl9pPr marL="1433513" indent="-182563"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0527BA6-8E7F-91F7-0FF5-EAFF7FBB23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7988" y="1844673"/>
            <a:ext cx="1584000" cy="1584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5B7FD09-6933-9B2C-E660-44271E46576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711607" y="1844673"/>
            <a:ext cx="1584000" cy="1584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E9BC9FF-8079-A9F7-940B-AD180B5C711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87880" y="1844673"/>
            <a:ext cx="1584000" cy="1584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E256EA-AF3A-004E-60D5-EB46182584F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392126" y="1844673"/>
            <a:ext cx="1584000" cy="1584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3F0EB54-3301-1385-D27F-5E7B2877AC9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768409" y="1844673"/>
            <a:ext cx="1584000" cy="1584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3287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96E9-BA5C-FE6D-29D4-7D5BDF67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5A839-C462-B1DD-93DB-75C65FA0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F2E32-AC6D-4E1D-AAFC-F622DB4341FB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23428-9C34-BE00-F14D-566DEEC4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2FB49-CD3A-1DDD-E564-703C4FE2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79080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8857C-8954-2CAC-937A-943D6443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8737-2DCC-4A07-B2E6-FDF2FE7E23A5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ABC24-E5EB-DE80-2D0D-1287AD8F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3041E-A4B9-C59D-237D-00ECB531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306898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96E9-BA5C-FE6D-29D4-7D5BDF67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5A839-C462-B1DD-93DB-75C65FA0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DF5E85-38DF-40B1-8C4F-C6EBA3C182B5}" type="datetime1">
              <a:rPr lang="fi-FI" smtClean="0"/>
              <a:t>24.9.2025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23428-9C34-BE00-F14D-566DEEC4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2FB49-CD3A-1DDD-E564-703C4FE2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4BE95A-A922-2BF2-1E8C-87BF84158B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444855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8857C-8954-2CAC-937A-943D6443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6E3AA7-1641-40F3-88B4-1F379B415E38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ABC24-E5EB-DE80-2D0D-1287AD8F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3041E-A4B9-C59D-237D-00ECB531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0EE8852-CD7C-BD4D-4DA0-21C63C2F15A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4593379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2F443A1-A369-99FA-DAC7-9F6B92627C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844674"/>
            <a:ext cx="3887813" cy="3889375"/>
          </a:xfrm>
          <a:solidFill>
            <a:schemeClr val="bg2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56FBF-088F-1B9C-4741-7B63EF76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4CDE-4B4B-6499-1855-DD7A0DEF5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5840" y="1844675"/>
            <a:ext cx="7128173" cy="3889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E99E-677A-4DE5-3484-E9ADD64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04EE7-02A2-4E57-8EEE-D4C47C68CF4F}" type="datetime5">
              <a:rPr lang="en-GB" smtClean="0"/>
              <a:t>24-Sep-25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29C55-0F2E-2EEA-823A-D1C128A5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Aalto University Shaping a sustainable future</a:t>
            </a:r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8C97D-1A4E-B0F4-839E-4F69C97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3583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ullet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7B0D-D759-BE7C-69E9-E5C99AD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4CD-046B-4F4C-C56E-9224E5C2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2205037"/>
            <a:ext cx="10080625" cy="3671887"/>
          </a:xfrm>
        </p:spPr>
        <p:txBody>
          <a:bodyPr/>
          <a:lstStyle>
            <a:lvl1pPr marL="269875" indent="-269875">
              <a:buFont typeface="Arial" panose="020B0604020202020204" pitchFamily="34" charset="0"/>
              <a:buChar char="•"/>
              <a:defRPr/>
            </a:lvl1pPr>
            <a:lvl2pPr marL="539750" indent="-266700">
              <a:defRPr/>
            </a:lvl2pPr>
            <a:lvl3pPr marL="808038" indent="-276225">
              <a:defRPr/>
            </a:lvl3pPr>
            <a:lvl4pPr marL="1077913" indent="-266700">
              <a:defRPr/>
            </a:lvl4pPr>
            <a:lvl5pPr marL="1347788" indent="-266700">
              <a:defRPr/>
            </a:lvl5pPr>
            <a:lvl6pPr marL="1617663" indent="-266700">
              <a:defRPr/>
            </a:lvl6pPr>
            <a:lvl7pPr marL="1885950" indent="-276225">
              <a:defRPr/>
            </a:lvl7pPr>
            <a:lvl8pPr marL="2155825" indent="-266700">
              <a:defRPr/>
            </a:lvl8pPr>
            <a:lvl9pPr marL="2425700" indent="-2667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AD59-DDD9-3867-649E-CC4DA3F6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CFBC-5B26-4E35-9172-415BA40A460F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5C51-1C15-2D57-6D47-F4C9D3A4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A646-EADF-862C-0CF5-D579450F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1559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4A4D6E-EA47-4FB6-4842-6266F7987D4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E379A93-4718-A4A6-52FF-0770DDE1F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2805066"/>
            <a:ext cx="4895924" cy="3648121"/>
          </a:xfrm>
          <a:custGeom>
            <a:avLst/>
            <a:gdLst>
              <a:gd name="T0" fmla="*/ 6475 w 6475"/>
              <a:gd name="T1" fmla="*/ 1671 h 4824"/>
              <a:gd name="T2" fmla="*/ 6332 w 6475"/>
              <a:gd name="T3" fmla="*/ 2506 h 4824"/>
              <a:gd name="T4" fmla="*/ 6191 w 6475"/>
              <a:gd name="T5" fmla="*/ 3343 h 4824"/>
              <a:gd name="T6" fmla="*/ 5547 w 6475"/>
              <a:gd name="T7" fmla="*/ 3343 h 4824"/>
              <a:gd name="T8" fmla="*/ 5428 w 6475"/>
              <a:gd name="T9" fmla="*/ 2506 h 4824"/>
              <a:gd name="T10" fmla="*/ 5309 w 6475"/>
              <a:gd name="T11" fmla="*/ 1671 h 4824"/>
              <a:gd name="T12" fmla="*/ 5309 w 6475"/>
              <a:gd name="T13" fmla="*/ 835 h 4824"/>
              <a:gd name="T14" fmla="*/ 5309 w 6475"/>
              <a:gd name="T15" fmla="*/ 0 h 4824"/>
              <a:gd name="T16" fmla="*/ 5892 w 6475"/>
              <a:gd name="T17" fmla="*/ 0 h 4824"/>
              <a:gd name="T18" fmla="*/ 6475 w 6475"/>
              <a:gd name="T19" fmla="*/ 0 h 4824"/>
              <a:gd name="T20" fmla="*/ 6475 w 6475"/>
              <a:gd name="T21" fmla="*/ 835 h 4824"/>
              <a:gd name="T22" fmla="*/ 6475 w 6475"/>
              <a:gd name="T23" fmla="*/ 1671 h 4824"/>
              <a:gd name="T24" fmla="*/ 3041 w 6475"/>
              <a:gd name="T25" fmla="*/ 3007 h 4824"/>
              <a:gd name="T26" fmla="*/ 2742 w 6475"/>
              <a:gd name="T27" fmla="*/ 2147 h 4824"/>
              <a:gd name="T28" fmla="*/ 2444 w 6475"/>
              <a:gd name="T29" fmla="*/ 1289 h 4824"/>
              <a:gd name="T30" fmla="*/ 2145 w 6475"/>
              <a:gd name="T31" fmla="*/ 2147 h 4824"/>
              <a:gd name="T32" fmla="*/ 1847 w 6475"/>
              <a:gd name="T33" fmla="*/ 3007 h 4824"/>
              <a:gd name="T34" fmla="*/ 2444 w 6475"/>
              <a:gd name="T35" fmla="*/ 3007 h 4824"/>
              <a:gd name="T36" fmla="*/ 3041 w 6475"/>
              <a:gd name="T37" fmla="*/ 3007 h 4824"/>
              <a:gd name="T38" fmla="*/ 4887 w 6475"/>
              <a:gd name="T39" fmla="*/ 4824 h 4824"/>
              <a:gd name="T40" fmla="*/ 4278 w 6475"/>
              <a:gd name="T41" fmla="*/ 4824 h 4824"/>
              <a:gd name="T42" fmla="*/ 3671 w 6475"/>
              <a:gd name="T43" fmla="*/ 4824 h 4824"/>
              <a:gd name="T44" fmla="*/ 3375 w 6475"/>
              <a:gd name="T45" fmla="*/ 3971 h 4824"/>
              <a:gd name="T46" fmla="*/ 2444 w 6475"/>
              <a:gd name="T47" fmla="*/ 3971 h 4824"/>
              <a:gd name="T48" fmla="*/ 1513 w 6475"/>
              <a:gd name="T49" fmla="*/ 3971 h 4824"/>
              <a:gd name="T50" fmla="*/ 1216 w 6475"/>
              <a:gd name="T51" fmla="*/ 4824 h 4824"/>
              <a:gd name="T52" fmla="*/ 607 w 6475"/>
              <a:gd name="T53" fmla="*/ 4824 h 4824"/>
              <a:gd name="T54" fmla="*/ 0 w 6475"/>
              <a:gd name="T55" fmla="*/ 4824 h 4824"/>
              <a:gd name="T56" fmla="*/ 214 w 6475"/>
              <a:gd name="T57" fmla="*/ 4221 h 4824"/>
              <a:gd name="T58" fmla="*/ 427 w 6475"/>
              <a:gd name="T59" fmla="*/ 3618 h 4824"/>
              <a:gd name="T60" fmla="*/ 641 w 6475"/>
              <a:gd name="T61" fmla="*/ 3015 h 4824"/>
              <a:gd name="T62" fmla="*/ 856 w 6475"/>
              <a:gd name="T63" fmla="*/ 2412 h 4824"/>
              <a:gd name="T64" fmla="*/ 1070 w 6475"/>
              <a:gd name="T65" fmla="*/ 1809 h 4824"/>
              <a:gd name="T66" fmla="*/ 1285 w 6475"/>
              <a:gd name="T67" fmla="*/ 1206 h 4824"/>
              <a:gd name="T68" fmla="*/ 1499 w 6475"/>
              <a:gd name="T69" fmla="*/ 603 h 4824"/>
              <a:gd name="T70" fmla="*/ 1714 w 6475"/>
              <a:gd name="T71" fmla="*/ 0 h 4824"/>
              <a:gd name="T72" fmla="*/ 2443 w 6475"/>
              <a:gd name="T73" fmla="*/ 0 h 4824"/>
              <a:gd name="T74" fmla="*/ 3173 w 6475"/>
              <a:gd name="T75" fmla="*/ 0 h 4824"/>
              <a:gd name="T76" fmla="*/ 3387 w 6475"/>
              <a:gd name="T77" fmla="*/ 603 h 4824"/>
              <a:gd name="T78" fmla="*/ 3601 w 6475"/>
              <a:gd name="T79" fmla="*/ 1206 h 4824"/>
              <a:gd name="T80" fmla="*/ 3814 w 6475"/>
              <a:gd name="T81" fmla="*/ 1809 h 4824"/>
              <a:gd name="T82" fmla="*/ 4029 w 6475"/>
              <a:gd name="T83" fmla="*/ 2412 h 4824"/>
              <a:gd name="T84" fmla="*/ 4243 w 6475"/>
              <a:gd name="T85" fmla="*/ 3015 h 4824"/>
              <a:gd name="T86" fmla="*/ 4458 w 6475"/>
              <a:gd name="T87" fmla="*/ 3618 h 4824"/>
              <a:gd name="T88" fmla="*/ 4672 w 6475"/>
              <a:gd name="T89" fmla="*/ 4221 h 4824"/>
              <a:gd name="T90" fmla="*/ 4887 w 6475"/>
              <a:gd name="T91" fmla="*/ 4824 h 4824"/>
              <a:gd name="T92" fmla="*/ 5343 w 6475"/>
              <a:gd name="T93" fmla="*/ 4824 h 4824"/>
              <a:gd name="T94" fmla="*/ 5343 w 6475"/>
              <a:gd name="T95" fmla="*/ 4277 h 4824"/>
              <a:gd name="T96" fmla="*/ 5343 w 6475"/>
              <a:gd name="T97" fmla="*/ 3730 h 4824"/>
              <a:gd name="T98" fmla="*/ 5891 w 6475"/>
              <a:gd name="T99" fmla="*/ 3730 h 4824"/>
              <a:gd name="T100" fmla="*/ 6440 w 6475"/>
              <a:gd name="T101" fmla="*/ 3730 h 4824"/>
              <a:gd name="T102" fmla="*/ 6440 w 6475"/>
              <a:gd name="T103" fmla="*/ 4277 h 4824"/>
              <a:gd name="T104" fmla="*/ 6440 w 6475"/>
              <a:gd name="T105" fmla="*/ 4824 h 4824"/>
              <a:gd name="T106" fmla="*/ 5891 w 6475"/>
              <a:gd name="T107" fmla="*/ 4824 h 4824"/>
              <a:gd name="T108" fmla="*/ 5343 w 6475"/>
              <a:gd name="T109" fmla="*/ 4824 h 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475" h="4824">
                <a:moveTo>
                  <a:pt x="6475" y="1671"/>
                </a:moveTo>
                <a:lnTo>
                  <a:pt x="6332" y="2506"/>
                </a:lnTo>
                <a:lnTo>
                  <a:pt x="6191" y="3343"/>
                </a:lnTo>
                <a:lnTo>
                  <a:pt x="5547" y="3343"/>
                </a:lnTo>
                <a:lnTo>
                  <a:pt x="5428" y="2506"/>
                </a:lnTo>
                <a:lnTo>
                  <a:pt x="5309" y="1671"/>
                </a:lnTo>
                <a:lnTo>
                  <a:pt x="5309" y="835"/>
                </a:lnTo>
                <a:lnTo>
                  <a:pt x="5309" y="0"/>
                </a:lnTo>
                <a:lnTo>
                  <a:pt x="5892" y="0"/>
                </a:lnTo>
                <a:lnTo>
                  <a:pt x="6475" y="0"/>
                </a:lnTo>
                <a:lnTo>
                  <a:pt x="6475" y="835"/>
                </a:lnTo>
                <a:lnTo>
                  <a:pt x="6475" y="1671"/>
                </a:lnTo>
                <a:close/>
                <a:moveTo>
                  <a:pt x="3041" y="3007"/>
                </a:moveTo>
                <a:lnTo>
                  <a:pt x="2742" y="2147"/>
                </a:lnTo>
                <a:lnTo>
                  <a:pt x="2444" y="1289"/>
                </a:lnTo>
                <a:lnTo>
                  <a:pt x="2145" y="2147"/>
                </a:lnTo>
                <a:lnTo>
                  <a:pt x="1847" y="3007"/>
                </a:lnTo>
                <a:lnTo>
                  <a:pt x="2444" y="3007"/>
                </a:lnTo>
                <a:lnTo>
                  <a:pt x="3041" y="3007"/>
                </a:lnTo>
                <a:close/>
                <a:moveTo>
                  <a:pt x="4887" y="4824"/>
                </a:moveTo>
                <a:lnTo>
                  <a:pt x="4278" y="4824"/>
                </a:lnTo>
                <a:lnTo>
                  <a:pt x="3671" y="4824"/>
                </a:lnTo>
                <a:lnTo>
                  <a:pt x="3375" y="3971"/>
                </a:lnTo>
                <a:lnTo>
                  <a:pt x="2444" y="3971"/>
                </a:lnTo>
                <a:lnTo>
                  <a:pt x="1513" y="3971"/>
                </a:lnTo>
                <a:lnTo>
                  <a:pt x="1216" y="4824"/>
                </a:lnTo>
                <a:lnTo>
                  <a:pt x="607" y="4824"/>
                </a:lnTo>
                <a:lnTo>
                  <a:pt x="0" y="4824"/>
                </a:lnTo>
                <a:lnTo>
                  <a:pt x="214" y="4221"/>
                </a:lnTo>
                <a:lnTo>
                  <a:pt x="427" y="3618"/>
                </a:lnTo>
                <a:lnTo>
                  <a:pt x="641" y="3015"/>
                </a:lnTo>
                <a:lnTo>
                  <a:pt x="856" y="2412"/>
                </a:lnTo>
                <a:lnTo>
                  <a:pt x="1070" y="1809"/>
                </a:lnTo>
                <a:lnTo>
                  <a:pt x="1285" y="1206"/>
                </a:lnTo>
                <a:lnTo>
                  <a:pt x="1499" y="603"/>
                </a:lnTo>
                <a:lnTo>
                  <a:pt x="1714" y="0"/>
                </a:lnTo>
                <a:lnTo>
                  <a:pt x="2443" y="0"/>
                </a:lnTo>
                <a:lnTo>
                  <a:pt x="3173" y="0"/>
                </a:lnTo>
                <a:lnTo>
                  <a:pt x="3387" y="603"/>
                </a:lnTo>
                <a:lnTo>
                  <a:pt x="3601" y="1206"/>
                </a:lnTo>
                <a:lnTo>
                  <a:pt x="3814" y="1809"/>
                </a:lnTo>
                <a:lnTo>
                  <a:pt x="4029" y="2412"/>
                </a:lnTo>
                <a:lnTo>
                  <a:pt x="4243" y="3015"/>
                </a:lnTo>
                <a:lnTo>
                  <a:pt x="4458" y="3618"/>
                </a:lnTo>
                <a:lnTo>
                  <a:pt x="4672" y="4221"/>
                </a:lnTo>
                <a:lnTo>
                  <a:pt x="4887" y="4824"/>
                </a:lnTo>
                <a:close/>
                <a:moveTo>
                  <a:pt x="5343" y="4824"/>
                </a:moveTo>
                <a:lnTo>
                  <a:pt x="5343" y="4277"/>
                </a:lnTo>
                <a:lnTo>
                  <a:pt x="5343" y="3730"/>
                </a:lnTo>
                <a:lnTo>
                  <a:pt x="5891" y="3730"/>
                </a:lnTo>
                <a:lnTo>
                  <a:pt x="6440" y="3730"/>
                </a:lnTo>
                <a:lnTo>
                  <a:pt x="6440" y="4277"/>
                </a:lnTo>
                <a:lnTo>
                  <a:pt x="6440" y="4824"/>
                </a:lnTo>
                <a:lnTo>
                  <a:pt x="5891" y="4824"/>
                </a:lnTo>
                <a:lnTo>
                  <a:pt x="5343" y="4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8E3E2-A6A7-5047-7F76-5A852C28CC12}"/>
              </a:ext>
            </a:extLst>
          </p:cNvPr>
          <p:cNvSpPr txBox="1"/>
          <p:nvPr/>
        </p:nvSpPr>
        <p:spPr>
          <a:xfrm>
            <a:off x="6456040" y="2249172"/>
            <a:ext cx="1512168" cy="504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+mj-lt"/>
              </a:rPr>
              <a:t>Kiitos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9FAC3-FDFD-0982-174D-64BFD817B0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3072A6-172D-4F72-AEE9-619749FA081C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F6814-EA9F-9642-988B-BA0DCA001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4FCAF-E233-9309-B54B-CAB9B5DA07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165C98D3-985C-5D09-0F62-234BE3AB58C3}"/>
              </a:ext>
            </a:extLst>
          </p:cNvPr>
          <p:cNvSpPr txBox="1"/>
          <p:nvPr/>
        </p:nvSpPr>
        <p:spPr>
          <a:xfrm>
            <a:off x="6456040" y="2769778"/>
            <a:ext cx="143821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90000"/>
              </a:lnSpc>
              <a:spcBef>
                <a:spcPts val="800"/>
              </a:spcBef>
              <a:buFontTx/>
              <a:buNone/>
              <a:defRPr sz="3000" b="1" spc="-50" baseline="0">
                <a:latin typeface="+mj-lt"/>
              </a:defRPr>
            </a:lvl1pPr>
            <a:lvl2pPr marL="26670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000"/>
            </a:lvl2pPr>
            <a:lvl3pPr marL="542925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3pPr>
            <a:lvl4pPr marL="8096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4pPr>
            <a:lvl5pPr marL="10763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5pPr>
            <a:lvl6pPr marL="13430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6pPr>
            <a:lvl7pPr marL="1619250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7pPr>
            <a:lvl8pPr marL="18859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8pPr>
            <a:lvl9pPr marL="21526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3200">
                <a:solidFill>
                  <a:schemeClr val="bg1"/>
                </a:solidFill>
              </a:rPr>
              <a:t>aalto.fi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981A1-63EF-5A62-16BF-911E556C4D71}"/>
              </a:ext>
            </a:extLst>
          </p:cNvPr>
          <p:cNvCxnSpPr>
            <a:cxnSpLocks/>
          </p:cNvCxnSpPr>
          <p:nvPr/>
        </p:nvCxnSpPr>
        <p:spPr>
          <a:xfrm>
            <a:off x="6448576" y="2004866"/>
            <a:ext cx="396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966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4A4D6E-EA47-4FB6-4842-6266F7987D4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E379A93-4718-A4A6-52FF-0770DDE1F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2805066"/>
            <a:ext cx="4895924" cy="3648121"/>
          </a:xfrm>
          <a:custGeom>
            <a:avLst/>
            <a:gdLst>
              <a:gd name="T0" fmla="*/ 6475 w 6475"/>
              <a:gd name="T1" fmla="*/ 1671 h 4824"/>
              <a:gd name="T2" fmla="*/ 6332 w 6475"/>
              <a:gd name="T3" fmla="*/ 2506 h 4824"/>
              <a:gd name="T4" fmla="*/ 6191 w 6475"/>
              <a:gd name="T5" fmla="*/ 3343 h 4824"/>
              <a:gd name="T6" fmla="*/ 5547 w 6475"/>
              <a:gd name="T7" fmla="*/ 3343 h 4824"/>
              <a:gd name="T8" fmla="*/ 5428 w 6475"/>
              <a:gd name="T9" fmla="*/ 2506 h 4824"/>
              <a:gd name="T10" fmla="*/ 5309 w 6475"/>
              <a:gd name="T11" fmla="*/ 1671 h 4824"/>
              <a:gd name="T12" fmla="*/ 5309 w 6475"/>
              <a:gd name="T13" fmla="*/ 835 h 4824"/>
              <a:gd name="T14" fmla="*/ 5309 w 6475"/>
              <a:gd name="T15" fmla="*/ 0 h 4824"/>
              <a:gd name="T16" fmla="*/ 5892 w 6475"/>
              <a:gd name="T17" fmla="*/ 0 h 4824"/>
              <a:gd name="T18" fmla="*/ 6475 w 6475"/>
              <a:gd name="T19" fmla="*/ 0 h 4824"/>
              <a:gd name="T20" fmla="*/ 6475 w 6475"/>
              <a:gd name="T21" fmla="*/ 835 h 4824"/>
              <a:gd name="T22" fmla="*/ 6475 w 6475"/>
              <a:gd name="T23" fmla="*/ 1671 h 4824"/>
              <a:gd name="T24" fmla="*/ 3041 w 6475"/>
              <a:gd name="T25" fmla="*/ 3007 h 4824"/>
              <a:gd name="T26" fmla="*/ 2742 w 6475"/>
              <a:gd name="T27" fmla="*/ 2147 h 4824"/>
              <a:gd name="T28" fmla="*/ 2444 w 6475"/>
              <a:gd name="T29" fmla="*/ 1289 h 4824"/>
              <a:gd name="T30" fmla="*/ 2145 w 6475"/>
              <a:gd name="T31" fmla="*/ 2147 h 4824"/>
              <a:gd name="T32" fmla="*/ 1847 w 6475"/>
              <a:gd name="T33" fmla="*/ 3007 h 4824"/>
              <a:gd name="T34" fmla="*/ 2444 w 6475"/>
              <a:gd name="T35" fmla="*/ 3007 h 4824"/>
              <a:gd name="T36" fmla="*/ 3041 w 6475"/>
              <a:gd name="T37" fmla="*/ 3007 h 4824"/>
              <a:gd name="T38" fmla="*/ 4887 w 6475"/>
              <a:gd name="T39" fmla="*/ 4824 h 4824"/>
              <a:gd name="T40" fmla="*/ 4278 w 6475"/>
              <a:gd name="T41" fmla="*/ 4824 h 4824"/>
              <a:gd name="T42" fmla="*/ 3671 w 6475"/>
              <a:gd name="T43" fmla="*/ 4824 h 4824"/>
              <a:gd name="T44" fmla="*/ 3375 w 6475"/>
              <a:gd name="T45" fmla="*/ 3971 h 4824"/>
              <a:gd name="T46" fmla="*/ 2444 w 6475"/>
              <a:gd name="T47" fmla="*/ 3971 h 4824"/>
              <a:gd name="T48" fmla="*/ 1513 w 6475"/>
              <a:gd name="T49" fmla="*/ 3971 h 4824"/>
              <a:gd name="T50" fmla="*/ 1216 w 6475"/>
              <a:gd name="T51" fmla="*/ 4824 h 4824"/>
              <a:gd name="T52" fmla="*/ 607 w 6475"/>
              <a:gd name="T53" fmla="*/ 4824 h 4824"/>
              <a:gd name="T54" fmla="*/ 0 w 6475"/>
              <a:gd name="T55" fmla="*/ 4824 h 4824"/>
              <a:gd name="T56" fmla="*/ 214 w 6475"/>
              <a:gd name="T57" fmla="*/ 4221 h 4824"/>
              <a:gd name="T58" fmla="*/ 427 w 6475"/>
              <a:gd name="T59" fmla="*/ 3618 h 4824"/>
              <a:gd name="T60" fmla="*/ 641 w 6475"/>
              <a:gd name="T61" fmla="*/ 3015 h 4824"/>
              <a:gd name="T62" fmla="*/ 856 w 6475"/>
              <a:gd name="T63" fmla="*/ 2412 h 4824"/>
              <a:gd name="T64" fmla="*/ 1070 w 6475"/>
              <a:gd name="T65" fmla="*/ 1809 h 4824"/>
              <a:gd name="T66" fmla="*/ 1285 w 6475"/>
              <a:gd name="T67" fmla="*/ 1206 h 4824"/>
              <a:gd name="T68" fmla="*/ 1499 w 6475"/>
              <a:gd name="T69" fmla="*/ 603 h 4824"/>
              <a:gd name="T70" fmla="*/ 1714 w 6475"/>
              <a:gd name="T71" fmla="*/ 0 h 4824"/>
              <a:gd name="T72" fmla="*/ 2443 w 6475"/>
              <a:gd name="T73" fmla="*/ 0 h 4824"/>
              <a:gd name="T74" fmla="*/ 3173 w 6475"/>
              <a:gd name="T75" fmla="*/ 0 h 4824"/>
              <a:gd name="T76" fmla="*/ 3387 w 6475"/>
              <a:gd name="T77" fmla="*/ 603 h 4824"/>
              <a:gd name="T78" fmla="*/ 3601 w 6475"/>
              <a:gd name="T79" fmla="*/ 1206 h 4824"/>
              <a:gd name="T80" fmla="*/ 3814 w 6475"/>
              <a:gd name="T81" fmla="*/ 1809 h 4824"/>
              <a:gd name="T82" fmla="*/ 4029 w 6475"/>
              <a:gd name="T83" fmla="*/ 2412 h 4824"/>
              <a:gd name="T84" fmla="*/ 4243 w 6475"/>
              <a:gd name="T85" fmla="*/ 3015 h 4824"/>
              <a:gd name="T86" fmla="*/ 4458 w 6475"/>
              <a:gd name="T87" fmla="*/ 3618 h 4824"/>
              <a:gd name="T88" fmla="*/ 4672 w 6475"/>
              <a:gd name="T89" fmla="*/ 4221 h 4824"/>
              <a:gd name="T90" fmla="*/ 4887 w 6475"/>
              <a:gd name="T91" fmla="*/ 4824 h 4824"/>
              <a:gd name="T92" fmla="*/ 5343 w 6475"/>
              <a:gd name="T93" fmla="*/ 4824 h 4824"/>
              <a:gd name="T94" fmla="*/ 5343 w 6475"/>
              <a:gd name="T95" fmla="*/ 4277 h 4824"/>
              <a:gd name="T96" fmla="*/ 5343 w 6475"/>
              <a:gd name="T97" fmla="*/ 3730 h 4824"/>
              <a:gd name="T98" fmla="*/ 5891 w 6475"/>
              <a:gd name="T99" fmla="*/ 3730 h 4824"/>
              <a:gd name="T100" fmla="*/ 6440 w 6475"/>
              <a:gd name="T101" fmla="*/ 3730 h 4824"/>
              <a:gd name="T102" fmla="*/ 6440 w 6475"/>
              <a:gd name="T103" fmla="*/ 4277 h 4824"/>
              <a:gd name="T104" fmla="*/ 6440 w 6475"/>
              <a:gd name="T105" fmla="*/ 4824 h 4824"/>
              <a:gd name="T106" fmla="*/ 5891 w 6475"/>
              <a:gd name="T107" fmla="*/ 4824 h 4824"/>
              <a:gd name="T108" fmla="*/ 5343 w 6475"/>
              <a:gd name="T109" fmla="*/ 4824 h 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475" h="4824">
                <a:moveTo>
                  <a:pt x="6475" y="1671"/>
                </a:moveTo>
                <a:lnTo>
                  <a:pt x="6332" y="2506"/>
                </a:lnTo>
                <a:lnTo>
                  <a:pt x="6191" y="3343"/>
                </a:lnTo>
                <a:lnTo>
                  <a:pt x="5547" y="3343"/>
                </a:lnTo>
                <a:lnTo>
                  <a:pt x="5428" y="2506"/>
                </a:lnTo>
                <a:lnTo>
                  <a:pt x="5309" y="1671"/>
                </a:lnTo>
                <a:lnTo>
                  <a:pt x="5309" y="835"/>
                </a:lnTo>
                <a:lnTo>
                  <a:pt x="5309" y="0"/>
                </a:lnTo>
                <a:lnTo>
                  <a:pt x="5892" y="0"/>
                </a:lnTo>
                <a:lnTo>
                  <a:pt x="6475" y="0"/>
                </a:lnTo>
                <a:lnTo>
                  <a:pt x="6475" y="835"/>
                </a:lnTo>
                <a:lnTo>
                  <a:pt x="6475" y="1671"/>
                </a:lnTo>
                <a:close/>
                <a:moveTo>
                  <a:pt x="3041" y="3007"/>
                </a:moveTo>
                <a:lnTo>
                  <a:pt x="2742" y="2147"/>
                </a:lnTo>
                <a:lnTo>
                  <a:pt x="2444" y="1289"/>
                </a:lnTo>
                <a:lnTo>
                  <a:pt x="2145" y="2147"/>
                </a:lnTo>
                <a:lnTo>
                  <a:pt x="1847" y="3007"/>
                </a:lnTo>
                <a:lnTo>
                  <a:pt x="2444" y="3007"/>
                </a:lnTo>
                <a:lnTo>
                  <a:pt x="3041" y="3007"/>
                </a:lnTo>
                <a:close/>
                <a:moveTo>
                  <a:pt x="4887" y="4824"/>
                </a:moveTo>
                <a:lnTo>
                  <a:pt x="4278" y="4824"/>
                </a:lnTo>
                <a:lnTo>
                  <a:pt x="3671" y="4824"/>
                </a:lnTo>
                <a:lnTo>
                  <a:pt x="3375" y="3971"/>
                </a:lnTo>
                <a:lnTo>
                  <a:pt x="2444" y="3971"/>
                </a:lnTo>
                <a:lnTo>
                  <a:pt x="1513" y="3971"/>
                </a:lnTo>
                <a:lnTo>
                  <a:pt x="1216" y="4824"/>
                </a:lnTo>
                <a:lnTo>
                  <a:pt x="607" y="4824"/>
                </a:lnTo>
                <a:lnTo>
                  <a:pt x="0" y="4824"/>
                </a:lnTo>
                <a:lnTo>
                  <a:pt x="214" y="4221"/>
                </a:lnTo>
                <a:lnTo>
                  <a:pt x="427" y="3618"/>
                </a:lnTo>
                <a:lnTo>
                  <a:pt x="641" y="3015"/>
                </a:lnTo>
                <a:lnTo>
                  <a:pt x="856" y="2412"/>
                </a:lnTo>
                <a:lnTo>
                  <a:pt x="1070" y="1809"/>
                </a:lnTo>
                <a:lnTo>
                  <a:pt x="1285" y="1206"/>
                </a:lnTo>
                <a:lnTo>
                  <a:pt x="1499" y="603"/>
                </a:lnTo>
                <a:lnTo>
                  <a:pt x="1714" y="0"/>
                </a:lnTo>
                <a:lnTo>
                  <a:pt x="2443" y="0"/>
                </a:lnTo>
                <a:lnTo>
                  <a:pt x="3173" y="0"/>
                </a:lnTo>
                <a:lnTo>
                  <a:pt x="3387" y="603"/>
                </a:lnTo>
                <a:lnTo>
                  <a:pt x="3601" y="1206"/>
                </a:lnTo>
                <a:lnTo>
                  <a:pt x="3814" y="1809"/>
                </a:lnTo>
                <a:lnTo>
                  <a:pt x="4029" y="2412"/>
                </a:lnTo>
                <a:lnTo>
                  <a:pt x="4243" y="3015"/>
                </a:lnTo>
                <a:lnTo>
                  <a:pt x="4458" y="3618"/>
                </a:lnTo>
                <a:lnTo>
                  <a:pt x="4672" y="4221"/>
                </a:lnTo>
                <a:lnTo>
                  <a:pt x="4887" y="4824"/>
                </a:lnTo>
                <a:close/>
                <a:moveTo>
                  <a:pt x="5343" y="4824"/>
                </a:moveTo>
                <a:lnTo>
                  <a:pt x="5343" y="4277"/>
                </a:lnTo>
                <a:lnTo>
                  <a:pt x="5343" y="3730"/>
                </a:lnTo>
                <a:lnTo>
                  <a:pt x="5891" y="3730"/>
                </a:lnTo>
                <a:lnTo>
                  <a:pt x="6440" y="3730"/>
                </a:lnTo>
                <a:lnTo>
                  <a:pt x="6440" y="4277"/>
                </a:lnTo>
                <a:lnTo>
                  <a:pt x="6440" y="4824"/>
                </a:lnTo>
                <a:lnTo>
                  <a:pt x="5891" y="4824"/>
                </a:lnTo>
                <a:lnTo>
                  <a:pt x="5343" y="4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9FAC3-FDFD-0982-174D-64BFD817B0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4456940-D26A-438E-A708-80A4FC128A37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F6814-EA9F-9642-988B-BA0DCA001BE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4FCAF-E233-9309-B54B-CAB9B5DA07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FF82F-A665-CA7C-A4D9-281EBE1EA308}"/>
              </a:ext>
            </a:extLst>
          </p:cNvPr>
          <p:cNvSpPr txBox="1"/>
          <p:nvPr/>
        </p:nvSpPr>
        <p:spPr>
          <a:xfrm>
            <a:off x="6456040" y="2249172"/>
            <a:ext cx="1512168" cy="504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l"/>
            <a:r>
              <a:rPr lang="en-US" sz="3200">
                <a:latin typeface="+mj-lt"/>
              </a:rPr>
              <a:t>Kiitos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F9F35130-809C-54C5-7E28-08465B7283F3}"/>
              </a:ext>
            </a:extLst>
          </p:cNvPr>
          <p:cNvSpPr txBox="1"/>
          <p:nvPr/>
        </p:nvSpPr>
        <p:spPr>
          <a:xfrm>
            <a:off x="6456040" y="2769778"/>
            <a:ext cx="143821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90000"/>
              </a:lnSpc>
              <a:spcBef>
                <a:spcPts val="800"/>
              </a:spcBef>
              <a:buFontTx/>
              <a:buNone/>
              <a:defRPr sz="3000" b="1" spc="-50" baseline="0">
                <a:latin typeface="+mj-lt"/>
              </a:defRPr>
            </a:lvl1pPr>
            <a:lvl2pPr marL="26670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000"/>
            </a:lvl2pPr>
            <a:lvl3pPr marL="542925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3pPr>
            <a:lvl4pPr marL="8096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4pPr>
            <a:lvl5pPr marL="10763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5pPr>
            <a:lvl6pPr marL="13430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6pPr>
            <a:lvl7pPr marL="1619250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7pPr>
            <a:lvl8pPr marL="18859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8pPr>
            <a:lvl9pPr marL="21526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3200"/>
              <a:t>aalto.fi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389D5A-AB42-9199-44CF-9CEEAE533454}"/>
              </a:ext>
            </a:extLst>
          </p:cNvPr>
          <p:cNvCxnSpPr>
            <a:cxnSpLocks/>
          </p:cNvCxnSpPr>
          <p:nvPr/>
        </p:nvCxnSpPr>
        <p:spPr>
          <a:xfrm>
            <a:off x="6448576" y="2004866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32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4A4D6E-EA47-4FB6-4842-6266F7987D4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E379A93-4718-A4A6-52FF-0770DDE1F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2805066"/>
            <a:ext cx="4895924" cy="3648121"/>
          </a:xfrm>
          <a:custGeom>
            <a:avLst/>
            <a:gdLst>
              <a:gd name="T0" fmla="*/ 6475 w 6475"/>
              <a:gd name="T1" fmla="*/ 1671 h 4824"/>
              <a:gd name="T2" fmla="*/ 6332 w 6475"/>
              <a:gd name="T3" fmla="*/ 2506 h 4824"/>
              <a:gd name="T4" fmla="*/ 6191 w 6475"/>
              <a:gd name="T5" fmla="*/ 3343 h 4824"/>
              <a:gd name="T6" fmla="*/ 5547 w 6475"/>
              <a:gd name="T7" fmla="*/ 3343 h 4824"/>
              <a:gd name="T8" fmla="*/ 5428 w 6475"/>
              <a:gd name="T9" fmla="*/ 2506 h 4824"/>
              <a:gd name="T10" fmla="*/ 5309 w 6475"/>
              <a:gd name="T11" fmla="*/ 1671 h 4824"/>
              <a:gd name="T12" fmla="*/ 5309 w 6475"/>
              <a:gd name="T13" fmla="*/ 835 h 4824"/>
              <a:gd name="T14" fmla="*/ 5309 w 6475"/>
              <a:gd name="T15" fmla="*/ 0 h 4824"/>
              <a:gd name="T16" fmla="*/ 5892 w 6475"/>
              <a:gd name="T17" fmla="*/ 0 h 4824"/>
              <a:gd name="T18" fmla="*/ 6475 w 6475"/>
              <a:gd name="T19" fmla="*/ 0 h 4824"/>
              <a:gd name="T20" fmla="*/ 6475 w 6475"/>
              <a:gd name="T21" fmla="*/ 835 h 4824"/>
              <a:gd name="T22" fmla="*/ 6475 w 6475"/>
              <a:gd name="T23" fmla="*/ 1671 h 4824"/>
              <a:gd name="T24" fmla="*/ 3041 w 6475"/>
              <a:gd name="T25" fmla="*/ 3007 h 4824"/>
              <a:gd name="T26" fmla="*/ 2742 w 6475"/>
              <a:gd name="T27" fmla="*/ 2147 h 4824"/>
              <a:gd name="T28" fmla="*/ 2444 w 6475"/>
              <a:gd name="T29" fmla="*/ 1289 h 4824"/>
              <a:gd name="T30" fmla="*/ 2145 w 6475"/>
              <a:gd name="T31" fmla="*/ 2147 h 4824"/>
              <a:gd name="T32" fmla="*/ 1847 w 6475"/>
              <a:gd name="T33" fmla="*/ 3007 h 4824"/>
              <a:gd name="T34" fmla="*/ 2444 w 6475"/>
              <a:gd name="T35" fmla="*/ 3007 h 4824"/>
              <a:gd name="T36" fmla="*/ 3041 w 6475"/>
              <a:gd name="T37" fmla="*/ 3007 h 4824"/>
              <a:gd name="T38" fmla="*/ 4887 w 6475"/>
              <a:gd name="T39" fmla="*/ 4824 h 4824"/>
              <a:gd name="T40" fmla="*/ 4278 w 6475"/>
              <a:gd name="T41" fmla="*/ 4824 h 4824"/>
              <a:gd name="T42" fmla="*/ 3671 w 6475"/>
              <a:gd name="T43" fmla="*/ 4824 h 4824"/>
              <a:gd name="T44" fmla="*/ 3375 w 6475"/>
              <a:gd name="T45" fmla="*/ 3971 h 4824"/>
              <a:gd name="T46" fmla="*/ 2444 w 6475"/>
              <a:gd name="T47" fmla="*/ 3971 h 4824"/>
              <a:gd name="T48" fmla="*/ 1513 w 6475"/>
              <a:gd name="T49" fmla="*/ 3971 h 4824"/>
              <a:gd name="T50" fmla="*/ 1216 w 6475"/>
              <a:gd name="T51" fmla="*/ 4824 h 4824"/>
              <a:gd name="T52" fmla="*/ 607 w 6475"/>
              <a:gd name="T53" fmla="*/ 4824 h 4824"/>
              <a:gd name="T54" fmla="*/ 0 w 6475"/>
              <a:gd name="T55" fmla="*/ 4824 h 4824"/>
              <a:gd name="T56" fmla="*/ 214 w 6475"/>
              <a:gd name="T57" fmla="*/ 4221 h 4824"/>
              <a:gd name="T58" fmla="*/ 427 w 6475"/>
              <a:gd name="T59" fmla="*/ 3618 h 4824"/>
              <a:gd name="T60" fmla="*/ 641 w 6475"/>
              <a:gd name="T61" fmla="*/ 3015 h 4824"/>
              <a:gd name="T62" fmla="*/ 856 w 6475"/>
              <a:gd name="T63" fmla="*/ 2412 h 4824"/>
              <a:gd name="T64" fmla="*/ 1070 w 6475"/>
              <a:gd name="T65" fmla="*/ 1809 h 4824"/>
              <a:gd name="T66" fmla="*/ 1285 w 6475"/>
              <a:gd name="T67" fmla="*/ 1206 h 4824"/>
              <a:gd name="T68" fmla="*/ 1499 w 6475"/>
              <a:gd name="T69" fmla="*/ 603 h 4824"/>
              <a:gd name="T70" fmla="*/ 1714 w 6475"/>
              <a:gd name="T71" fmla="*/ 0 h 4824"/>
              <a:gd name="T72" fmla="*/ 2443 w 6475"/>
              <a:gd name="T73" fmla="*/ 0 h 4824"/>
              <a:gd name="T74" fmla="*/ 3173 w 6475"/>
              <a:gd name="T75" fmla="*/ 0 h 4824"/>
              <a:gd name="T76" fmla="*/ 3387 w 6475"/>
              <a:gd name="T77" fmla="*/ 603 h 4824"/>
              <a:gd name="T78" fmla="*/ 3601 w 6475"/>
              <a:gd name="T79" fmla="*/ 1206 h 4824"/>
              <a:gd name="T80" fmla="*/ 3814 w 6475"/>
              <a:gd name="T81" fmla="*/ 1809 h 4824"/>
              <a:gd name="T82" fmla="*/ 4029 w 6475"/>
              <a:gd name="T83" fmla="*/ 2412 h 4824"/>
              <a:gd name="T84" fmla="*/ 4243 w 6475"/>
              <a:gd name="T85" fmla="*/ 3015 h 4824"/>
              <a:gd name="T86" fmla="*/ 4458 w 6475"/>
              <a:gd name="T87" fmla="*/ 3618 h 4824"/>
              <a:gd name="T88" fmla="*/ 4672 w 6475"/>
              <a:gd name="T89" fmla="*/ 4221 h 4824"/>
              <a:gd name="T90" fmla="*/ 4887 w 6475"/>
              <a:gd name="T91" fmla="*/ 4824 h 4824"/>
              <a:gd name="T92" fmla="*/ 5343 w 6475"/>
              <a:gd name="T93" fmla="*/ 4824 h 4824"/>
              <a:gd name="T94" fmla="*/ 5343 w 6475"/>
              <a:gd name="T95" fmla="*/ 4277 h 4824"/>
              <a:gd name="T96" fmla="*/ 5343 w 6475"/>
              <a:gd name="T97" fmla="*/ 3730 h 4824"/>
              <a:gd name="T98" fmla="*/ 5891 w 6475"/>
              <a:gd name="T99" fmla="*/ 3730 h 4824"/>
              <a:gd name="T100" fmla="*/ 6440 w 6475"/>
              <a:gd name="T101" fmla="*/ 3730 h 4824"/>
              <a:gd name="T102" fmla="*/ 6440 w 6475"/>
              <a:gd name="T103" fmla="*/ 4277 h 4824"/>
              <a:gd name="T104" fmla="*/ 6440 w 6475"/>
              <a:gd name="T105" fmla="*/ 4824 h 4824"/>
              <a:gd name="T106" fmla="*/ 5891 w 6475"/>
              <a:gd name="T107" fmla="*/ 4824 h 4824"/>
              <a:gd name="T108" fmla="*/ 5343 w 6475"/>
              <a:gd name="T109" fmla="*/ 4824 h 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475" h="4824">
                <a:moveTo>
                  <a:pt x="6475" y="1671"/>
                </a:moveTo>
                <a:lnTo>
                  <a:pt x="6332" y="2506"/>
                </a:lnTo>
                <a:lnTo>
                  <a:pt x="6191" y="3343"/>
                </a:lnTo>
                <a:lnTo>
                  <a:pt x="5547" y="3343"/>
                </a:lnTo>
                <a:lnTo>
                  <a:pt x="5428" y="2506"/>
                </a:lnTo>
                <a:lnTo>
                  <a:pt x="5309" y="1671"/>
                </a:lnTo>
                <a:lnTo>
                  <a:pt x="5309" y="835"/>
                </a:lnTo>
                <a:lnTo>
                  <a:pt x="5309" y="0"/>
                </a:lnTo>
                <a:lnTo>
                  <a:pt x="5892" y="0"/>
                </a:lnTo>
                <a:lnTo>
                  <a:pt x="6475" y="0"/>
                </a:lnTo>
                <a:lnTo>
                  <a:pt x="6475" y="835"/>
                </a:lnTo>
                <a:lnTo>
                  <a:pt x="6475" y="1671"/>
                </a:lnTo>
                <a:close/>
                <a:moveTo>
                  <a:pt x="3041" y="3007"/>
                </a:moveTo>
                <a:lnTo>
                  <a:pt x="2742" y="2147"/>
                </a:lnTo>
                <a:lnTo>
                  <a:pt x="2444" y="1289"/>
                </a:lnTo>
                <a:lnTo>
                  <a:pt x="2145" y="2147"/>
                </a:lnTo>
                <a:lnTo>
                  <a:pt x="1847" y="3007"/>
                </a:lnTo>
                <a:lnTo>
                  <a:pt x="2444" y="3007"/>
                </a:lnTo>
                <a:lnTo>
                  <a:pt x="3041" y="3007"/>
                </a:lnTo>
                <a:close/>
                <a:moveTo>
                  <a:pt x="4887" y="4824"/>
                </a:moveTo>
                <a:lnTo>
                  <a:pt x="4278" y="4824"/>
                </a:lnTo>
                <a:lnTo>
                  <a:pt x="3671" y="4824"/>
                </a:lnTo>
                <a:lnTo>
                  <a:pt x="3375" y="3971"/>
                </a:lnTo>
                <a:lnTo>
                  <a:pt x="2444" y="3971"/>
                </a:lnTo>
                <a:lnTo>
                  <a:pt x="1513" y="3971"/>
                </a:lnTo>
                <a:lnTo>
                  <a:pt x="1216" y="4824"/>
                </a:lnTo>
                <a:lnTo>
                  <a:pt x="607" y="4824"/>
                </a:lnTo>
                <a:lnTo>
                  <a:pt x="0" y="4824"/>
                </a:lnTo>
                <a:lnTo>
                  <a:pt x="214" y="4221"/>
                </a:lnTo>
                <a:lnTo>
                  <a:pt x="427" y="3618"/>
                </a:lnTo>
                <a:lnTo>
                  <a:pt x="641" y="3015"/>
                </a:lnTo>
                <a:lnTo>
                  <a:pt x="856" y="2412"/>
                </a:lnTo>
                <a:lnTo>
                  <a:pt x="1070" y="1809"/>
                </a:lnTo>
                <a:lnTo>
                  <a:pt x="1285" y="1206"/>
                </a:lnTo>
                <a:lnTo>
                  <a:pt x="1499" y="603"/>
                </a:lnTo>
                <a:lnTo>
                  <a:pt x="1714" y="0"/>
                </a:lnTo>
                <a:lnTo>
                  <a:pt x="2443" y="0"/>
                </a:lnTo>
                <a:lnTo>
                  <a:pt x="3173" y="0"/>
                </a:lnTo>
                <a:lnTo>
                  <a:pt x="3387" y="603"/>
                </a:lnTo>
                <a:lnTo>
                  <a:pt x="3601" y="1206"/>
                </a:lnTo>
                <a:lnTo>
                  <a:pt x="3814" y="1809"/>
                </a:lnTo>
                <a:lnTo>
                  <a:pt x="4029" y="2412"/>
                </a:lnTo>
                <a:lnTo>
                  <a:pt x="4243" y="3015"/>
                </a:lnTo>
                <a:lnTo>
                  <a:pt x="4458" y="3618"/>
                </a:lnTo>
                <a:lnTo>
                  <a:pt x="4672" y="4221"/>
                </a:lnTo>
                <a:lnTo>
                  <a:pt x="4887" y="4824"/>
                </a:lnTo>
                <a:close/>
                <a:moveTo>
                  <a:pt x="5343" y="4824"/>
                </a:moveTo>
                <a:lnTo>
                  <a:pt x="5343" y="4277"/>
                </a:lnTo>
                <a:lnTo>
                  <a:pt x="5343" y="3730"/>
                </a:lnTo>
                <a:lnTo>
                  <a:pt x="5891" y="3730"/>
                </a:lnTo>
                <a:lnTo>
                  <a:pt x="6440" y="3730"/>
                </a:lnTo>
                <a:lnTo>
                  <a:pt x="6440" y="4277"/>
                </a:lnTo>
                <a:lnTo>
                  <a:pt x="6440" y="4824"/>
                </a:lnTo>
                <a:lnTo>
                  <a:pt x="5891" y="4824"/>
                </a:lnTo>
                <a:lnTo>
                  <a:pt x="5343" y="4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4BCDF-D62A-8FD1-A853-63A6E329245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09A3D73-7FCE-4497-AAF2-0519C7E9A249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B009C-F38A-C91A-9FEF-AECF89D4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65B9-41BC-781D-107D-C5A99B2C7D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85133-50DB-CAA4-935B-5BFB0E1B21AB}"/>
              </a:ext>
            </a:extLst>
          </p:cNvPr>
          <p:cNvSpPr txBox="1"/>
          <p:nvPr/>
        </p:nvSpPr>
        <p:spPr>
          <a:xfrm>
            <a:off x="6456040" y="2249172"/>
            <a:ext cx="1512168" cy="504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l"/>
            <a:r>
              <a:rPr lang="en-US" sz="3200">
                <a:latin typeface="+mj-lt"/>
              </a:rPr>
              <a:t>Kiitos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7F46B658-9D7D-6338-006D-3915FC261FA2}"/>
              </a:ext>
            </a:extLst>
          </p:cNvPr>
          <p:cNvSpPr txBox="1"/>
          <p:nvPr/>
        </p:nvSpPr>
        <p:spPr>
          <a:xfrm>
            <a:off x="6456040" y="2769778"/>
            <a:ext cx="143821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90000"/>
              </a:lnSpc>
              <a:spcBef>
                <a:spcPts val="800"/>
              </a:spcBef>
              <a:buFontTx/>
              <a:buNone/>
              <a:defRPr sz="3000" b="1" spc="-50" baseline="0">
                <a:latin typeface="+mj-lt"/>
              </a:defRPr>
            </a:lvl1pPr>
            <a:lvl2pPr marL="26670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000"/>
            </a:lvl2pPr>
            <a:lvl3pPr marL="542925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3pPr>
            <a:lvl4pPr marL="8096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4pPr>
            <a:lvl5pPr marL="10763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5pPr>
            <a:lvl6pPr marL="13430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6pPr>
            <a:lvl7pPr marL="1619250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7pPr>
            <a:lvl8pPr marL="18859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8pPr>
            <a:lvl9pPr marL="21526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3200"/>
              <a:t>aalto.fi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6E9EB7-2C97-21BD-728D-4E129DB8FD35}"/>
              </a:ext>
            </a:extLst>
          </p:cNvPr>
          <p:cNvCxnSpPr>
            <a:cxnSpLocks/>
          </p:cNvCxnSpPr>
          <p:nvPr/>
        </p:nvCxnSpPr>
        <p:spPr>
          <a:xfrm>
            <a:off x="6448576" y="2004866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004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4A4D6E-EA47-4FB6-4842-6266F7987D4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E379A93-4718-A4A6-52FF-0770DDE1F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2805066"/>
            <a:ext cx="4895924" cy="3648121"/>
          </a:xfrm>
          <a:custGeom>
            <a:avLst/>
            <a:gdLst>
              <a:gd name="T0" fmla="*/ 6475 w 6475"/>
              <a:gd name="T1" fmla="*/ 1671 h 4824"/>
              <a:gd name="T2" fmla="*/ 6332 w 6475"/>
              <a:gd name="T3" fmla="*/ 2506 h 4824"/>
              <a:gd name="T4" fmla="*/ 6191 w 6475"/>
              <a:gd name="T5" fmla="*/ 3343 h 4824"/>
              <a:gd name="T6" fmla="*/ 5547 w 6475"/>
              <a:gd name="T7" fmla="*/ 3343 h 4824"/>
              <a:gd name="T8" fmla="*/ 5428 w 6475"/>
              <a:gd name="T9" fmla="*/ 2506 h 4824"/>
              <a:gd name="T10" fmla="*/ 5309 w 6475"/>
              <a:gd name="T11" fmla="*/ 1671 h 4824"/>
              <a:gd name="T12" fmla="*/ 5309 w 6475"/>
              <a:gd name="T13" fmla="*/ 835 h 4824"/>
              <a:gd name="T14" fmla="*/ 5309 w 6475"/>
              <a:gd name="T15" fmla="*/ 0 h 4824"/>
              <a:gd name="T16" fmla="*/ 5892 w 6475"/>
              <a:gd name="T17" fmla="*/ 0 h 4824"/>
              <a:gd name="T18" fmla="*/ 6475 w 6475"/>
              <a:gd name="T19" fmla="*/ 0 h 4824"/>
              <a:gd name="T20" fmla="*/ 6475 w 6475"/>
              <a:gd name="T21" fmla="*/ 835 h 4824"/>
              <a:gd name="T22" fmla="*/ 6475 w 6475"/>
              <a:gd name="T23" fmla="*/ 1671 h 4824"/>
              <a:gd name="T24" fmla="*/ 3041 w 6475"/>
              <a:gd name="T25" fmla="*/ 3007 h 4824"/>
              <a:gd name="T26" fmla="*/ 2742 w 6475"/>
              <a:gd name="T27" fmla="*/ 2147 h 4824"/>
              <a:gd name="T28" fmla="*/ 2444 w 6475"/>
              <a:gd name="T29" fmla="*/ 1289 h 4824"/>
              <a:gd name="T30" fmla="*/ 2145 w 6475"/>
              <a:gd name="T31" fmla="*/ 2147 h 4824"/>
              <a:gd name="T32" fmla="*/ 1847 w 6475"/>
              <a:gd name="T33" fmla="*/ 3007 h 4824"/>
              <a:gd name="T34" fmla="*/ 2444 w 6475"/>
              <a:gd name="T35" fmla="*/ 3007 h 4824"/>
              <a:gd name="T36" fmla="*/ 3041 w 6475"/>
              <a:gd name="T37" fmla="*/ 3007 h 4824"/>
              <a:gd name="T38" fmla="*/ 4887 w 6475"/>
              <a:gd name="T39" fmla="*/ 4824 h 4824"/>
              <a:gd name="T40" fmla="*/ 4278 w 6475"/>
              <a:gd name="T41" fmla="*/ 4824 h 4824"/>
              <a:gd name="T42" fmla="*/ 3671 w 6475"/>
              <a:gd name="T43" fmla="*/ 4824 h 4824"/>
              <a:gd name="T44" fmla="*/ 3375 w 6475"/>
              <a:gd name="T45" fmla="*/ 3971 h 4824"/>
              <a:gd name="T46" fmla="*/ 2444 w 6475"/>
              <a:gd name="T47" fmla="*/ 3971 h 4824"/>
              <a:gd name="T48" fmla="*/ 1513 w 6475"/>
              <a:gd name="T49" fmla="*/ 3971 h 4824"/>
              <a:gd name="T50" fmla="*/ 1216 w 6475"/>
              <a:gd name="T51" fmla="*/ 4824 h 4824"/>
              <a:gd name="T52" fmla="*/ 607 w 6475"/>
              <a:gd name="T53" fmla="*/ 4824 h 4824"/>
              <a:gd name="T54" fmla="*/ 0 w 6475"/>
              <a:gd name="T55" fmla="*/ 4824 h 4824"/>
              <a:gd name="T56" fmla="*/ 214 w 6475"/>
              <a:gd name="T57" fmla="*/ 4221 h 4824"/>
              <a:gd name="T58" fmla="*/ 427 w 6475"/>
              <a:gd name="T59" fmla="*/ 3618 h 4824"/>
              <a:gd name="T60" fmla="*/ 641 w 6475"/>
              <a:gd name="T61" fmla="*/ 3015 h 4824"/>
              <a:gd name="T62" fmla="*/ 856 w 6475"/>
              <a:gd name="T63" fmla="*/ 2412 h 4824"/>
              <a:gd name="T64" fmla="*/ 1070 w 6475"/>
              <a:gd name="T65" fmla="*/ 1809 h 4824"/>
              <a:gd name="T66" fmla="*/ 1285 w 6475"/>
              <a:gd name="T67" fmla="*/ 1206 h 4824"/>
              <a:gd name="T68" fmla="*/ 1499 w 6475"/>
              <a:gd name="T69" fmla="*/ 603 h 4824"/>
              <a:gd name="T70" fmla="*/ 1714 w 6475"/>
              <a:gd name="T71" fmla="*/ 0 h 4824"/>
              <a:gd name="T72" fmla="*/ 2443 w 6475"/>
              <a:gd name="T73" fmla="*/ 0 h 4824"/>
              <a:gd name="T74" fmla="*/ 3173 w 6475"/>
              <a:gd name="T75" fmla="*/ 0 h 4824"/>
              <a:gd name="T76" fmla="*/ 3387 w 6475"/>
              <a:gd name="T77" fmla="*/ 603 h 4824"/>
              <a:gd name="T78" fmla="*/ 3601 w 6475"/>
              <a:gd name="T79" fmla="*/ 1206 h 4824"/>
              <a:gd name="T80" fmla="*/ 3814 w 6475"/>
              <a:gd name="T81" fmla="*/ 1809 h 4824"/>
              <a:gd name="T82" fmla="*/ 4029 w 6475"/>
              <a:gd name="T83" fmla="*/ 2412 h 4824"/>
              <a:gd name="T84" fmla="*/ 4243 w 6475"/>
              <a:gd name="T85" fmla="*/ 3015 h 4824"/>
              <a:gd name="T86" fmla="*/ 4458 w 6475"/>
              <a:gd name="T87" fmla="*/ 3618 h 4824"/>
              <a:gd name="T88" fmla="*/ 4672 w 6475"/>
              <a:gd name="T89" fmla="*/ 4221 h 4824"/>
              <a:gd name="T90" fmla="*/ 4887 w 6475"/>
              <a:gd name="T91" fmla="*/ 4824 h 4824"/>
              <a:gd name="T92" fmla="*/ 5343 w 6475"/>
              <a:gd name="T93" fmla="*/ 4824 h 4824"/>
              <a:gd name="T94" fmla="*/ 5343 w 6475"/>
              <a:gd name="T95" fmla="*/ 4277 h 4824"/>
              <a:gd name="T96" fmla="*/ 5343 w 6475"/>
              <a:gd name="T97" fmla="*/ 3730 h 4824"/>
              <a:gd name="T98" fmla="*/ 5891 w 6475"/>
              <a:gd name="T99" fmla="*/ 3730 h 4824"/>
              <a:gd name="T100" fmla="*/ 6440 w 6475"/>
              <a:gd name="T101" fmla="*/ 3730 h 4824"/>
              <a:gd name="T102" fmla="*/ 6440 w 6475"/>
              <a:gd name="T103" fmla="*/ 4277 h 4824"/>
              <a:gd name="T104" fmla="*/ 6440 w 6475"/>
              <a:gd name="T105" fmla="*/ 4824 h 4824"/>
              <a:gd name="T106" fmla="*/ 5891 w 6475"/>
              <a:gd name="T107" fmla="*/ 4824 h 4824"/>
              <a:gd name="T108" fmla="*/ 5343 w 6475"/>
              <a:gd name="T109" fmla="*/ 4824 h 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475" h="4824">
                <a:moveTo>
                  <a:pt x="6475" y="1671"/>
                </a:moveTo>
                <a:lnTo>
                  <a:pt x="6332" y="2506"/>
                </a:lnTo>
                <a:lnTo>
                  <a:pt x="6191" y="3343"/>
                </a:lnTo>
                <a:lnTo>
                  <a:pt x="5547" y="3343"/>
                </a:lnTo>
                <a:lnTo>
                  <a:pt x="5428" y="2506"/>
                </a:lnTo>
                <a:lnTo>
                  <a:pt x="5309" y="1671"/>
                </a:lnTo>
                <a:lnTo>
                  <a:pt x="5309" y="835"/>
                </a:lnTo>
                <a:lnTo>
                  <a:pt x="5309" y="0"/>
                </a:lnTo>
                <a:lnTo>
                  <a:pt x="5892" y="0"/>
                </a:lnTo>
                <a:lnTo>
                  <a:pt x="6475" y="0"/>
                </a:lnTo>
                <a:lnTo>
                  <a:pt x="6475" y="835"/>
                </a:lnTo>
                <a:lnTo>
                  <a:pt x="6475" y="1671"/>
                </a:lnTo>
                <a:close/>
                <a:moveTo>
                  <a:pt x="3041" y="3007"/>
                </a:moveTo>
                <a:lnTo>
                  <a:pt x="2742" y="2147"/>
                </a:lnTo>
                <a:lnTo>
                  <a:pt x="2444" y="1289"/>
                </a:lnTo>
                <a:lnTo>
                  <a:pt x="2145" y="2147"/>
                </a:lnTo>
                <a:lnTo>
                  <a:pt x="1847" y="3007"/>
                </a:lnTo>
                <a:lnTo>
                  <a:pt x="2444" y="3007"/>
                </a:lnTo>
                <a:lnTo>
                  <a:pt x="3041" y="3007"/>
                </a:lnTo>
                <a:close/>
                <a:moveTo>
                  <a:pt x="4887" y="4824"/>
                </a:moveTo>
                <a:lnTo>
                  <a:pt x="4278" y="4824"/>
                </a:lnTo>
                <a:lnTo>
                  <a:pt x="3671" y="4824"/>
                </a:lnTo>
                <a:lnTo>
                  <a:pt x="3375" y="3971"/>
                </a:lnTo>
                <a:lnTo>
                  <a:pt x="2444" y="3971"/>
                </a:lnTo>
                <a:lnTo>
                  <a:pt x="1513" y="3971"/>
                </a:lnTo>
                <a:lnTo>
                  <a:pt x="1216" y="4824"/>
                </a:lnTo>
                <a:lnTo>
                  <a:pt x="607" y="4824"/>
                </a:lnTo>
                <a:lnTo>
                  <a:pt x="0" y="4824"/>
                </a:lnTo>
                <a:lnTo>
                  <a:pt x="214" y="4221"/>
                </a:lnTo>
                <a:lnTo>
                  <a:pt x="427" y="3618"/>
                </a:lnTo>
                <a:lnTo>
                  <a:pt x="641" y="3015"/>
                </a:lnTo>
                <a:lnTo>
                  <a:pt x="856" y="2412"/>
                </a:lnTo>
                <a:lnTo>
                  <a:pt x="1070" y="1809"/>
                </a:lnTo>
                <a:lnTo>
                  <a:pt x="1285" y="1206"/>
                </a:lnTo>
                <a:lnTo>
                  <a:pt x="1499" y="603"/>
                </a:lnTo>
                <a:lnTo>
                  <a:pt x="1714" y="0"/>
                </a:lnTo>
                <a:lnTo>
                  <a:pt x="2443" y="0"/>
                </a:lnTo>
                <a:lnTo>
                  <a:pt x="3173" y="0"/>
                </a:lnTo>
                <a:lnTo>
                  <a:pt x="3387" y="603"/>
                </a:lnTo>
                <a:lnTo>
                  <a:pt x="3601" y="1206"/>
                </a:lnTo>
                <a:lnTo>
                  <a:pt x="3814" y="1809"/>
                </a:lnTo>
                <a:lnTo>
                  <a:pt x="4029" y="2412"/>
                </a:lnTo>
                <a:lnTo>
                  <a:pt x="4243" y="3015"/>
                </a:lnTo>
                <a:lnTo>
                  <a:pt x="4458" y="3618"/>
                </a:lnTo>
                <a:lnTo>
                  <a:pt x="4672" y="4221"/>
                </a:lnTo>
                <a:lnTo>
                  <a:pt x="4887" y="4824"/>
                </a:lnTo>
                <a:close/>
                <a:moveTo>
                  <a:pt x="5343" y="4824"/>
                </a:moveTo>
                <a:lnTo>
                  <a:pt x="5343" y="4277"/>
                </a:lnTo>
                <a:lnTo>
                  <a:pt x="5343" y="3730"/>
                </a:lnTo>
                <a:lnTo>
                  <a:pt x="5891" y="3730"/>
                </a:lnTo>
                <a:lnTo>
                  <a:pt x="6440" y="3730"/>
                </a:lnTo>
                <a:lnTo>
                  <a:pt x="6440" y="4277"/>
                </a:lnTo>
                <a:lnTo>
                  <a:pt x="6440" y="4824"/>
                </a:lnTo>
                <a:lnTo>
                  <a:pt x="5891" y="4824"/>
                </a:lnTo>
                <a:lnTo>
                  <a:pt x="5343" y="4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1311B-B039-888D-706C-C02FE1F80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4DC400-4E91-41DC-9D74-8977BA3EFFC1}" type="datetime1">
              <a:rPr lang="fi-FI" smtClean="0"/>
              <a:t>24.9.2025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5BFD0-08BF-877C-6A1F-C5951A8D21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Presenter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29A7-39F7-6678-ED5C-1BFC1DE83D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0BA38-FC88-57DB-9D5F-17BBFA1AD9C4}"/>
              </a:ext>
            </a:extLst>
          </p:cNvPr>
          <p:cNvSpPr txBox="1"/>
          <p:nvPr/>
        </p:nvSpPr>
        <p:spPr>
          <a:xfrm>
            <a:off x="6456040" y="2249172"/>
            <a:ext cx="1512168" cy="504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l"/>
            <a:r>
              <a:rPr lang="en-US" sz="3200">
                <a:latin typeface="+mj-lt"/>
              </a:rPr>
              <a:t>Kiitos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ED4DAA49-5117-79E7-369F-3E00EDCAAED8}"/>
              </a:ext>
            </a:extLst>
          </p:cNvPr>
          <p:cNvSpPr txBox="1"/>
          <p:nvPr/>
        </p:nvSpPr>
        <p:spPr>
          <a:xfrm>
            <a:off x="6456040" y="2769778"/>
            <a:ext cx="143821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90000"/>
              </a:lnSpc>
              <a:spcBef>
                <a:spcPts val="800"/>
              </a:spcBef>
              <a:buFontTx/>
              <a:buNone/>
              <a:defRPr sz="3000" b="1" spc="-50" baseline="0">
                <a:latin typeface="+mj-lt"/>
              </a:defRPr>
            </a:lvl1pPr>
            <a:lvl2pPr marL="26670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000"/>
            </a:lvl2pPr>
            <a:lvl3pPr marL="542925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3pPr>
            <a:lvl4pPr marL="8096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4pPr>
            <a:lvl5pPr marL="10763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5pPr>
            <a:lvl6pPr marL="1343025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6pPr>
            <a:lvl7pPr marL="1619250" indent="-276225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7pPr>
            <a:lvl8pPr marL="18859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8pPr>
            <a:lvl9pPr marL="2152650" indent="-2667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3200"/>
              <a:t>aalto.fi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DCA95A-EFB3-A3D7-88E6-2D13DAC91375}"/>
              </a:ext>
            </a:extLst>
          </p:cNvPr>
          <p:cNvCxnSpPr>
            <a:cxnSpLocks/>
          </p:cNvCxnSpPr>
          <p:nvPr/>
        </p:nvCxnSpPr>
        <p:spPr>
          <a:xfrm>
            <a:off x="6448576" y="2004866"/>
            <a:ext cx="3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05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1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F88ACE25-8CC0-47FA-B38B-83BD3BBFB23F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12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4068" r:id="rId7"/>
    <p:sldLayoutId id="2147484069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  <p:sldLayoutId id="21474840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77610C63-FE48-4BD4-9F9F-EF32A1826A61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13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8CFD9232-3719-4F9E-8007-2DCF972A3CA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70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27506E4C-B9FC-44D0-B2BA-36EF67BC6E74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19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0221E6FC-591F-41D3-8866-CA3BC60199CE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62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71" r:id="rId2"/>
    <p:sldLayoutId id="2147484072" r:id="rId3"/>
    <p:sldLayoutId id="2147484073" r:id="rId4"/>
    <p:sldLayoutId id="2147484074" r:id="rId5"/>
    <p:sldLayoutId id="2147484064" r:id="rId6"/>
    <p:sldLayoutId id="2147484065" r:id="rId7"/>
    <p:sldLayoutId id="2147484066" r:id="rId8"/>
    <p:sldLayoutId id="2147484067" r:id="rId9"/>
    <p:sldLayoutId id="2147484075" r:id="rId10"/>
    <p:sldLayoutId id="214748407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65E8D-F825-584D-D6FB-F8C43CA5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26" cy="1079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11FC7-EFA2-69A1-189F-7A86286A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844675"/>
            <a:ext cx="11376025" cy="40322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F7BF6-AD90-C909-77AF-27B553EAE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0456" y="6309320"/>
            <a:ext cx="11521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D7C2292C-5C74-45EE-A0FE-7902D9C4C12B}" type="datetime1">
              <a:rPr lang="fi-FI" smtClean="0"/>
              <a:t>24.9.2025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740A-22EB-F160-0AF7-8861ADCEA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464" y="6309320"/>
            <a:ext cx="8928992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i-FI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10D8-B221-F972-68C1-3E01629A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584" y="6309320"/>
            <a:ext cx="431428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fld id="{D701140D-C14F-41CA-99FC-0EF83E8DA40A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C5E2C33-AA03-78AB-8665-63E23F2C35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07988" y="6165304"/>
            <a:ext cx="385958" cy="288000"/>
          </a:xfrm>
          <a:custGeom>
            <a:avLst/>
            <a:gdLst>
              <a:gd name="T0" fmla="*/ 1576 w 1576"/>
              <a:gd name="T1" fmla="*/ 408 h 1176"/>
              <a:gd name="T2" fmla="*/ 1507 w 1576"/>
              <a:gd name="T3" fmla="*/ 815 h 1176"/>
              <a:gd name="T4" fmla="*/ 1350 w 1576"/>
              <a:gd name="T5" fmla="*/ 815 h 1176"/>
              <a:gd name="T6" fmla="*/ 1293 w 1576"/>
              <a:gd name="T7" fmla="*/ 408 h 1176"/>
              <a:gd name="T8" fmla="*/ 1293 w 1576"/>
              <a:gd name="T9" fmla="*/ 0 h 1176"/>
              <a:gd name="T10" fmla="*/ 1576 w 1576"/>
              <a:gd name="T11" fmla="*/ 0 h 1176"/>
              <a:gd name="T12" fmla="*/ 1576 w 1576"/>
              <a:gd name="T13" fmla="*/ 408 h 1176"/>
              <a:gd name="T14" fmla="*/ 740 w 1576"/>
              <a:gd name="T15" fmla="*/ 733 h 1176"/>
              <a:gd name="T16" fmla="*/ 595 w 1576"/>
              <a:gd name="T17" fmla="*/ 315 h 1176"/>
              <a:gd name="T18" fmla="*/ 450 w 1576"/>
              <a:gd name="T19" fmla="*/ 733 h 1176"/>
              <a:gd name="T20" fmla="*/ 740 w 1576"/>
              <a:gd name="T21" fmla="*/ 733 h 1176"/>
              <a:gd name="T22" fmla="*/ 1190 w 1576"/>
              <a:gd name="T23" fmla="*/ 1176 h 1176"/>
              <a:gd name="T24" fmla="*/ 893 w 1576"/>
              <a:gd name="T25" fmla="*/ 1176 h 1176"/>
              <a:gd name="T26" fmla="*/ 822 w 1576"/>
              <a:gd name="T27" fmla="*/ 968 h 1176"/>
              <a:gd name="T28" fmla="*/ 368 w 1576"/>
              <a:gd name="T29" fmla="*/ 968 h 1176"/>
              <a:gd name="T30" fmla="*/ 296 w 1576"/>
              <a:gd name="T31" fmla="*/ 1176 h 1176"/>
              <a:gd name="T32" fmla="*/ 0 w 1576"/>
              <a:gd name="T33" fmla="*/ 1176 h 1176"/>
              <a:gd name="T34" fmla="*/ 209 w 1576"/>
              <a:gd name="T35" fmla="*/ 588 h 1176"/>
              <a:gd name="T36" fmla="*/ 418 w 1576"/>
              <a:gd name="T37" fmla="*/ 0 h 1176"/>
              <a:gd name="T38" fmla="*/ 773 w 1576"/>
              <a:gd name="T39" fmla="*/ 0 h 1176"/>
              <a:gd name="T40" fmla="*/ 981 w 1576"/>
              <a:gd name="T41" fmla="*/ 588 h 1176"/>
              <a:gd name="T42" fmla="*/ 1190 w 1576"/>
              <a:gd name="T43" fmla="*/ 1176 h 1176"/>
              <a:gd name="T44" fmla="*/ 1301 w 1576"/>
              <a:gd name="T45" fmla="*/ 1176 h 1176"/>
              <a:gd name="T46" fmla="*/ 1301 w 1576"/>
              <a:gd name="T47" fmla="*/ 910 h 1176"/>
              <a:gd name="T48" fmla="*/ 1568 w 1576"/>
              <a:gd name="T49" fmla="*/ 910 h 1176"/>
              <a:gd name="T50" fmla="*/ 1568 w 1576"/>
              <a:gd name="T51" fmla="*/ 1176 h 1176"/>
              <a:gd name="T52" fmla="*/ 1301 w 1576"/>
              <a:gd name="T53" fmla="*/ 117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76" h="1176">
                <a:moveTo>
                  <a:pt x="1576" y="408"/>
                </a:moveTo>
                <a:lnTo>
                  <a:pt x="1507" y="815"/>
                </a:lnTo>
                <a:lnTo>
                  <a:pt x="1350" y="815"/>
                </a:lnTo>
                <a:lnTo>
                  <a:pt x="1293" y="408"/>
                </a:lnTo>
                <a:lnTo>
                  <a:pt x="1293" y="0"/>
                </a:lnTo>
                <a:lnTo>
                  <a:pt x="1576" y="0"/>
                </a:lnTo>
                <a:lnTo>
                  <a:pt x="1576" y="408"/>
                </a:lnTo>
                <a:close/>
                <a:moveTo>
                  <a:pt x="740" y="733"/>
                </a:moveTo>
                <a:lnTo>
                  <a:pt x="595" y="315"/>
                </a:lnTo>
                <a:lnTo>
                  <a:pt x="450" y="733"/>
                </a:lnTo>
                <a:lnTo>
                  <a:pt x="740" y="733"/>
                </a:lnTo>
                <a:close/>
                <a:moveTo>
                  <a:pt x="1190" y="1176"/>
                </a:moveTo>
                <a:lnTo>
                  <a:pt x="893" y="1176"/>
                </a:lnTo>
                <a:lnTo>
                  <a:pt x="822" y="968"/>
                </a:lnTo>
                <a:lnTo>
                  <a:pt x="368" y="968"/>
                </a:lnTo>
                <a:lnTo>
                  <a:pt x="296" y="1176"/>
                </a:lnTo>
                <a:lnTo>
                  <a:pt x="0" y="1176"/>
                </a:lnTo>
                <a:lnTo>
                  <a:pt x="209" y="588"/>
                </a:lnTo>
                <a:lnTo>
                  <a:pt x="418" y="0"/>
                </a:lnTo>
                <a:lnTo>
                  <a:pt x="773" y="0"/>
                </a:lnTo>
                <a:lnTo>
                  <a:pt x="981" y="588"/>
                </a:lnTo>
                <a:lnTo>
                  <a:pt x="1190" y="1176"/>
                </a:lnTo>
                <a:close/>
                <a:moveTo>
                  <a:pt x="1301" y="1176"/>
                </a:moveTo>
                <a:lnTo>
                  <a:pt x="1301" y="910"/>
                </a:lnTo>
                <a:lnTo>
                  <a:pt x="1568" y="910"/>
                </a:lnTo>
                <a:lnTo>
                  <a:pt x="1568" y="1176"/>
                </a:lnTo>
                <a:lnTo>
                  <a:pt x="1301" y="11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i-FI"/>
          </a:p>
        </p:txBody>
      </p:sp>
      <p:sp>
        <p:nvSpPr>
          <p:cNvPr id="14" name="(c)" hidden="1">
            <a:extLst>
              <a:ext uri="{FF2B5EF4-FFF2-40B4-BE49-F238E27FC236}">
                <a16:creationId xmlns:a16="http://schemas.microsoft.com/office/drawing/2014/main" id="{8C5E7599-C4F7-9F42-0FC3-001CFA949B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92930" y="6891795"/>
            <a:ext cx="192360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 noProof="1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 noProof="1">
                <a:solidFill>
                  <a:schemeClr val="bg1"/>
                </a:solidFill>
                <a:latin typeface="+mn-lt"/>
              </a:rPr>
              <a:t> aalto</a:t>
            </a:r>
            <a:endParaRPr lang="fi-FI" sz="200" noProof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" name="(logo)" descr="Z:\GRW (grow)\logot\copyright_grow.png" hidden="1">
            <a:extLst>
              <a:ext uri="{FF2B5EF4-FFF2-40B4-BE49-F238E27FC236}">
                <a16:creationId xmlns:a16="http://schemas.microsoft.com/office/drawing/2014/main" id="{2253F43D-7AF1-7EB4-2D74-17D11A66FF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13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3888" r:id="rId2"/>
    <p:sldLayoutId id="2147483889" r:id="rId3"/>
    <p:sldLayoutId id="2147483890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43025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19250" indent="-276225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859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152650" indent="-2667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702">
          <p15:clr>
            <a:srgbClr val="F26B43"/>
          </p15:clr>
        </p15:guide>
        <p15:guide id="6" orient="horz" pos="255">
          <p15:clr>
            <a:srgbClr val="F26B43"/>
          </p15:clr>
        </p15:guide>
        <p15:guide id="7" orient="horz" pos="1389">
          <p15:clr>
            <a:srgbClr val="F26B43"/>
          </p15:clr>
        </p15:guide>
        <p15:guide id="9" orient="horz" pos="1162">
          <p15:clr>
            <a:srgbClr val="F26B43"/>
          </p15:clr>
        </p15:guide>
        <p15:guide id="10" pos="665">
          <p15:clr>
            <a:srgbClr val="F26B43"/>
          </p15:clr>
        </p15:guide>
        <p15:guide id="11" pos="7015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349A-86F2-8991-1EAA-F051051D6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84" y="4339798"/>
            <a:ext cx="9792468" cy="430887"/>
          </a:xfrm>
        </p:spPr>
        <p:txBody>
          <a:bodyPr/>
          <a:lstStyle/>
          <a:p>
            <a:r>
              <a:rPr lang="en-GB" sz="2800" b="0" noProof="1"/>
              <a:t>Final Project DSD 2025 - Summer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F08A9-1795-8342-8009-C3DDC0F7A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84" y="2936557"/>
            <a:ext cx="11418227" cy="984885"/>
          </a:xfrm>
        </p:spPr>
        <p:txBody>
          <a:bodyPr/>
          <a:lstStyle/>
          <a:p>
            <a:r>
              <a:rPr lang="en-US" b="1" dirty="0"/>
              <a:t>Comprehensive Analysis Pipeline for Arterial Stiffness Estimation from Wrist Pulse Signals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FB7AF-611D-A911-E047-2F3A5822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1</a:t>
            </a:fld>
            <a:endParaRPr lang="fi-FI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A9CAAB-E447-252E-D399-3FA1B98FA7F9}"/>
              </a:ext>
            </a:extLst>
          </p:cNvPr>
          <p:cNvSpPr txBox="1">
            <a:spLocks/>
          </p:cNvSpPr>
          <p:nvPr/>
        </p:nvSpPr>
        <p:spPr>
          <a:xfrm>
            <a:off x="407987" y="6274109"/>
            <a:ext cx="11376023" cy="2308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500" b="0" noProof="1"/>
              <a:t>Student: Dinh Bach Tue						Advisor: PhD Researcher Bahmani Nima</a:t>
            </a:r>
          </a:p>
        </p:txBody>
      </p:sp>
    </p:spTree>
    <p:extLst>
      <p:ext uri="{BB962C8B-B14F-4D97-AF65-F5344CB8AC3E}">
        <p14:creationId xmlns:p14="http://schemas.microsoft.com/office/powerpoint/2010/main" val="328278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E1BC-2F62-4F22-0A3F-B9F1D3EB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F36EC98-1B8B-CCB1-E230-7AB84FB68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00" y="570248"/>
            <a:ext cx="5345721" cy="492443"/>
          </a:xfrm>
        </p:spPr>
        <p:txBody>
          <a:bodyPr/>
          <a:lstStyle/>
          <a:p>
            <a:pPr algn="l"/>
            <a:r>
              <a:rPr lang="en-US" dirty="0"/>
              <a:t>Background 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40BCCD95-DD97-20DD-C9C2-6FF2F2498C99}"/>
              </a:ext>
            </a:extLst>
          </p:cNvPr>
          <p:cNvSpPr txBox="1">
            <a:spLocks/>
          </p:cNvSpPr>
          <p:nvPr/>
        </p:nvSpPr>
        <p:spPr>
          <a:xfrm>
            <a:off x="478300" y="1688153"/>
            <a:ext cx="7272998" cy="123110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US" sz="2000" b="0" dirty="0"/>
              <a:t>Arterial stiffness is the gold standard biomarker for vascular aging and cardiovascular risk.</a:t>
            </a:r>
          </a:p>
          <a:p>
            <a:pPr marL="342900" indent="-342900" algn="l">
              <a:buFontTx/>
              <a:buChar char="-"/>
            </a:pPr>
            <a:endParaRPr lang="en-US" sz="2000" b="0" dirty="0"/>
          </a:p>
          <a:p>
            <a:pPr marL="342900" indent="-342900" algn="l">
              <a:buFontTx/>
              <a:buChar char="-"/>
            </a:pPr>
            <a:endParaRPr lang="en-US" sz="2000" b="0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6B9CD1D4-453E-5D36-9B43-53D0CF5888D6}"/>
              </a:ext>
            </a:extLst>
          </p:cNvPr>
          <p:cNvSpPr txBox="1">
            <a:spLocks/>
          </p:cNvSpPr>
          <p:nvPr/>
        </p:nvSpPr>
        <p:spPr>
          <a:xfrm>
            <a:off x="478299" y="2919259"/>
            <a:ext cx="7272998" cy="123110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US" sz="2000" b="0" dirty="0"/>
              <a:t>Arterial stiffness is the reduced elasticity and increased rigidity of artery walls. This increases the speed of pressure waves, which raises cardiac workload and damages microcirculation in organs. </a:t>
            </a:r>
          </a:p>
          <a:p>
            <a:pPr marL="342900" indent="-342900" algn="l">
              <a:buFontTx/>
              <a:buChar char="-"/>
            </a:pPr>
            <a:endParaRPr lang="en-US" sz="2000" b="0" dirty="0"/>
          </a:p>
        </p:txBody>
      </p:sp>
      <p:pic>
        <p:nvPicPr>
          <p:cNvPr id="1030" name="Picture 6" descr="Frontiers | Arterial Stiffness and Hypertension in the Elderly">
            <a:extLst>
              <a:ext uri="{FF2B5EF4-FFF2-40B4-BE49-F238E27FC236}">
                <a16:creationId xmlns:a16="http://schemas.microsoft.com/office/drawing/2014/main" id="{77798F29-E1FD-568B-1B57-2218C5C6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004" y="999100"/>
            <a:ext cx="3638062" cy="242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1D258059-7E5B-1789-D9E6-18B1CC6AE586}"/>
              </a:ext>
            </a:extLst>
          </p:cNvPr>
          <p:cNvSpPr txBox="1">
            <a:spLocks/>
          </p:cNvSpPr>
          <p:nvPr/>
        </p:nvSpPr>
        <p:spPr>
          <a:xfrm>
            <a:off x="478299" y="4355550"/>
            <a:ext cx="7272998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Over time, this contributes to hypertension, left ventricular hypertrophy, stroke, kidney disease, and other cardiovascular complications.</a:t>
            </a:r>
          </a:p>
        </p:txBody>
      </p:sp>
      <p:pic>
        <p:nvPicPr>
          <p:cNvPr id="1034" name="Picture 10" descr="Hypertension: Causes, Symptoms &amp; Treatment - Public Health Notes">
            <a:extLst>
              <a:ext uri="{FF2B5EF4-FFF2-40B4-BE49-F238E27FC236}">
                <a16:creationId xmlns:a16="http://schemas.microsoft.com/office/drawing/2014/main" id="{A974BADC-63CB-9BAF-B1E1-377EC4746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566" y="3670133"/>
            <a:ext cx="3275135" cy="274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63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DB47-201B-7AF1-F65A-C7151F9B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875D11E-6927-9BE7-FF84-D4A827AE3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00" y="570248"/>
            <a:ext cx="2602525" cy="492443"/>
          </a:xfrm>
        </p:spPr>
        <p:txBody>
          <a:bodyPr/>
          <a:lstStyle/>
          <a:p>
            <a:pPr algn="l"/>
            <a:r>
              <a:rPr lang="en-US" dirty="0"/>
              <a:t>Motivation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D165C3FE-A5B4-59C1-9466-83697AB6F47E}"/>
              </a:ext>
            </a:extLst>
          </p:cNvPr>
          <p:cNvSpPr txBox="1">
            <a:spLocks/>
          </p:cNvSpPr>
          <p:nvPr/>
        </p:nvSpPr>
        <p:spPr>
          <a:xfrm>
            <a:off x="478300" y="1317372"/>
            <a:ext cx="5106574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Carotid–femoral Pulse Wave Velocity (</a:t>
            </a:r>
            <a:r>
              <a:rPr lang="en-US" sz="2000" b="0" dirty="0" err="1"/>
              <a:t>cfPWV</a:t>
            </a:r>
            <a:r>
              <a:rPr lang="en-US" sz="2000" b="0" dirty="0"/>
              <a:t>) is the gold-standard measure of arterial stiffness</a:t>
            </a:r>
          </a:p>
          <a:p>
            <a:pPr marL="342900" indent="-342900" algn="l">
              <a:buFontTx/>
              <a:buChar char="-"/>
            </a:pPr>
            <a:endParaRPr lang="en-US" sz="2000" b="0" dirty="0"/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58073473-AA40-9449-D82B-B910BC7AEAD7}"/>
              </a:ext>
            </a:extLst>
          </p:cNvPr>
          <p:cNvSpPr txBox="1">
            <a:spLocks/>
          </p:cNvSpPr>
          <p:nvPr/>
        </p:nvSpPr>
        <p:spPr>
          <a:xfrm>
            <a:off x="7376163" y="1317372"/>
            <a:ext cx="4337537" cy="15388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Expensive (specialized devices)</a:t>
            </a:r>
          </a:p>
          <a:p>
            <a:pPr algn="l"/>
            <a:endParaRPr lang="en-US" sz="2000" b="0" dirty="0"/>
          </a:p>
          <a:p>
            <a:pPr algn="l"/>
            <a:r>
              <a:rPr lang="en-US" sz="2000" b="0" dirty="0"/>
              <a:t>Inconvenient (clinical setting) </a:t>
            </a:r>
          </a:p>
          <a:p>
            <a:pPr algn="l"/>
            <a:endParaRPr lang="en-US" sz="2000" b="0" dirty="0"/>
          </a:p>
          <a:p>
            <a:pPr algn="l"/>
            <a:r>
              <a:rPr lang="en-US" sz="2000" b="0" dirty="0"/>
              <a:t>Not wearable-friendly</a:t>
            </a:r>
          </a:p>
        </p:txBody>
      </p:sp>
      <p:pic>
        <p:nvPicPr>
          <p:cNvPr id="2053" name="Picture 5" descr="Carotid-femoral pulse wave velocity (cfPWV) and central arterial... |  Download Scientific Diagram">
            <a:extLst>
              <a:ext uri="{FF2B5EF4-FFF2-40B4-BE49-F238E27FC236}">
                <a16:creationId xmlns:a16="http://schemas.microsoft.com/office/drawing/2014/main" id="{1212C661-AA6B-FDCB-38B9-773FB135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0" y="2086813"/>
            <a:ext cx="4890575" cy="388906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4A6ABE8-82DC-4DE7-9614-90C1DED6CAE6}"/>
              </a:ext>
            </a:extLst>
          </p:cNvPr>
          <p:cNvSpPr txBox="1">
            <a:spLocks/>
          </p:cNvSpPr>
          <p:nvPr/>
        </p:nvSpPr>
        <p:spPr>
          <a:xfrm>
            <a:off x="6508363" y="3887446"/>
            <a:ext cx="2063259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Wrist PPG signal from PPG sensor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CED9F2C4-FACE-1716-903C-2152BE87EAD8}"/>
              </a:ext>
            </a:extLst>
          </p:cNvPr>
          <p:cNvSpPr txBox="1">
            <a:spLocks/>
          </p:cNvSpPr>
          <p:nvPr/>
        </p:nvSpPr>
        <p:spPr>
          <a:xfrm>
            <a:off x="9312817" y="3887446"/>
            <a:ext cx="2400883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Wrist Area signal from </a:t>
            </a:r>
            <a:r>
              <a:rPr lang="en-US" sz="2000" b="0" dirty="0" err="1"/>
              <a:t>mmWave</a:t>
            </a:r>
            <a:r>
              <a:rPr lang="en-US" sz="2000" b="0" dirty="0"/>
              <a:t> sensor</a:t>
            </a:r>
          </a:p>
        </p:txBody>
      </p:sp>
      <p:pic>
        <p:nvPicPr>
          <p:cNvPr id="2059" name="Picture 11" descr="Measuring HRV: Optical (PPG) vs ECG/EKG">
            <a:extLst>
              <a:ext uri="{FF2B5EF4-FFF2-40B4-BE49-F238E27FC236}">
                <a16:creationId xmlns:a16="http://schemas.microsoft.com/office/drawing/2014/main" id="{2E9B184D-FD37-2F62-4E2A-FAFF69549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163" y="4783645"/>
            <a:ext cx="2750478" cy="183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CB78EB-D677-6DD8-A873-183359A62129}"/>
              </a:ext>
            </a:extLst>
          </p:cNvPr>
          <p:cNvCxnSpPr/>
          <p:nvPr/>
        </p:nvCxnSpPr>
        <p:spPr>
          <a:xfrm>
            <a:off x="5816600" y="1536700"/>
            <a:ext cx="1054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111606-D3F5-32A6-FD38-B41CB9F140F7}"/>
              </a:ext>
            </a:extLst>
          </p:cNvPr>
          <p:cNvCxnSpPr/>
          <p:nvPr/>
        </p:nvCxnSpPr>
        <p:spPr>
          <a:xfrm flipH="1">
            <a:off x="7376163" y="3035300"/>
            <a:ext cx="1195459" cy="571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9B8B43-0B2E-108F-48A8-717B92E7DE5B}"/>
              </a:ext>
            </a:extLst>
          </p:cNvPr>
          <p:cNvCxnSpPr>
            <a:cxnSpLocks/>
          </p:cNvCxnSpPr>
          <p:nvPr/>
        </p:nvCxnSpPr>
        <p:spPr>
          <a:xfrm>
            <a:off x="8571622" y="3035300"/>
            <a:ext cx="1385178" cy="571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5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1CE2-B2CD-A852-970B-273754F6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6C2B16C-9023-1AB7-A4CA-E67B3D005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232" y="221128"/>
            <a:ext cx="8651632" cy="984885"/>
          </a:xfrm>
        </p:spPr>
        <p:txBody>
          <a:bodyPr/>
          <a:lstStyle/>
          <a:p>
            <a:pPr algn="l"/>
            <a:r>
              <a:rPr lang="en-US" dirty="0"/>
              <a:t>Commercial devices with same technology</a:t>
            </a:r>
          </a:p>
        </p:txBody>
      </p:sp>
      <p:pic>
        <p:nvPicPr>
          <p:cNvPr id="3" name="Picture 2" descr="A screen shot of a device&#10;&#10;AI-generated content may be incorrect.">
            <a:extLst>
              <a:ext uri="{FF2B5EF4-FFF2-40B4-BE49-F238E27FC236}">
                <a16:creationId xmlns:a16="http://schemas.microsoft.com/office/drawing/2014/main" id="{361FBE2D-A56A-02D9-57F2-2390C7CFF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500" y="1466153"/>
            <a:ext cx="5356443" cy="3925693"/>
          </a:xfrm>
          <a:prstGeom prst="rect">
            <a:avLst/>
          </a:prstGeom>
        </p:spPr>
      </p:pic>
      <p:sp>
        <p:nvSpPr>
          <p:cNvPr id="4" name="Title 7">
            <a:extLst>
              <a:ext uri="{FF2B5EF4-FFF2-40B4-BE49-F238E27FC236}">
                <a16:creationId xmlns:a16="http://schemas.microsoft.com/office/drawing/2014/main" id="{E510AA5E-FCF9-77F9-3F90-5B96D417EB9E}"/>
              </a:ext>
            </a:extLst>
          </p:cNvPr>
          <p:cNvSpPr txBox="1">
            <a:spLocks/>
          </p:cNvSpPr>
          <p:nvPr/>
        </p:nvSpPr>
        <p:spPr>
          <a:xfrm>
            <a:off x="8023129" y="5651986"/>
            <a:ext cx="2832584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i="1" dirty="0"/>
              <a:t>Apple Watch series</a:t>
            </a: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CF21AC34-EFAC-5C86-B90E-22760D68F043}"/>
              </a:ext>
            </a:extLst>
          </p:cNvPr>
          <p:cNvSpPr txBox="1">
            <a:spLocks/>
          </p:cNvSpPr>
          <p:nvPr/>
        </p:nvSpPr>
        <p:spPr>
          <a:xfrm>
            <a:off x="1666877" y="5651986"/>
            <a:ext cx="2832584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i="1" dirty="0"/>
              <a:t>Samsung Galaxy Watch</a:t>
            </a:r>
          </a:p>
        </p:txBody>
      </p:sp>
      <p:pic>
        <p:nvPicPr>
          <p:cNvPr id="11" name="Picture 10" descr="A smart watch with a screen showing the temperature&#10;&#10;AI-generated content may be incorrect.">
            <a:extLst>
              <a:ext uri="{FF2B5EF4-FFF2-40B4-BE49-F238E27FC236}">
                <a16:creationId xmlns:a16="http://schemas.microsoft.com/office/drawing/2014/main" id="{696902EA-9FAC-C5A3-9A30-1833C4693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97" y="1206013"/>
            <a:ext cx="5278404" cy="41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1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E345-34EB-2746-13AF-4BBEF71B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53AE2-A8F6-0887-9139-8F388300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5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DECCA4-B525-8D3C-E6C7-2CA34243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6" y="60132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Objective of The Project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D1F6E5F-A962-74F4-7302-49E7A500DC01}"/>
              </a:ext>
            </a:extLst>
          </p:cNvPr>
          <p:cNvSpPr txBox="1">
            <a:spLocks/>
          </p:cNvSpPr>
          <p:nvPr/>
        </p:nvSpPr>
        <p:spPr>
          <a:xfrm>
            <a:off x="410316" y="1281301"/>
            <a:ext cx="7777082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dirty="0"/>
              <a:t>Develop a robust foundation for transferring knowledge from </a:t>
            </a:r>
            <a:r>
              <a:rPr lang="en-US" sz="2000" dirty="0"/>
              <a:t>synthetic</a:t>
            </a:r>
            <a:r>
              <a:rPr lang="en-US" sz="2000" b="0" dirty="0"/>
              <a:t> </a:t>
            </a:r>
            <a:r>
              <a:rPr lang="en-US" sz="2000" dirty="0"/>
              <a:t>waveform</a:t>
            </a:r>
            <a:r>
              <a:rPr lang="en-US" sz="2000" b="0" dirty="0"/>
              <a:t> data to real wearable device data for non-invasive cardiovascular health monitoring.</a:t>
            </a:r>
            <a:endParaRPr lang="en-GB" sz="2000" b="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A6DE885-528D-9BA0-B376-71F10FCC98A0}"/>
              </a:ext>
            </a:extLst>
          </p:cNvPr>
          <p:cNvSpPr txBox="1">
            <a:spLocks/>
          </p:cNvSpPr>
          <p:nvPr/>
        </p:nvSpPr>
        <p:spPr>
          <a:xfrm>
            <a:off x="410315" y="3388763"/>
            <a:ext cx="7425390" cy="21544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/>
              <a:t>Based on Silico Database (Charlton et al., 2019)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/>
              <a:t>4,374 virtual subjects with simulated P (pressure), U (flow), </a:t>
            </a:r>
            <a:r>
              <a:rPr lang="en-US" sz="2000" dirty="0"/>
              <a:t>A (area)</a:t>
            </a:r>
            <a:r>
              <a:rPr lang="en-US" sz="2000" b="0" dirty="0"/>
              <a:t>, and </a:t>
            </a:r>
            <a:r>
              <a:rPr lang="en-US" sz="2000" dirty="0"/>
              <a:t>PPG</a:t>
            </a:r>
            <a:r>
              <a:rPr lang="en-US" sz="2000" b="0" dirty="0"/>
              <a:t> waveforms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/>
              <a:t>Each subject has simulated cardiovascular properties and hemodynamic parameters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/>
              <a:t>Multi-site measurements including radial artery (</a:t>
            </a:r>
            <a:r>
              <a:rPr lang="en-US" sz="2000" dirty="0"/>
              <a:t>wrist</a:t>
            </a:r>
            <a:r>
              <a:rPr lang="en-US" sz="2000" b="0" dirty="0"/>
              <a:t> focus)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/>
              <a:t>Target variable: </a:t>
            </a:r>
            <a:r>
              <a:rPr lang="en-US" sz="2000" dirty="0"/>
              <a:t>Carotid-femoral</a:t>
            </a:r>
            <a:r>
              <a:rPr lang="en-US" sz="2000" b="0" dirty="0"/>
              <a:t> PWV for arterial stiffness</a:t>
            </a:r>
            <a:endParaRPr lang="en-GB" sz="2000" b="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E50262-0B57-107C-1A04-1CCE16EE8599}"/>
              </a:ext>
            </a:extLst>
          </p:cNvPr>
          <p:cNvSpPr txBox="1">
            <a:spLocks/>
          </p:cNvSpPr>
          <p:nvPr/>
        </p:nvSpPr>
        <p:spPr>
          <a:xfrm>
            <a:off x="410315" y="2683450"/>
            <a:ext cx="11371365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noProof="1"/>
              <a:t>Dataset</a:t>
            </a:r>
          </a:p>
        </p:txBody>
      </p:sp>
      <p:pic>
        <p:nvPicPr>
          <p:cNvPr id="9" name="Picture 8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338174CC-8E6B-2020-D9D9-D87F4C36D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939" y="761550"/>
            <a:ext cx="3376245" cy="533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2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A062-FA9B-1530-CA11-A4728486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3B7F8-E20F-68BE-0FBA-4CBDA555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6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C0A3F9-D44D-4BA4-76A6-C0929CB90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843372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Workflow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A7BB15C-C8E3-314B-7D56-E7013DD4099B}"/>
              </a:ext>
            </a:extLst>
          </p:cNvPr>
          <p:cNvSpPr txBox="1">
            <a:spLocks/>
          </p:cNvSpPr>
          <p:nvPr/>
        </p:nvSpPr>
        <p:spPr>
          <a:xfrm>
            <a:off x="1034947" y="2220667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Data Visualization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C01173C-810B-A697-7E99-6D6DAE660DC7}"/>
              </a:ext>
            </a:extLst>
          </p:cNvPr>
          <p:cNvSpPr txBox="1">
            <a:spLocks/>
          </p:cNvSpPr>
          <p:nvPr/>
        </p:nvSpPr>
        <p:spPr>
          <a:xfrm>
            <a:off x="4225968" y="1725884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Signal Processing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92FD8FD-738A-A365-4748-98331594DC7D}"/>
              </a:ext>
            </a:extLst>
          </p:cNvPr>
          <p:cNvSpPr txBox="1">
            <a:spLocks/>
          </p:cNvSpPr>
          <p:nvPr/>
        </p:nvSpPr>
        <p:spPr>
          <a:xfrm>
            <a:off x="7295073" y="1469828"/>
            <a:ext cx="2982357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Classical Machine Learning (Feature-based)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D4F268E-2D57-0C17-99E6-1B5FC24C4D21}"/>
              </a:ext>
            </a:extLst>
          </p:cNvPr>
          <p:cNvSpPr txBox="1">
            <a:spLocks/>
          </p:cNvSpPr>
          <p:nvPr/>
        </p:nvSpPr>
        <p:spPr>
          <a:xfrm>
            <a:off x="4225968" y="3116241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Data Augmentation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FFB233E-293C-D0A7-E5CB-64CEE84DB299}"/>
              </a:ext>
            </a:extLst>
          </p:cNvPr>
          <p:cNvSpPr txBox="1">
            <a:spLocks/>
          </p:cNvSpPr>
          <p:nvPr/>
        </p:nvSpPr>
        <p:spPr>
          <a:xfrm>
            <a:off x="7619511" y="2956611"/>
            <a:ext cx="2161741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Deep Learning (Time-series-based)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96C87143-4C9F-197E-8BB7-ADE9CC122A46}"/>
              </a:ext>
            </a:extLst>
          </p:cNvPr>
          <p:cNvSpPr txBox="1">
            <a:spLocks/>
          </p:cNvSpPr>
          <p:nvPr/>
        </p:nvSpPr>
        <p:spPr>
          <a:xfrm>
            <a:off x="6387709" y="4822159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Benchmark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5CCF73F1-0FC3-E066-3024-124D6F0DD6FE}"/>
              </a:ext>
            </a:extLst>
          </p:cNvPr>
          <p:cNvSpPr txBox="1">
            <a:spLocks/>
          </p:cNvSpPr>
          <p:nvPr/>
        </p:nvSpPr>
        <p:spPr>
          <a:xfrm>
            <a:off x="8865962" y="4784593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Interpretability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B7AE2-379C-21EF-3AF4-88E094AF73ED}"/>
              </a:ext>
            </a:extLst>
          </p:cNvPr>
          <p:cNvSpPr/>
          <p:nvPr/>
        </p:nvSpPr>
        <p:spPr>
          <a:xfrm>
            <a:off x="931789" y="2051838"/>
            <a:ext cx="2124222" cy="710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BCAA9-578A-784F-E058-B2820F80C875}"/>
              </a:ext>
            </a:extLst>
          </p:cNvPr>
          <p:cNvSpPr/>
          <p:nvPr/>
        </p:nvSpPr>
        <p:spPr>
          <a:xfrm>
            <a:off x="4153287" y="1538878"/>
            <a:ext cx="2124222" cy="710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35B37-6F9F-1879-DF9C-743AA259F6E1}"/>
              </a:ext>
            </a:extLst>
          </p:cNvPr>
          <p:cNvSpPr/>
          <p:nvPr/>
        </p:nvSpPr>
        <p:spPr>
          <a:xfrm>
            <a:off x="4153287" y="2973836"/>
            <a:ext cx="2124222" cy="710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DC2568-512B-37C3-AD57-1CE90CFE96F1}"/>
              </a:ext>
            </a:extLst>
          </p:cNvPr>
          <p:cNvSpPr/>
          <p:nvPr/>
        </p:nvSpPr>
        <p:spPr>
          <a:xfrm>
            <a:off x="7215363" y="1271115"/>
            <a:ext cx="3141779" cy="938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ED5C13-BD0A-0274-D667-896B3E4227A9}"/>
              </a:ext>
            </a:extLst>
          </p:cNvPr>
          <p:cNvSpPr/>
          <p:nvPr/>
        </p:nvSpPr>
        <p:spPr>
          <a:xfrm>
            <a:off x="7215363" y="2803388"/>
            <a:ext cx="2970037" cy="921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56A176-76F0-4D95-2614-A14685B81108}"/>
              </a:ext>
            </a:extLst>
          </p:cNvPr>
          <p:cNvSpPr/>
          <p:nvPr/>
        </p:nvSpPr>
        <p:spPr>
          <a:xfrm>
            <a:off x="6475632" y="4606981"/>
            <a:ext cx="1985894" cy="738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8DF08F-F672-6201-DB27-3EC4D5886EB5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3056011" y="1893923"/>
            <a:ext cx="1097276" cy="512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2854A9-4696-E527-FA6D-27AB207D688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3056011" y="2406883"/>
            <a:ext cx="1097276" cy="921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842F24-9942-068C-1F41-9C894890825F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6277509" y="1740544"/>
            <a:ext cx="937854" cy="153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B91FE9-BA2A-E00A-6215-38A9BABCCE3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277509" y="3264387"/>
            <a:ext cx="937854" cy="644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BCC48F-2E01-002D-5625-037021AAE5C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7468579" y="3725386"/>
            <a:ext cx="1231803" cy="8815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425F41E-4DED-6716-255E-801B74159C74}"/>
              </a:ext>
            </a:extLst>
          </p:cNvPr>
          <p:cNvSpPr/>
          <p:nvPr/>
        </p:nvSpPr>
        <p:spPr>
          <a:xfrm>
            <a:off x="8905828" y="4606980"/>
            <a:ext cx="1985894" cy="738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B5BBDC-0396-BB28-C03B-84F48111211D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>
            <a:off x="8700382" y="3725386"/>
            <a:ext cx="1198393" cy="881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AF407D1-9CE0-5977-CE78-C3DB19397673}"/>
              </a:ext>
            </a:extLst>
          </p:cNvPr>
          <p:cNvSpPr/>
          <p:nvPr/>
        </p:nvSpPr>
        <p:spPr>
          <a:xfrm>
            <a:off x="7707434" y="5731193"/>
            <a:ext cx="1985894" cy="578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51FC4C-2D08-47CD-37D6-CBAB5B5A31D6}"/>
              </a:ext>
            </a:extLst>
          </p:cNvPr>
          <p:cNvCxnSpPr>
            <a:cxnSpLocks/>
            <a:stCxn id="16" idx="2"/>
            <a:endCxn id="42" idx="0"/>
          </p:cNvCxnSpPr>
          <p:nvPr/>
        </p:nvCxnSpPr>
        <p:spPr>
          <a:xfrm>
            <a:off x="7468579" y="5345112"/>
            <a:ext cx="1231802" cy="3860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4513F1-5CC5-5C59-6BCE-37F49B9F5EDB}"/>
              </a:ext>
            </a:extLst>
          </p:cNvPr>
          <p:cNvCxnSpPr>
            <a:cxnSpLocks/>
            <a:stCxn id="32" idx="2"/>
            <a:endCxn id="42" idx="0"/>
          </p:cNvCxnSpPr>
          <p:nvPr/>
        </p:nvCxnSpPr>
        <p:spPr>
          <a:xfrm flipH="1">
            <a:off x="8700381" y="5345111"/>
            <a:ext cx="1198394" cy="386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4">
            <a:extLst>
              <a:ext uri="{FF2B5EF4-FFF2-40B4-BE49-F238E27FC236}">
                <a16:creationId xmlns:a16="http://schemas.microsoft.com/office/drawing/2014/main" id="{2C765547-BEB9-EAFC-B68A-A3A73D0D304F}"/>
              </a:ext>
            </a:extLst>
          </p:cNvPr>
          <p:cNvSpPr txBox="1">
            <a:spLocks/>
          </p:cNvSpPr>
          <p:nvPr/>
        </p:nvSpPr>
        <p:spPr>
          <a:xfrm>
            <a:off x="7619510" y="5885080"/>
            <a:ext cx="2161741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Final Model</a:t>
            </a:r>
          </a:p>
        </p:txBody>
      </p:sp>
    </p:spTree>
    <p:extLst>
      <p:ext uri="{BB962C8B-B14F-4D97-AF65-F5344CB8AC3E}">
        <p14:creationId xmlns:p14="http://schemas.microsoft.com/office/powerpoint/2010/main" val="78772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2" grpId="0" animBg="1"/>
      <p:bldP spid="42" grpId="0" animBg="1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8EB0-DEC5-AC6D-21F7-CB51DB43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EAA3E-B442-D9B2-682C-5CA7CAC1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7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F80705-83AB-F7B8-57C7-672C5D375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7" y="49791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Data Visualization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8B45B69-998D-1331-512E-CABB028A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78" y="1362905"/>
            <a:ext cx="5882495" cy="45738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0675E8E-A590-D17A-3674-C3B0C40D7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73" y="1362905"/>
            <a:ext cx="5725404" cy="45738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12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0151-46CA-2507-28A2-51E09988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B4B83-0848-F3DC-5E56-9D1A157A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8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1D0A12-6150-46CA-768B-902961BBA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6" y="378709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Data Visualization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83EEE08-3B40-D19F-0895-54D7B960EB7F}"/>
              </a:ext>
            </a:extLst>
          </p:cNvPr>
          <p:cNvSpPr txBox="1">
            <a:spLocks/>
          </p:cNvSpPr>
          <p:nvPr/>
        </p:nvSpPr>
        <p:spPr>
          <a:xfrm>
            <a:off x="3770139" y="6241654"/>
            <a:ext cx="6396114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600" b="0" i="1" dirty="0"/>
              <a:t>Box plot of Pulse Transit Time (PTT) correlation with ages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63F94E-1AEE-461F-0E4F-7791C5135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" r="4600"/>
          <a:stretch>
            <a:fillRect/>
          </a:stretch>
        </p:blipFill>
        <p:spPr bwMode="auto">
          <a:xfrm>
            <a:off x="2373922" y="1175019"/>
            <a:ext cx="7472291" cy="500898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66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42DB-EF79-615D-E303-5AB86872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D936-BA34-7735-1257-40958D8F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9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4946DD-12A0-3151-3FC5-DA2B6C3CD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7" y="49791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Signal Processing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87757F8-13F8-3E21-54F2-D54A06951AE7}"/>
              </a:ext>
            </a:extLst>
          </p:cNvPr>
          <p:cNvSpPr txBox="1">
            <a:spLocks/>
          </p:cNvSpPr>
          <p:nvPr/>
        </p:nvSpPr>
        <p:spPr>
          <a:xfrm>
            <a:off x="2849290" y="6397041"/>
            <a:ext cx="709481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Plots from built-in signal processing tools from Peter H Charlton </a:t>
            </a:r>
          </a:p>
          <a:p>
            <a:endParaRPr lang="en-GB" sz="1600" b="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7E86E2-72DF-23DA-5B7E-D2E26559A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468" y="1181673"/>
            <a:ext cx="8827174" cy="50082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3743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8FE34-3320-583B-B46D-4484E1B6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4E995-B2E6-53F4-7DB2-DD60ED2A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10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4F3323-C241-0838-36AD-4D85AE426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7" y="49791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Feature-based Machine Learning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DDE3F5E3-D93E-1374-9ED3-A702F0784E5A}"/>
              </a:ext>
            </a:extLst>
          </p:cNvPr>
          <p:cNvSpPr txBox="1">
            <a:spLocks/>
          </p:cNvSpPr>
          <p:nvPr/>
        </p:nvSpPr>
        <p:spPr>
          <a:xfrm>
            <a:off x="2853393" y="6236979"/>
            <a:ext cx="6485210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Tree regression with classical PPG feature-based , R^2 = 0.92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1650F7-8211-DB5B-99F5-7B8DB1476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126" y="1272678"/>
            <a:ext cx="7889745" cy="47543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10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6B8C4-7E33-A664-9B1B-6E893AF2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C7E10-2898-D352-49EC-26E29395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11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12616F-E9B1-F3DA-84E2-DFB6CC081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532375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Data Augmentation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A9A4200E-57F4-3DA0-EB69-4D8D5376F23C}"/>
              </a:ext>
            </a:extLst>
          </p:cNvPr>
          <p:cNvSpPr txBox="1">
            <a:spLocks/>
          </p:cNvSpPr>
          <p:nvPr/>
        </p:nvSpPr>
        <p:spPr>
          <a:xfrm>
            <a:off x="537317" y="1697884"/>
            <a:ext cx="3425083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/>
              <a:t>Methods: </a:t>
            </a:r>
          </a:p>
          <a:p>
            <a:pPr algn="l"/>
            <a:r>
              <a:rPr lang="en-GB" sz="2000" b="0" dirty="0"/>
              <a:t>Adding Gaussian noise, baseline drift, motion artifacts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4FCD5EC8-0C91-ACD7-3E6A-C34CE6F72DF9}"/>
              </a:ext>
            </a:extLst>
          </p:cNvPr>
          <p:cNvSpPr txBox="1">
            <a:spLocks/>
          </p:cNvSpPr>
          <p:nvPr/>
        </p:nvSpPr>
        <p:spPr>
          <a:xfrm>
            <a:off x="537317" y="3109442"/>
            <a:ext cx="3780683" cy="21544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/>
              <a:t>Benefits</a:t>
            </a:r>
            <a:r>
              <a:rPr lang="en-GB" sz="2000" b="0" dirty="0"/>
              <a:t>: </a:t>
            </a:r>
          </a:p>
          <a:p>
            <a:pPr algn="l"/>
            <a:r>
              <a:rPr lang="en-GB" sz="2000" b="0" dirty="0"/>
              <a:t>  - Add </a:t>
            </a:r>
            <a:r>
              <a:rPr lang="en-GB" sz="2000" dirty="0"/>
              <a:t>generalization</a:t>
            </a:r>
            <a:r>
              <a:rPr lang="en-GB" sz="2000" b="0" dirty="0"/>
              <a:t> to the models, increase </a:t>
            </a:r>
            <a:r>
              <a:rPr lang="en-GB" sz="2000" dirty="0"/>
              <a:t>accuracy</a:t>
            </a:r>
            <a:r>
              <a:rPr lang="en-GB" sz="2000" b="0" dirty="0"/>
              <a:t>, robustness.</a:t>
            </a:r>
          </a:p>
          <a:p>
            <a:pPr algn="l"/>
            <a:r>
              <a:rPr lang="en-GB" sz="2000" b="0" dirty="0"/>
              <a:t>  - Shape model’s </a:t>
            </a:r>
            <a:r>
              <a:rPr lang="en-GB" sz="2000" dirty="0"/>
              <a:t>attention</a:t>
            </a:r>
            <a:r>
              <a:rPr lang="en-GB" sz="2000" b="0" dirty="0"/>
              <a:t> to more important parts of the waveform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1EA0091-DD5F-08ED-90B7-DCB85BED2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" r="6900"/>
          <a:stretch>
            <a:fillRect/>
          </a:stretch>
        </p:blipFill>
        <p:spPr bwMode="auto">
          <a:xfrm>
            <a:off x="4097710" y="1209655"/>
            <a:ext cx="7552583" cy="491482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81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AC96F-E11D-5311-AE3F-0D3A7F82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C76BF-004F-DF96-9B39-E8C8E8AE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12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2732D2-8BB5-539F-432C-648FE92E3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317" y="49791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Deep Learning Models</a:t>
            </a:r>
          </a:p>
        </p:txBody>
      </p:sp>
      <p:pic>
        <p:nvPicPr>
          <p:cNvPr id="11" name="Picture 10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5A4D97FF-AD84-B03C-53C3-5999E27D7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1327013"/>
            <a:ext cx="1460500" cy="4328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diagram of a diagram&#10;&#10;AI-generated content may be incorrect.">
            <a:extLst>
              <a:ext uri="{FF2B5EF4-FFF2-40B4-BE49-F238E27FC236}">
                <a16:creationId xmlns:a16="http://schemas.microsoft.com/office/drawing/2014/main" id="{04533E0F-1655-617C-6E73-DB44B48D35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1327013"/>
            <a:ext cx="1460500" cy="4328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 descr="A diagram of a flowchart&#10;&#10;AI-generated content may be incorrect.">
            <a:extLst>
              <a:ext uri="{FF2B5EF4-FFF2-40B4-BE49-F238E27FC236}">
                <a16:creationId xmlns:a16="http://schemas.microsoft.com/office/drawing/2014/main" id="{3EE4B5FD-A393-9B98-F89F-D44BC45F0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900" y="1327013"/>
            <a:ext cx="1752600" cy="4328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itle 4">
            <a:extLst>
              <a:ext uri="{FF2B5EF4-FFF2-40B4-BE49-F238E27FC236}">
                <a16:creationId xmlns:a16="http://schemas.microsoft.com/office/drawing/2014/main" id="{1444DA34-20A3-F88D-F7D0-1AC23A1EB147}"/>
              </a:ext>
            </a:extLst>
          </p:cNvPr>
          <p:cNvSpPr txBox="1">
            <a:spLocks/>
          </p:cNvSpPr>
          <p:nvPr/>
        </p:nvSpPr>
        <p:spPr>
          <a:xfrm>
            <a:off x="1433046" y="5821772"/>
            <a:ext cx="1845607" cy="7386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CNN</a:t>
            </a:r>
          </a:p>
          <a:p>
            <a:r>
              <a:rPr lang="en-GB" sz="1600" b="0" i="1" dirty="0"/>
              <a:t>(Convolutional Neural Network) 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989CCEB8-9745-98AD-44AB-748F0BB9687E}"/>
              </a:ext>
            </a:extLst>
          </p:cNvPr>
          <p:cNvSpPr txBox="1">
            <a:spLocks/>
          </p:cNvSpPr>
          <p:nvPr/>
        </p:nvSpPr>
        <p:spPr>
          <a:xfrm>
            <a:off x="4866248" y="5888811"/>
            <a:ext cx="2078504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GRU</a:t>
            </a:r>
          </a:p>
          <a:p>
            <a:r>
              <a:rPr lang="en-GB" sz="1600" b="0" i="1" dirty="0"/>
              <a:t>(Gated Recurrent Unit)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8269B094-3784-2528-3355-E0B7E82B2C8C}"/>
              </a:ext>
            </a:extLst>
          </p:cNvPr>
          <p:cNvSpPr txBox="1">
            <a:spLocks/>
          </p:cNvSpPr>
          <p:nvPr/>
        </p:nvSpPr>
        <p:spPr>
          <a:xfrm>
            <a:off x="8348196" y="5801544"/>
            <a:ext cx="2506007" cy="7386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TCN</a:t>
            </a:r>
          </a:p>
          <a:p>
            <a:r>
              <a:rPr lang="en-GB" sz="1600" b="0" i="1" dirty="0"/>
              <a:t>(Temporal Convolutional Network) </a:t>
            </a:r>
          </a:p>
        </p:txBody>
      </p:sp>
    </p:spTree>
    <p:extLst>
      <p:ext uri="{BB962C8B-B14F-4D97-AF65-F5344CB8AC3E}">
        <p14:creationId xmlns:p14="http://schemas.microsoft.com/office/powerpoint/2010/main" val="196163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0853-5A12-A327-94E3-1531E899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D8490-2E7E-BC67-6AE9-9B4EC760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13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420309-701A-D00A-C868-3B63ECA7D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907" y="497910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Training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76C8FBE-7058-BDB2-F27D-12F5FA7ED47E}"/>
              </a:ext>
            </a:extLst>
          </p:cNvPr>
          <p:cNvSpPr txBox="1">
            <a:spLocks/>
          </p:cNvSpPr>
          <p:nvPr/>
        </p:nvSpPr>
        <p:spPr>
          <a:xfrm>
            <a:off x="410317" y="1551235"/>
            <a:ext cx="1405495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Clean PPG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8B36650-2533-FBA5-3F15-B1AD6D2C4C61}"/>
              </a:ext>
            </a:extLst>
          </p:cNvPr>
          <p:cNvSpPr txBox="1">
            <a:spLocks/>
          </p:cNvSpPr>
          <p:nvPr/>
        </p:nvSpPr>
        <p:spPr>
          <a:xfrm>
            <a:off x="3737715" y="1436934"/>
            <a:ext cx="1685184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Clean </a:t>
            </a:r>
          </a:p>
          <a:p>
            <a:r>
              <a:rPr lang="en-GB" sz="2000" b="0" dirty="0"/>
              <a:t>(PPG + Area)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579A3A0-FFE4-0D72-A903-BB0FA00DB712}"/>
              </a:ext>
            </a:extLst>
          </p:cNvPr>
          <p:cNvSpPr txBox="1">
            <a:spLocks/>
          </p:cNvSpPr>
          <p:nvPr/>
        </p:nvSpPr>
        <p:spPr>
          <a:xfrm>
            <a:off x="2101754" y="1551234"/>
            <a:ext cx="1350020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Clean Area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1ED4BB0-F210-A279-B0CE-75F972BBAE5E}"/>
              </a:ext>
            </a:extLst>
          </p:cNvPr>
          <p:cNvSpPr txBox="1">
            <a:spLocks/>
          </p:cNvSpPr>
          <p:nvPr/>
        </p:nvSpPr>
        <p:spPr>
          <a:xfrm>
            <a:off x="5708842" y="1532479"/>
            <a:ext cx="1973180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Augmented PPG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DF5BA52F-0014-F545-5E05-BB2F77FAF5B4}"/>
              </a:ext>
            </a:extLst>
          </p:cNvPr>
          <p:cNvSpPr txBox="1">
            <a:spLocks/>
          </p:cNvSpPr>
          <p:nvPr/>
        </p:nvSpPr>
        <p:spPr>
          <a:xfrm>
            <a:off x="8044163" y="1536147"/>
            <a:ext cx="1973180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Augmented Area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251F27C-45F0-0C7B-0F73-B4B00332CDA9}"/>
              </a:ext>
            </a:extLst>
          </p:cNvPr>
          <p:cNvSpPr txBox="1">
            <a:spLocks/>
          </p:cNvSpPr>
          <p:nvPr/>
        </p:nvSpPr>
        <p:spPr>
          <a:xfrm>
            <a:off x="10096498" y="1383747"/>
            <a:ext cx="1685184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dirty="0"/>
              <a:t>Augmented </a:t>
            </a:r>
          </a:p>
          <a:p>
            <a:r>
              <a:rPr lang="en-GB" sz="2000" b="0" dirty="0"/>
              <a:t>(PPG + Area)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F1603-E38F-BD02-AA36-155873551030}"/>
              </a:ext>
            </a:extLst>
          </p:cNvPr>
          <p:cNvSpPr/>
          <p:nvPr/>
        </p:nvSpPr>
        <p:spPr>
          <a:xfrm>
            <a:off x="271907" y="1435689"/>
            <a:ext cx="1558183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2CF90-32FE-C2FA-E383-8BDAA85F9506}"/>
              </a:ext>
            </a:extLst>
          </p:cNvPr>
          <p:cNvSpPr/>
          <p:nvPr/>
        </p:nvSpPr>
        <p:spPr>
          <a:xfrm>
            <a:off x="1954222" y="1413266"/>
            <a:ext cx="1558183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D4BFE-D4DF-40E0-825D-F7DBE0B6F942}"/>
              </a:ext>
            </a:extLst>
          </p:cNvPr>
          <p:cNvSpPr/>
          <p:nvPr/>
        </p:nvSpPr>
        <p:spPr>
          <a:xfrm>
            <a:off x="3798346" y="1424234"/>
            <a:ext cx="1558183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B06E81-AE52-7B95-D5F3-D24F8C62173E}"/>
              </a:ext>
            </a:extLst>
          </p:cNvPr>
          <p:cNvSpPr/>
          <p:nvPr/>
        </p:nvSpPr>
        <p:spPr>
          <a:xfrm>
            <a:off x="5642470" y="1397100"/>
            <a:ext cx="1973180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73A271-A97D-6627-6345-BEA1C07EFB0F}"/>
              </a:ext>
            </a:extLst>
          </p:cNvPr>
          <p:cNvSpPr/>
          <p:nvPr/>
        </p:nvSpPr>
        <p:spPr>
          <a:xfrm>
            <a:off x="7944754" y="1386774"/>
            <a:ext cx="1973180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0EB98C-B2FB-4BC2-3F8F-6CF55F7DEADF}"/>
              </a:ext>
            </a:extLst>
          </p:cNvPr>
          <p:cNvSpPr/>
          <p:nvPr/>
        </p:nvSpPr>
        <p:spPr>
          <a:xfrm>
            <a:off x="10090246" y="1388262"/>
            <a:ext cx="1685184" cy="63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DB4AE8-11CB-A5F9-4790-A05B28126C85}"/>
              </a:ext>
            </a:extLst>
          </p:cNvPr>
          <p:cNvGrpSpPr/>
          <p:nvPr/>
        </p:nvGrpSpPr>
        <p:grpSpPr>
          <a:xfrm>
            <a:off x="1830090" y="3892549"/>
            <a:ext cx="1685184" cy="517621"/>
            <a:chOff x="3204315" y="3603478"/>
            <a:chExt cx="1685184" cy="517621"/>
          </a:xfrm>
        </p:grpSpPr>
        <p:sp>
          <p:nvSpPr>
            <p:cNvPr id="10" name="Title 4">
              <a:extLst>
                <a:ext uri="{FF2B5EF4-FFF2-40B4-BE49-F238E27FC236}">
                  <a16:creationId xmlns:a16="http://schemas.microsoft.com/office/drawing/2014/main" id="{B19A8567-A869-7115-F7F9-21B32D14A2FB}"/>
                </a:ext>
              </a:extLst>
            </p:cNvPr>
            <p:cNvSpPr txBox="1">
              <a:spLocks/>
            </p:cNvSpPr>
            <p:nvPr/>
          </p:nvSpPr>
          <p:spPr>
            <a:xfrm>
              <a:off x="3204315" y="3699022"/>
              <a:ext cx="1685184" cy="30777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 spc="-50" baseline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2000" b="0" dirty="0"/>
                <a:t>CNN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C90D20-61CB-3B94-37C5-91EBF229B626}"/>
                </a:ext>
              </a:extLst>
            </p:cNvPr>
            <p:cNvSpPr/>
            <p:nvPr/>
          </p:nvSpPr>
          <p:spPr>
            <a:xfrm>
              <a:off x="3619500" y="3603478"/>
              <a:ext cx="939800" cy="5176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err="1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7C4069-A8E5-31DA-0700-A9FC87E7B893}"/>
              </a:ext>
            </a:extLst>
          </p:cNvPr>
          <p:cNvGrpSpPr/>
          <p:nvPr/>
        </p:nvGrpSpPr>
        <p:grpSpPr>
          <a:xfrm>
            <a:off x="5156997" y="3908715"/>
            <a:ext cx="1685184" cy="517621"/>
            <a:chOff x="4931992" y="3603478"/>
            <a:chExt cx="1685184" cy="517621"/>
          </a:xfrm>
        </p:grpSpPr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68BF54CF-E286-3A6C-2BC1-8E8C40D6B591}"/>
                </a:ext>
              </a:extLst>
            </p:cNvPr>
            <p:cNvSpPr txBox="1">
              <a:spLocks/>
            </p:cNvSpPr>
            <p:nvPr/>
          </p:nvSpPr>
          <p:spPr>
            <a:xfrm>
              <a:off x="4931992" y="3718021"/>
              <a:ext cx="1685184" cy="30777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 spc="-50" baseline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2000" b="0" dirty="0"/>
                <a:t>GRU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363785-8BA3-6FD2-163E-95CC60F7A98B}"/>
                </a:ext>
              </a:extLst>
            </p:cNvPr>
            <p:cNvSpPr/>
            <p:nvPr/>
          </p:nvSpPr>
          <p:spPr>
            <a:xfrm>
              <a:off x="5304684" y="3603478"/>
              <a:ext cx="939800" cy="5176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err="1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0730841-FDC5-9FB5-4245-96BD6270E3CD}"/>
              </a:ext>
            </a:extLst>
          </p:cNvPr>
          <p:cNvGrpSpPr/>
          <p:nvPr/>
        </p:nvGrpSpPr>
        <p:grpSpPr>
          <a:xfrm>
            <a:off x="8373712" y="3892549"/>
            <a:ext cx="1685184" cy="517621"/>
            <a:chOff x="6612310" y="3603478"/>
            <a:chExt cx="1685184" cy="517621"/>
          </a:xfrm>
        </p:grpSpPr>
        <p:sp>
          <p:nvSpPr>
            <p:cNvPr id="12" name="Title 4">
              <a:extLst>
                <a:ext uri="{FF2B5EF4-FFF2-40B4-BE49-F238E27FC236}">
                  <a16:creationId xmlns:a16="http://schemas.microsoft.com/office/drawing/2014/main" id="{ACA704E2-EEA7-2C33-45DA-B91C6F50B6BF}"/>
                </a:ext>
              </a:extLst>
            </p:cNvPr>
            <p:cNvSpPr txBox="1">
              <a:spLocks/>
            </p:cNvSpPr>
            <p:nvPr/>
          </p:nvSpPr>
          <p:spPr>
            <a:xfrm>
              <a:off x="6612310" y="3699022"/>
              <a:ext cx="1685184" cy="30777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 spc="-50" baseline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2000" b="0" dirty="0"/>
                <a:t>TCN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18A83A-0D51-D956-F9EF-80376115D109}"/>
                </a:ext>
              </a:extLst>
            </p:cNvPr>
            <p:cNvSpPr/>
            <p:nvPr/>
          </p:nvSpPr>
          <p:spPr>
            <a:xfrm>
              <a:off x="6985002" y="3603478"/>
              <a:ext cx="939800" cy="5176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err="1">
                <a:solidFill>
                  <a:schemeClr val="tx1"/>
                </a:solidFill>
                <a:latin typeface="+mj-lt"/>
              </a:endParaRP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C3E61F-753C-3309-D302-4ED3EEF59B1C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>
            <a:off x="1050999" y="2067610"/>
            <a:ext cx="1664176" cy="1824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992B7E-7FC0-2AFA-DE55-D21D2ED10ACB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 flipH="1">
            <a:off x="2715175" y="2045187"/>
            <a:ext cx="18139" cy="1847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4A3609-5FF9-CB4E-3E5C-FD8E471D049B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 flipH="1">
            <a:off x="2715175" y="2052487"/>
            <a:ext cx="1865132" cy="18400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A26948-8892-F8CB-5C56-812B7F8497DA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2715175" y="2029021"/>
            <a:ext cx="3913885" cy="1863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ED80E1F-CBF5-187F-8B0E-B9491ADD82F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2715175" y="2018695"/>
            <a:ext cx="6216169" cy="18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C19082-9753-EF33-74CA-6AB0E256014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2715175" y="2020183"/>
            <a:ext cx="8217663" cy="1872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4D4CB0-C3B7-E29F-9847-DF78CDC45A6C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5999589" y="2020183"/>
            <a:ext cx="4933249" cy="18885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81C376F-AAED-E4A0-C8BC-7D23B2BDC6A1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 flipH="1">
            <a:off x="5999589" y="2018695"/>
            <a:ext cx="2931755" cy="1890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52CB0B-152C-4652-F973-29FF1780AD04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5999589" y="2029021"/>
            <a:ext cx="629471" cy="1879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61E7AB6-74C8-313F-4427-2056F0DDA105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4577438" y="2056155"/>
            <a:ext cx="1422151" cy="1852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4B6BB5C-2B91-5A8D-043F-48B7D4E5BBA6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>
            <a:off x="2733314" y="2045187"/>
            <a:ext cx="3266275" cy="1863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2850A-A367-924D-7EB2-8081CD8C7992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>
            <a:off x="1050999" y="2067610"/>
            <a:ext cx="4948590" cy="1841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2DFC98-110C-920B-EFF7-90B1729773F5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>
            <a:off x="1050999" y="2067610"/>
            <a:ext cx="8165305" cy="18249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9F702EF-37B0-BAAC-D800-A72F430F94C1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>
            <a:off x="2733314" y="2045187"/>
            <a:ext cx="6482990" cy="1847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2C0CBC-E6AD-16BA-00AD-3462874A215D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>
            <a:off x="2733314" y="2045187"/>
            <a:ext cx="6482990" cy="1847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B52C337-88DC-5AB9-938C-20DD10CDA54D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4577438" y="2056155"/>
            <a:ext cx="4638866" cy="1836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2CBB57B-669C-59C5-0FE4-E8EEAA629E1B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>
            <a:off x="6629060" y="2029021"/>
            <a:ext cx="2587244" cy="1863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E362AC6-F8FA-E183-8A5A-F20BD7A9D905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8931344" y="2018695"/>
            <a:ext cx="284960" cy="1873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4F0107A-3B78-7DC1-5C1D-F4B7F6B6A0A0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 flipH="1">
            <a:off x="9216304" y="2020183"/>
            <a:ext cx="1716534" cy="1872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6026E72-8D5B-4CCB-AE93-737075590B1D}"/>
              </a:ext>
            </a:extLst>
          </p:cNvPr>
          <p:cNvGrpSpPr/>
          <p:nvPr/>
        </p:nvGrpSpPr>
        <p:grpSpPr>
          <a:xfrm>
            <a:off x="3984812" y="5630717"/>
            <a:ext cx="3859775" cy="517621"/>
            <a:chOff x="3204315" y="3603478"/>
            <a:chExt cx="1685184" cy="517621"/>
          </a:xfrm>
        </p:grpSpPr>
        <p:sp>
          <p:nvSpPr>
            <p:cNvPr id="91" name="Title 4">
              <a:extLst>
                <a:ext uri="{FF2B5EF4-FFF2-40B4-BE49-F238E27FC236}">
                  <a16:creationId xmlns:a16="http://schemas.microsoft.com/office/drawing/2014/main" id="{4C24DBCE-2815-9E1B-28E8-CF210F1CD33A}"/>
                </a:ext>
              </a:extLst>
            </p:cNvPr>
            <p:cNvSpPr txBox="1">
              <a:spLocks/>
            </p:cNvSpPr>
            <p:nvPr/>
          </p:nvSpPr>
          <p:spPr>
            <a:xfrm>
              <a:off x="3204315" y="3699022"/>
              <a:ext cx="1685184" cy="30777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200" b="1" kern="1200" spc="-50" baseline="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2000" b="0" dirty="0"/>
                <a:t>18 models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7AFC0BD-C9EC-E912-D2A9-075ED3FAC485}"/>
                </a:ext>
              </a:extLst>
            </p:cNvPr>
            <p:cNvSpPr/>
            <p:nvPr/>
          </p:nvSpPr>
          <p:spPr>
            <a:xfrm>
              <a:off x="3619500" y="3603478"/>
              <a:ext cx="939800" cy="5176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err="1">
                <a:solidFill>
                  <a:schemeClr val="tx1"/>
                </a:solidFill>
                <a:latin typeface="+mj-lt"/>
              </a:endParaRPr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742A970-2589-24F9-E0EB-E49CA0142E10}"/>
              </a:ext>
            </a:extLst>
          </p:cNvPr>
          <p:cNvCxnSpPr>
            <a:stCxn id="19" idx="2"/>
            <a:endCxn id="92" idx="1"/>
          </p:cNvCxnSpPr>
          <p:nvPr/>
        </p:nvCxnSpPr>
        <p:spPr>
          <a:xfrm>
            <a:off x="2715175" y="4410170"/>
            <a:ext cx="2220584" cy="1479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7EFF937-B166-479B-D836-E121733F201B}"/>
              </a:ext>
            </a:extLst>
          </p:cNvPr>
          <p:cNvCxnSpPr>
            <a:cxnSpLocks/>
            <a:stCxn id="22" idx="2"/>
            <a:endCxn id="92" idx="0"/>
          </p:cNvCxnSpPr>
          <p:nvPr/>
        </p:nvCxnSpPr>
        <p:spPr>
          <a:xfrm>
            <a:off x="5999589" y="4426336"/>
            <a:ext cx="12437" cy="1204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622DFFC-730F-8DB8-5C41-51335BE684FF}"/>
              </a:ext>
            </a:extLst>
          </p:cNvPr>
          <p:cNvCxnSpPr>
            <a:cxnSpLocks/>
            <a:stCxn id="24" idx="2"/>
            <a:endCxn id="92" idx="3"/>
          </p:cNvCxnSpPr>
          <p:nvPr/>
        </p:nvCxnSpPr>
        <p:spPr>
          <a:xfrm flipH="1">
            <a:off x="7088293" y="4410170"/>
            <a:ext cx="2128011" cy="1479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3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D152-89BA-15DD-401E-08FD1130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DE8FA-7FD4-F7DB-87D8-10F1F35E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14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53A56B-822A-0072-F32B-6314F4200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570472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Benchmark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49E6B6F-F50F-69EE-1CAC-29BC914AA446}"/>
              </a:ext>
            </a:extLst>
          </p:cNvPr>
          <p:cNvSpPr txBox="1">
            <a:spLocks/>
          </p:cNvSpPr>
          <p:nvPr/>
        </p:nvSpPr>
        <p:spPr>
          <a:xfrm>
            <a:off x="412647" y="1582340"/>
            <a:ext cx="3689452" cy="369331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-  Same experimental settings: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Input</a:t>
            </a:r>
            <a:r>
              <a:rPr lang="en-GB" sz="2000" b="0" dirty="0"/>
              <a:t> data (PPG/Area signals, preprocessing, train/test split)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Target</a:t>
            </a:r>
            <a:r>
              <a:rPr lang="en-GB" sz="2000" b="0" dirty="0"/>
              <a:t> variable (</a:t>
            </a:r>
            <a:r>
              <a:rPr lang="en-GB" sz="2000" b="0" dirty="0" err="1"/>
              <a:t>cfPWV</a:t>
            </a:r>
            <a:r>
              <a:rPr lang="en-GB" sz="2000" b="0" dirty="0"/>
              <a:t>)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Evaluation</a:t>
            </a:r>
            <a:r>
              <a:rPr lang="en-GB" sz="2000" b="0" dirty="0"/>
              <a:t> metrics (MAE, RMSE, R²)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Parameters</a:t>
            </a:r>
            <a:r>
              <a:rPr lang="en-GB" sz="2000" b="0" dirty="0"/>
              <a:t> (~50k parameters)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Training</a:t>
            </a:r>
            <a:r>
              <a:rPr lang="en-GB" sz="2000" b="0" dirty="0"/>
              <a:t> protocols (epochs, batch size, optimization, cross-validation)</a:t>
            </a:r>
          </a:p>
          <a:p>
            <a:pPr algn="l"/>
            <a:r>
              <a:rPr lang="en-GB" sz="2000" b="0" dirty="0"/>
              <a:t>   + </a:t>
            </a:r>
            <a:r>
              <a:rPr lang="en-GB" sz="2000" dirty="0"/>
              <a:t>Testing</a:t>
            </a:r>
            <a:r>
              <a:rPr lang="en-GB" sz="2000" b="0" dirty="0"/>
              <a:t> protocols (clean data)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164393-554E-786E-F26E-56AC7F958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343" y="1062915"/>
            <a:ext cx="6521120" cy="45117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8B65826D-EE76-F9D9-4419-E6DA604B2601}"/>
              </a:ext>
            </a:extLst>
          </p:cNvPr>
          <p:cNvSpPr txBox="1">
            <a:spLocks/>
          </p:cNvSpPr>
          <p:nvPr/>
        </p:nvSpPr>
        <p:spPr>
          <a:xfrm>
            <a:off x="6226198" y="5668716"/>
            <a:ext cx="3731652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Benchmarking 18 model results</a:t>
            </a:r>
          </a:p>
        </p:txBody>
      </p:sp>
    </p:spTree>
    <p:extLst>
      <p:ext uri="{BB962C8B-B14F-4D97-AF65-F5344CB8AC3E}">
        <p14:creationId xmlns:p14="http://schemas.microsoft.com/office/powerpoint/2010/main" val="1469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0145-D124-D90A-6A1D-A08BB03D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D25B-A08F-1E0B-AF03-EFE4E223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15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A7E208-A590-D031-F489-3DD523DE2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570472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Interpretability (</a:t>
            </a:r>
            <a:r>
              <a:rPr lang="en-US" dirty="0"/>
              <a:t>Occlusion and Perturbation </a:t>
            </a:r>
            <a:r>
              <a:rPr lang="en-US" dirty="0" err="1"/>
              <a:t>Sensitivy</a:t>
            </a:r>
            <a:r>
              <a:rPr lang="en-US" dirty="0"/>
              <a:t>)</a:t>
            </a:r>
            <a:endParaRPr lang="en-GB" noProof="1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7BAEA08-8BF1-E45C-8726-532B9ED8DCBF}"/>
              </a:ext>
            </a:extLst>
          </p:cNvPr>
          <p:cNvSpPr txBox="1">
            <a:spLocks/>
          </p:cNvSpPr>
          <p:nvPr/>
        </p:nvSpPr>
        <p:spPr>
          <a:xfrm>
            <a:off x="402267" y="1888849"/>
            <a:ext cx="3647220" cy="15388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GB" sz="2000" dirty="0"/>
              <a:t>Occlusion Analysis: </a:t>
            </a:r>
            <a:r>
              <a:rPr lang="en-GB" sz="2000" b="0" dirty="0"/>
              <a:t>Systematically masks input regions with zero to measure how much the output change (9 windows)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EB854FE0-4F99-1C14-D604-0FD0AAD233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3" r="7519" b="4646"/>
          <a:stretch>
            <a:fillRect/>
          </a:stretch>
        </p:blipFill>
        <p:spPr bwMode="auto">
          <a:xfrm>
            <a:off x="4781965" y="1513786"/>
            <a:ext cx="6582720" cy="43446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A36012C8-C789-90B0-D7C6-FD871915FD7E}"/>
              </a:ext>
            </a:extLst>
          </p:cNvPr>
          <p:cNvSpPr txBox="1">
            <a:spLocks/>
          </p:cNvSpPr>
          <p:nvPr/>
        </p:nvSpPr>
        <p:spPr>
          <a:xfrm>
            <a:off x="6026785" y="6019817"/>
            <a:ext cx="4341274" cy="21544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400" b="0" i="1" dirty="0"/>
              <a:t>Interpretability of GRU model trained with augmented data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F8DC4-0256-BF0B-EA9B-2B49DFBB0D63}"/>
              </a:ext>
            </a:extLst>
          </p:cNvPr>
          <p:cNvSpPr txBox="1"/>
          <p:nvPr/>
        </p:nvSpPr>
        <p:spPr>
          <a:xfrm>
            <a:off x="2599509" y="576072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sz="1600" dirty="0" err="1">
              <a:latin typeface="+mj-lt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3685E27-3737-C19E-21EF-E440ED9A6D3B}"/>
              </a:ext>
            </a:extLst>
          </p:cNvPr>
          <p:cNvSpPr txBox="1">
            <a:spLocks/>
          </p:cNvSpPr>
          <p:nvPr/>
        </p:nvSpPr>
        <p:spPr>
          <a:xfrm>
            <a:off x="429316" y="3857901"/>
            <a:ext cx="3620170" cy="15388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endParaRPr lang="en-GB" sz="2000" b="0" dirty="0"/>
          </a:p>
          <a:p>
            <a:pPr marL="342900" indent="-342900" algn="l">
              <a:buFontTx/>
              <a:buChar char="-"/>
            </a:pPr>
            <a:r>
              <a:rPr lang="en-GB" sz="2000" dirty="0"/>
              <a:t>Perturbation Analysis: </a:t>
            </a:r>
            <a:r>
              <a:rPr lang="en-GB" sz="2000" b="0" dirty="0"/>
              <a:t>SHAP-like sensitivity analysis with noise injection into each timepoint (337 windows)</a:t>
            </a:r>
          </a:p>
        </p:txBody>
      </p:sp>
    </p:spTree>
    <p:extLst>
      <p:ext uri="{BB962C8B-B14F-4D97-AF65-F5344CB8AC3E}">
        <p14:creationId xmlns:p14="http://schemas.microsoft.com/office/powerpoint/2010/main" val="241302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D3F9-87FA-B33D-0ACC-130BE09A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0B0F-A9D6-94E3-09F3-48175554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16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94D683-D7CE-2C63-E2FE-85595A074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391888"/>
            <a:ext cx="11371365" cy="492443"/>
          </a:xfrm>
        </p:spPr>
        <p:txBody>
          <a:bodyPr/>
          <a:lstStyle/>
          <a:p>
            <a:pPr algn="l"/>
            <a:r>
              <a:rPr lang="en-GB" noProof="1"/>
              <a:t>Interpretability (</a:t>
            </a:r>
            <a:r>
              <a:rPr lang="en-US" dirty="0"/>
              <a:t>Waveform Sensitivity Overlay)</a:t>
            </a:r>
            <a:endParaRPr lang="en-GB" noProof="1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3C223997-93DF-0186-65F9-131B7F206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7" y="1114605"/>
            <a:ext cx="5615013" cy="431552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EEB455B8-DFDB-5029-AF03-2343C8A507C2}"/>
              </a:ext>
            </a:extLst>
          </p:cNvPr>
          <p:cNvSpPr txBox="1">
            <a:spLocks/>
          </p:cNvSpPr>
          <p:nvPr/>
        </p:nvSpPr>
        <p:spPr>
          <a:xfrm>
            <a:off x="1245630" y="5527951"/>
            <a:ext cx="4479618" cy="4308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b="0" i="1" dirty="0"/>
              <a:t>Overlay Interpretability of </a:t>
            </a:r>
            <a:r>
              <a:rPr lang="en-GB" sz="1400" i="1" dirty="0"/>
              <a:t>GRU</a:t>
            </a:r>
            <a:r>
              <a:rPr lang="en-GB" sz="1400" b="0" i="1" dirty="0"/>
              <a:t> model trained with </a:t>
            </a:r>
            <a:r>
              <a:rPr lang="en-GB" sz="1400" i="1" dirty="0"/>
              <a:t>augmented</a:t>
            </a:r>
            <a:r>
              <a:rPr lang="en-GB" sz="1400" b="0" i="1" dirty="0"/>
              <a:t> data on a sample subject waveform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60F2B576-EA0E-B2D7-4855-C98E6802B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282" y="1114604"/>
            <a:ext cx="5365625" cy="431552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539793AF-3CD8-23DA-F89D-E766B893E874}"/>
              </a:ext>
            </a:extLst>
          </p:cNvPr>
          <p:cNvSpPr txBox="1">
            <a:spLocks/>
          </p:cNvSpPr>
          <p:nvPr/>
        </p:nvSpPr>
        <p:spPr>
          <a:xfrm>
            <a:off x="6898897" y="5541367"/>
            <a:ext cx="3862890" cy="4308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b="0" i="1" dirty="0"/>
              <a:t>Overlay Interpretability of </a:t>
            </a:r>
            <a:r>
              <a:rPr lang="en-GB" sz="1400" i="1" dirty="0"/>
              <a:t>GRU</a:t>
            </a:r>
            <a:r>
              <a:rPr lang="en-GB" sz="1400" b="0" i="1" dirty="0"/>
              <a:t> model trained with </a:t>
            </a:r>
            <a:r>
              <a:rPr lang="en-GB" sz="1400" i="1" dirty="0"/>
              <a:t>clean</a:t>
            </a:r>
            <a:r>
              <a:rPr lang="en-GB" sz="1400" b="0" i="1" dirty="0"/>
              <a:t> data on a sample subject waveform</a:t>
            </a:r>
          </a:p>
        </p:txBody>
      </p:sp>
    </p:spTree>
    <p:extLst>
      <p:ext uri="{BB962C8B-B14F-4D97-AF65-F5344CB8AC3E}">
        <p14:creationId xmlns:p14="http://schemas.microsoft.com/office/powerpoint/2010/main" val="23514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A1DD-F433-EBC8-A7C3-A07343A6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3CF16-1CC6-524F-8D9C-0ECA6CDC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296619"/>
            <a:ext cx="431428" cy="143869"/>
          </a:xfrm>
        </p:spPr>
        <p:txBody>
          <a:bodyPr/>
          <a:lstStyle/>
          <a:p>
            <a:fld id="{D701140D-C14F-41CA-99FC-0EF83E8DA40A}" type="slidenum">
              <a:rPr lang="fi-FI" smtClean="0"/>
              <a:t>17</a:t>
            </a:fld>
            <a:endParaRPr lang="fi-FI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266062-62B9-99F6-96BE-E7D4F3F45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48" y="633972"/>
            <a:ext cx="2408930" cy="492443"/>
          </a:xfrm>
        </p:spPr>
        <p:txBody>
          <a:bodyPr/>
          <a:lstStyle/>
          <a:p>
            <a:pPr algn="l"/>
            <a:r>
              <a:rPr lang="en-GB" noProof="1"/>
              <a:t>Conclusion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B221CCE-BF5D-A95A-9ABC-5035D87A4129}"/>
              </a:ext>
            </a:extLst>
          </p:cNvPr>
          <p:cNvSpPr txBox="1">
            <a:spLocks/>
          </p:cNvSpPr>
          <p:nvPr/>
        </p:nvSpPr>
        <p:spPr>
          <a:xfrm>
            <a:off x="692048" y="1551023"/>
            <a:ext cx="4612923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- Data augmentation helps to generalize the model, add robustness, shape model’s attention to informative places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6941E2E4-E4D6-D119-BA5A-8E9D076130AA}"/>
              </a:ext>
            </a:extLst>
          </p:cNvPr>
          <p:cNvSpPr txBox="1">
            <a:spLocks/>
          </p:cNvSpPr>
          <p:nvPr/>
        </p:nvSpPr>
        <p:spPr>
          <a:xfrm>
            <a:off x="7886559" y="450222"/>
            <a:ext cx="2408930" cy="492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noProof="1"/>
              <a:t>Final Model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12C5FBD0-1B92-5A2D-AD05-9D3615BBB2F0}"/>
              </a:ext>
            </a:extLst>
          </p:cNvPr>
          <p:cNvSpPr txBox="1">
            <a:spLocks/>
          </p:cNvSpPr>
          <p:nvPr/>
        </p:nvSpPr>
        <p:spPr>
          <a:xfrm>
            <a:off x="692048" y="2898961"/>
            <a:ext cx="4838621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- TCN (Temporal Convolutional Network) achieves the best performance among the three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E9E0CF-4DAA-4589-1B31-CF3452EADE01}"/>
              </a:ext>
            </a:extLst>
          </p:cNvPr>
          <p:cNvSpPr txBox="1">
            <a:spLocks/>
          </p:cNvSpPr>
          <p:nvPr/>
        </p:nvSpPr>
        <p:spPr>
          <a:xfrm>
            <a:off x="681667" y="4246899"/>
            <a:ext cx="4838621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b="0" dirty="0"/>
              <a:t>- Combining PPG and Area helps to increase the performance of the models (More relied on Area)</a:t>
            </a:r>
          </a:p>
        </p:txBody>
      </p:sp>
      <p:pic>
        <p:nvPicPr>
          <p:cNvPr id="8" name="Picture 7" descr="A diagram of a flowchart&#10;&#10;AI-generated content may be incorrect.">
            <a:extLst>
              <a:ext uri="{FF2B5EF4-FFF2-40B4-BE49-F238E27FC236}">
                <a16:creationId xmlns:a16="http://schemas.microsoft.com/office/drawing/2014/main" id="{D1E3F8A4-C823-354F-2077-9E114AFA0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094253"/>
            <a:ext cx="2082800" cy="47672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A45B6D5C-8F90-BE31-C154-392D777D532C}"/>
              </a:ext>
            </a:extLst>
          </p:cNvPr>
          <p:cNvSpPr txBox="1">
            <a:spLocks/>
          </p:cNvSpPr>
          <p:nvPr/>
        </p:nvSpPr>
        <p:spPr>
          <a:xfrm>
            <a:off x="6957100" y="5999222"/>
            <a:ext cx="4229100" cy="7386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0" i="1" dirty="0"/>
              <a:t>TCN architecture with clean PPG, clean Area, augmented PPG and augmented Area as inputs</a:t>
            </a:r>
          </a:p>
          <a:p>
            <a:endParaRPr lang="en-GB" sz="1600" b="0" i="1" dirty="0"/>
          </a:p>
        </p:txBody>
      </p:sp>
    </p:spTree>
    <p:extLst>
      <p:ext uri="{BB962C8B-B14F-4D97-AF65-F5344CB8AC3E}">
        <p14:creationId xmlns:p14="http://schemas.microsoft.com/office/powerpoint/2010/main" val="250848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84DE-DF23-0DD2-2A60-6BDDA97B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E7C95-A577-D68C-783E-29965C53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18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8404A2-0F73-4524-9162-CF968F84C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8" y="570472"/>
            <a:ext cx="2408930" cy="492443"/>
          </a:xfrm>
        </p:spPr>
        <p:txBody>
          <a:bodyPr/>
          <a:lstStyle/>
          <a:p>
            <a:pPr algn="l"/>
            <a:r>
              <a:rPr lang="en-GB" noProof="1"/>
              <a:t>Results</a:t>
            </a:r>
          </a:p>
        </p:txBody>
      </p:sp>
      <p:pic>
        <p:nvPicPr>
          <p:cNvPr id="15368" name="Picture 8">
            <a:extLst>
              <a:ext uri="{FF2B5EF4-FFF2-40B4-BE49-F238E27FC236}">
                <a16:creationId xmlns:a16="http://schemas.microsoft.com/office/drawing/2014/main" id="{D4BD8D22-4A3C-2756-503C-BA0B20AB4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9"/>
          <a:stretch>
            <a:fillRect/>
          </a:stretch>
        </p:blipFill>
        <p:spPr bwMode="auto">
          <a:xfrm>
            <a:off x="581464" y="1582029"/>
            <a:ext cx="11029071" cy="347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514C40A2-AC11-C3D8-7B70-8D39D030E2D1}"/>
              </a:ext>
            </a:extLst>
          </p:cNvPr>
          <p:cNvSpPr txBox="1">
            <a:spLocks/>
          </p:cNvSpPr>
          <p:nvPr/>
        </p:nvSpPr>
        <p:spPr>
          <a:xfrm>
            <a:off x="3178627" y="5610622"/>
            <a:ext cx="4446062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/>
              <a:t>=&gt; Best R2, MAE and RMSE score</a:t>
            </a:r>
          </a:p>
        </p:txBody>
      </p:sp>
    </p:spTree>
    <p:extLst>
      <p:ext uri="{BB962C8B-B14F-4D97-AF65-F5344CB8AC3E}">
        <p14:creationId xmlns:p14="http://schemas.microsoft.com/office/powerpoint/2010/main" val="2021014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1770-EDEC-DF08-5433-44649D5F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79F9-E18A-1218-5402-E38CA76C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19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186947-CD9E-0348-832A-58B4E2BF6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8" y="879961"/>
            <a:ext cx="2408930" cy="492443"/>
          </a:xfrm>
        </p:spPr>
        <p:txBody>
          <a:bodyPr/>
          <a:lstStyle/>
          <a:p>
            <a:pPr algn="l"/>
            <a:r>
              <a:rPr lang="en-GB" noProof="1"/>
              <a:t>Results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3AA7C30-C9FA-A5B0-9135-31C07BDD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32" y="350836"/>
            <a:ext cx="6428935" cy="30781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26C7E199-0B9D-D5F4-D1F3-AA1411F7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32" y="3438056"/>
            <a:ext cx="6428935" cy="297467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B17A4D63-B537-CFC3-E967-80810C5208D4}"/>
              </a:ext>
            </a:extLst>
          </p:cNvPr>
          <p:cNvSpPr txBox="1">
            <a:spLocks/>
          </p:cNvSpPr>
          <p:nvPr/>
        </p:nvSpPr>
        <p:spPr>
          <a:xfrm>
            <a:off x="412648" y="1758844"/>
            <a:ext cx="3410052" cy="15388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2000" b="0" dirty="0"/>
              <a:t>Diversify the attention to other part that also provides useful physiological information such as upstroke/downstroke phase, dicrotic notch, etc. </a:t>
            </a:r>
          </a:p>
        </p:txBody>
      </p:sp>
    </p:spTree>
    <p:extLst>
      <p:ext uri="{BB962C8B-B14F-4D97-AF65-F5344CB8AC3E}">
        <p14:creationId xmlns:p14="http://schemas.microsoft.com/office/powerpoint/2010/main" val="3248582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103A-8CEA-2AD6-5079-D915AFDBC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BEBEF-F0DD-7183-8E64-761FE433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t>20</a:t>
            </a:fld>
            <a:endParaRPr lang="fi-FI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208863-651E-DCBC-14F7-A78455466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647" y="535266"/>
            <a:ext cx="4651721" cy="984885"/>
          </a:xfrm>
        </p:spPr>
        <p:txBody>
          <a:bodyPr/>
          <a:lstStyle/>
          <a:p>
            <a:pPr algn="l"/>
            <a:r>
              <a:rPr lang="en-GB" noProof="1"/>
              <a:t>Future Directions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EA3D12D-9EF1-EAE4-7EF8-31BAB4589585}"/>
              </a:ext>
            </a:extLst>
          </p:cNvPr>
          <p:cNvSpPr txBox="1">
            <a:spLocks/>
          </p:cNvSpPr>
          <p:nvPr/>
        </p:nvSpPr>
        <p:spPr>
          <a:xfrm>
            <a:off x="708068" y="1619968"/>
            <a:ext cx="10461679" cy="430887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GB" sz="2000" dirty="0"/>
              <a:t>Multi-sensor integration</a:t>
            </a:r>
            <a:r>
              <a:rPr lang="en-GB" sz="2000" b="0" dirty="0"/>
              <a:t>: Extend models to fuse PPG, </a:t>
            </a:r>
            <a:r>
              <a:rPr lang="en-GB" sz="2000" b="0" dirty="0" err="1"/>
              <a:t>mmWave</a:t>
            </a:r>
            <a:r>
              <a:rPr lang="en-GB" sz="2000" b="0" dirty="0"/>
              <a:t>, and other wrist-based signals. 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Transfer learning &amp; domain adaptation</a:t>
            </a:r>
            <a:r>
              <a:rPr lang="en-GB" sz="2000" b="0" dirty="0"/>
              <a:t>: Apply </a:t>
            </a:r>
            <a:r>
              <a:rPr lang="en-GB" sz="2000" dirty="0"/>
              <a:t>fine-tuning</a:t>
            </a:r>
            <a:r>
              <a:rPr lang="en-GB" sz="2000" b="0" dirty="0"/>
              <a:t> and </a:t>
            </a:r>
            <a:r>
              <a:rPr lang="en-GB" sz="2000" dirty="0"/>
              <a:t>adaptation</a:t>
            </a:r>
            <a:r>
              <a:rPr lang="en-GB" sz="2000" b="0" dirty="0"/>
              <a:t> strategies to bridge the gap between synthetic and real data. 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Data augmentation</a:t>
            </a:r>
            <a:r>
              <a:rPr lang="en-GB" sz="2000" b="0" dirty="0"/>
              <a:t>: Investigate how different augmentation strategies affect model robustness, particularly in noisy or low-quality signals. 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Model interpretability</a:t>
            </a:r>
            <a:r>
              <a:rPr lang="en-GB" sz="2000" b="0" dirty="0"/>
              <a:t>: Explore the effect of </a:t>
            </a:r>
            <a:r>
              <a:rPr lang="en-GB" sz="2000" dirty="0"/>
              <a:t>window resolution </a:t>
            </a:r>
            <a:r>
              <a:rPr lang="en-GB" sz="2000" b="0" dirty="0"/>
              <a:t>in occlusion and perturbation analyses to better understand which waveform segments drive predictions. 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Architectural</a:t>
            </a:r>
            <a:r>
              <a:rPr lang="en-GB" sz="2000" b="0" dirty="0"/>
              <a:t> </a:t>
            </a:r>
            <a:r>
              <a:rPr lang="en-GB" sz="2000" dirty="0"/>
              <a:t>exploration</a:t>
            </a:r>
            <a:r>
              <a:rPr lang="en-GB" sz="2000" b="0" dirty="0"/>
              <a:t>: Benchmark additional architectures such as Transformers and hybrid models</a:t>
            </a:r>
          </a:p>
          <a:p>
            <a:pPr algn="l"/>
            <a:endParaRPr lang="en-GB" sz="2000" b="0" dirty="0"/>
          </a:p>
          <a:p>
            <a:pPr algn="l"/>
            <a:r>
              <a:rPr lang="en-GB" sz="2000" b="0" dirty="0"/>
              <a:t>Ultimately, the goal is to create a pipeline that is not only accurate on synthetic datasets but also generalizes effectively to wearable-collected signals for practical, non-invasive cardiovascular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2609941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81727-B4FD-9683-916D-51B2CF7404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1140D-C14F-41CA-99FC-0EF83E8DA40A}" type="slidenum">
              <a:rPr lang="fi-FI" smtClean="0"/>
              <a:pPr/>
              <a:t>21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6678643"/>
      </p:ext>
    </p:extLst>
  </p:cSld>
  <p:clrMapOvr>
    <a:masterClrMapping/>
  </p:clrMapOvr>
</p:sld>
</file>

<file path=ppt/theme/theme1.xml><?xml version="1.0" encoding="utf-8"?>
<a:theme xmlns:a="http://schemas.openxmlformats.org/drawingml/2006/main" name="Aalto - Title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A1127AD8-481F-4829-92FB-299BD72D15FC}"/>
    </a:ext>
  </a:extLst>
</a:theme>
</file>

<file path=ppt/theme/theme2.xml><?xml version="1.0" encoding="utf-8"?>
<a:theme xmlns:a="http://schemas.openxmlformats.org/drawingml/2006/main" name="Aalto - Content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41A42B11-F317-4DB3-A748-34F4E4EBD069}"/>
    </a:ext>
  </a:extLst>
</a:theme>
</file>

<file path=ppt/theme/theme3.xml><?xml version="1.0" encoding="utf-8"?>
<a:theme xmlns:a="http://schemas.openxmlformats.org/drawingml/2006/main" name="Aalto - Divider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603CC98E-A006-40FD-9023-401377221454}"/>
    </a:ext>
  </a:extLst>
</a:theme>
</file>

<file path=ppt/theme/theme4.xml><?xml version="1.0" encoding="utf-8"?>
<a:theme xmlns:a="http://schemas.openxmlformats.org/drawingml/2006/main" name="Aalto - Picture Content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88C48B4E-76E9-441C-9D62-9A63445836BA}"/>
    </a:ext>
  </a:extLst>
</a:theme>
</file>

<file path=ppt/theme/theme5.xml><?xml version="1.0" encoding="utf-8"?>
<a:theme xmlns:a="http://schemas.openxmlformats.org/drawingml/2006/main" name="Aalto - Custom Content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71ED1A03-C957-43CA-A5FF-F53DFBCEB222}"/>
    </a:ext>
  </a:extLst>
</a:theme>
</file>

<file path=ppt/theme/theme6.xml><?xml version="1.0" encoding="utf-8"?>
<a:theme xmlns:a="http://schemas.openxmlformats.org/drawingml/2006/main" name="Aalto - Kiitos Slides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alto.potx" id="{F9E86875-D364-48FA-9E1B-F7B913266944}" vid="{C5583837-6B41-40E5-813E-3697F9ADF9FC}"/>
    </a:ext>
  </a:extLst>
</a:theme>
</file>

<file path=ppt/theme/theme7.xml><?xml version="1.0" encoding="utf-8"?>
<a:theme xmlns:a="http://schemas.openxmlformats.org/drawingml/2006/main" name="Office Theme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AALTO university">
      <a:dk1>
        <a:sysClr val="windowText" lastClr="000000"/>
      </a:dk1>
      <a:lt1>
        <a:sysClr val="window" lastClr="FFFFFF"/>
      </a:lt1>
      <a:dk2>
        <a:srgbClr val="B4B4B4"/>
      </a:dk2>
      <a:lt2>
        <a:srgbClr val="E8E8E8"/>
      </a:lt2>
      <a:accent1>
        <a:srgbClr val="F7E159"/>
      </a:accent1>
      <a:accent2>
        <a:srgbClr val="FD6360"/>
      </a:accent2>
      <a:accent3>
        <a:srgbClr val="46A5FF"/>
      </a:accent3>
      <a:accent4>
        <a:srgbClr val="5A5A5A"/>
      </a:accent4>
      <a:accent5>
        <a:srgbClr val="A0A0A0"/>
      </a:accent5>
      <a:accent6>
        <a:srgbClr val="DCDCD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Aalto - Title Slides</Template>
  <TotalTime>486</TotalTime>
  <Words>802</Words>
  <Application>Microsoft Macintosh PowerPoint</Application>
  <PresentationFormat>Widescreen</PresentationFormat>
  <Paragraphs>128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Aalto - Title Slides</vt:lpstr>
      <vt:lpstr>Aalto - Content Slides</vt:lpstr>
      <vt:lpstr>Aalto - Divider Slides</vt:lpstr>
      <vt:lpstr>Aalto - Picture Content Slides</vt:lpstr>
      <vt:lpstr>Aalto - Custom Content Slides</vt:lpstr>
      <vt:lpstr>Aalto - Kiitos Slides</vt:lpstr>
      <vt:lpstr>Final Project DSD 2025 - Summer</vt:lpstr>
      <vt:lpstr>Background </vt:lpstr>
      <vt:lpstr>Motivation</vt:lpstr>
      <vt:lpstr>Commercial devices with same technology</vt:lpstr>
      <vt:lpstr>Objective of The Project</vt:lpstr>
      <vt:lpstr>Workflow</vt:lpstr>
      <vt:lpstr>Data Visualization</vt:lpstr>
      <vt:lpstr>Data Visualization</vt:lpstr>
      <vt:lpstr>Signal Processing</vt:lpstr>
      <vt:lpstr>Feature-based Machine Learning</vt:lpstr>
      <vt:lpstr>Data Augmentation</vt:lpstr>
      <vt:lpstr>Deep Learning Models</vt:lpstr>
      <vt:lpstr>Training</vt:lpstr>
      <vt:lpstr>Benchmark</vt:lpstr>
      <vt:lpstr>Interpretability (Occlusion and Perturbation Sensitivy)</vt:lpstr>
      <vt:lpstr>Interpretability (Waveform Sensitivity Overlay)</vt:lpstr>
      <vt:lpstr>Conclusion</vt:lpstr>
      <vt:lpstr>Results</vt:lpstr>
      <vt:lpstr>Results</vt:lpstr>
      <vt:lpstr>Future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Lenoir Marianne</dc:creator>
  <cp:lastModifiedBy>Dinh Bach</cp:lastModifiedBy>
  <cp:revision>14</cp:revision>
  <dcterms:created xsi:type="dcterms:W3CDTF">2024-02-20T09:31:48Z</dcterms:created>
  <dcterms:modified xsi:type="dcterms:W3CDTF">2025-09-24T05:40:37Z</dcterms:modified>
</cp:coreProperties>
</file>